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0569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42526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06877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17976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94177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69640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793439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69640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5090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42970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8987" y="1080579"/>
            <a:ext cx="3107690" cy="99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60697" y="3341243"/>
            <a:ext cx="279717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slide" Target="slide16.xml"/><Relationship Id="rId6" Type="http://schemas.openxmlformats.org/officeDocument/2006/relationships/image" Target="../media/image62.png"/><Relationship Id="rId7" Type="http://schemas.openxmlformats.org/officeDocument/2006/relationships/image" Target="../media/image4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5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slide" Target="slide27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openxmlformats.org/officeDocument/2006/relationships/image" Target="../media/image80.png"/><Relationship Id="rId4" Type="http://schemas.openxmlformats.org/officeDocument/2006/relationships/image" Target="../media/image100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0.png"/><Relationship Id="rId6" Type="http://schemas.openxmlformats.org/officeDocument/2006/relationships/image" Target="../media/image104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57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11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112.png"/><Relationship Id="rId4" Type="http://schemas.openxmlformats.org/officeDocument/2006/relationships/image" Target="../media/image98.png"/><Relationship Id="rId5" Type="http://schemas.openxmlformats.org/officeDocument/2006/relationships/slide" Target="slide34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124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125.png"/><Relationship Id="rId4" Type="http://schemas.openxmlformats.org/officeDocument/2006/relationships/image" Target="../media/image98.png"/><Relationship Id="rId5" Type="http://schemas.openxmlformats.org/officeDocument/2006/relationships/slide" Target="slide34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63411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678531"/>
            <a:ext cx="4483735" cy="383540"/>
            <a:chOff x="87743" y="678531"/>
            <a:chExt cx="4483735" cy="3835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960259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947559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684669"/>
              <a:ext cx="50800" cy="2755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678531"/>
              <a:ext cx="4432935" cy="332740"/>
            </a:xfrm>
            <a:custGeom>
              <a:avLst/>
              <a:gdLst/>
              <a:ahLst/>
              <a:cxnLst/>
              <a:rect l="l" t="t" r="r" b="b"/>
              <a:pathLst>
                <a:path w="4432935" h="332740">
                  <a:moveTo>
                    <a:pt x="4432566" y="0"/>
                  </a:moveTo>
                  <a:lnTo>
                    <a:pt x="0" y="0"/>
                  </a:lnTo>
                  <a:lnTo>
                    <a:pt x="0" y="281728"/>
                  </a:lnTo>
                  <a:lnTo>
                    <a:pt x="4008" y="301453"/>
                  </a:lnTo>
                  <a:lnTo>
                    <a:pt x="14922" y="317605"/>
                  </a:lnTo>
                  <a:lnTo>
                    <a:pt x="31075" y="328520"/>
                  </a:lnTo>
                  <a:lnTo>
                    <a:pt x="50800" y="332528"/>
                  </a:lnTo>
                  <a:lnTo>
                    <a:pt x="4381765" y="332528"/>
                  </a:lnTo>
                  <a:lnTo>
                    <a:pt x="4401490" y="328520"/>
                  </a:lnTo>
                  <a:lnTo>
                    <a:pt x="4417643" y="317605"/>
                  </a:lnTo>
                  <a:lnTo>
                    <a:pt x="4428558" y="301453"/>
                  </a:lnTo>
                  <a:lnTo>
                    <a:pt x="4432566" y="28172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0" y="722768"/>
              <a:ext cx="0" cy="256540"/>
            </a:xfrm>
            <a:custGeom>
              <a:avLst/>
              <a:gdLst/>
              <a:ahLst/>
              <a:cxnLst/>
              <a:rect l="l" t="t" r="r" b="b"/>
              <a:pathLst>
                <a:path w="0" h="256540">
                  <a:moveTo>
                    <a:pt x="0" y="25654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0" y="7100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0" y="6973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0" y="6846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759853" y="685886"/>
            <a:ext cx="30880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ME46220</a:t>
            </a:r>
            <a:r>
              <a:rPr dirty="0" spc="-30"/>
              <a:t> </a:t>
            </a:r>
            <a:r>
              <a:rPr dirty="0" spc="-25"/>
              <a:t>Computational</a:t>
            </a:r>
            <a:r>
              <a:rPr dirty="0" spc="-30"/>
              <a:t> </a:t>
            </a:r>
            <a:r>
              <a:rPr dirty="0"/>
              <a:t>Fluid</a:t>
            </a:r>
            <a:r>
              <a:rPr dirty="0" spc="-25"/>
              <a:t> </a:t>
            </a:r>
            <a:r>
              <a:rPr dirty="0" spc="-30"/>
              <a:t>Dynamics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2122" y="1221141"/>
            <a:ext cx="3799840" cy="1372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2794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Dr.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Mangal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Singh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Lodhi</a:t>
            </a:r>
            <a:endParaRPr sz="1100">
              <a:latin typeface="Arial"/>
              <a:cs typeface="Arial"/>
            </a:endParaRPr>
          </a:p>
          <a:p>
            <a:pPr marL="752475" marR="781050" indent="579755">
              <a:lnSpc>
                <a:spcPct val="102699"/>
              </a:lnSpc>
            </a:pPr>
            <a:r>
              <a:rPr dirty="0" sz="1100" spc="-20">
                <a:latin typeface="Tahoma"/>
                <a:cs typeface="Tahoma"/>
              </a:rPr>
              <a:t>Assistant </a:t>
            </a:r>
            <a:r>
              <a:rPr dirty="0" sz="1100" spc="-10">
                <a:latin typeface="Tahoma"/>
                <a:cs typeface="Tahoma"/>
              </a:rPr>
              <a:t>Professor </a:t>
            </a:r>
            <a:r>
              <a:rPr dirty="0" sz="1100" spc="-35">
                <a:latin typeface="Tahoma"/>
                <a:cs typeface="Tahoma"/>
              </a:rPr>
              <a:t>Department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Mechanical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Tahoma"/>
              <a:cs typeface="Tahoma"/>
            </a:endParaRPr>
          </a:p>
          <a:p>
            <a:pPr algn="ctr" marL="12065" marR="5080">
              <a:lnSpc>
                <a:spcPts val="1390"/>
              </a:lnSpc>
            </a:pPr>
            <a:r>
              <a:rPr dirty="0" sz="1200" spc="-20">
                <a:latin typeface="Tahoma"/>
                <a:cs typeface="Tahoma"/>
              </a:rPr>
              <a:t>Shri</a:t>
            </a:r>
            <a:r>
              <a:rPr dirty="0" sz="1200" spc="-45">
                <a:latin typeface="Tahoma"/>
                <a:cs typeface="Tahoma"/>
              </a:rPr>
              <a:t> </a:t>
            </a:r>
            <a:r>
              <a:rPr dirty="0" sz="1200" spc="-55">
                <a:latin typeface="Tahoma"/>
                <a:cs typeface="Tahoma"/>
              </a:rPr>
              <a:t>Govindram</a:t>
            </a:r>
            <a:r>
              <a:rPr dirty="0" sz="1200" spc="-40">
                <a:latin typeface="Tahoma"/>
                <a:cs typeface="Tahoma"/>
              </a:rPr>
              <a:t> </a:t>
            </a:r>
            <a:r>
              <a:rPr dirty="0" sz="1200" spc="-55">
                <a:latin typeface="Tahoma"/>
                <a:cs typeface="Tahoma"/>
              </a:rPr>
              <a:t>Seksaria</a:t>
            </a:r>
            <a:r>
              <a:rPr dirty="0" sz="1200" spc="-40">
                <a:latin typeface="Tahoma"/>
                <a:cs typeface="Tahoma"/>
              </a:rPr>
              <a:t> </a:t>
            </a:r>
            <a:r>
              <a:rPr dirty="0" sz="1200" spc="-45">
                <a:latin typeface="Tahoma"/>
                <a:cs typeface="Tahoma"/>
              </a:rPr>
              <a:t>Institute</a:t>
            </a:r>
            <a:r>
              <a:rPr dirty="0" sz="1200" spc="-4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of</a:t>
            </a:r>
            <a:r>
              <a:rPr dirty="0" sz="1200" spc="-35">
                <a:latin typeface="Tahoma"/>
                <a:cs typeface="Tahoma"/>
              </a:rPr>
              <a:t> </a:t>
            </a:r>
            <a:r>
              <a:rPr dirty="0" sz="1200" spc="-55">
                <a:latin typeface="Tahoma"/>
                <a:cs typeface="Tahoma"/>
              </a:rPr>
              <a:t>Technology</a:t>
            </a:r>
            <a:r>
              <a:rPr dirty="0" sz="1200" spc="-40">
                <a:latin typeface="Tahoma"/>
                <a:cs typeface="Tahoma"/>
              </a:rPr>
              <a:t> </a:t>
            </a:r>
            <a:r>
              <a:rPr dirty="0" sz="1200" spc="-55">
                <a:latin typeface="Tahoma"/>
                <a:cs typeface="Tahoma"/>
              </a:rPr>
              <a:t>and</a:t>
            </a:r>
            <a:r>
              <a:rPr dirty="0" sz="1200" spc="-40">
                <a:latin typeface="Tahoma"/>
                <a:cs typeface="Tahoma"/>
              </a:rPr>
              <a:t> Science </a:t>
            </a:r>
            <a:r>
              <a:rPr dirty="0" sz="1200" spc="-10">
                <a:latin typeface="Tahoma"/>
                <a:cs typeface="Tahoma"/>
              </a:rPr>
              <a:t>Indore</a:t>
            </a:r>
            <a:endParaRPr sz="1200">
              <a:latin typeface="Tahoma"/>
              <a:cs typeface="Tahoma"/>
            </a:endParaRPr>
          </a:p>
          <a:p>
            <a:pPr algn="ctr" marR="27940">
              <a:lnSpc>
                <a:spcPct val="100000"/>
              </a:lnSpc>
              <a:spcBef>
                <a:spcPts val="1080"/>
              </a:spcBef>
            </a:pPr>
            <a:r>
              <a:rPr dirty="0" sz="1100" spc="-20">
                <a:latin typeface="Tahoma"/>
                <a:cs typeface="Tahoma"/>
              </a:rPr>
              <a:t>August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25,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Course</a:t>
            </a:r>
            <a:r>
              <a:rPr dirty="0" spc="-60"/>
              <a:t> </a:t>
            </a:r>
            <a:r>
              <a:rPr dirty="0" spc="-25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294599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1293938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51839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69048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862556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2034628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5173" y="1266506"/>
            <a:ext cx="3294379" cy="880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3333B2"/>
                </a:solidFill>
                <a:latin typeface="Tahoma"/>
                <a:cs typeface="Tahoma"/>
              </a:rPr>
              <a:t>Unit-</a:t>
            </a:r>
            <a:r>
              <a:rPr dirty="0" sz="1100">
                <a:solidFill>
                  <a:srgbClr val="3333B2"/>
                </a:solidFill>
                <a:latin typeface="Tahoma"/>
                <a:cs typeface="Tahoma"/>
              </a:rPr>
              <a:t>2:</a:t>
            </a:r>
            <a:r>
              <a:rPr dirty="0" sz="1100" spc="8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33B2"/>
                </a:solidFill>
                <a:latin typeface="Tahoma"/>
                <a:cs typeface="Tahoma"/>
              </a:rPr>
              <a:t>Finite</a:t>
            </a:r>
            <a:r>
              <a:rPr dirty="0" sz="11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3333B2"/>
                </a:solidFill>
                <a:latin typeface="Tahoma"/>
                <a:cs typeface="Tahoma"/>
              </a:rPr>
              <a:t>Difference</a:t>
            </a:r>
            <a:r>
              <a:rPr dirty="0" sz="1100" spc="-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</a:rPr>
              <a:t>Method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L-4: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Derivation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Difference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99"/>
              </a:lnSpc>
            </a:pPr>
            <a:r>
              <a:rPr dirty="0" sz="1100">
                <a:latin typeface="Tahoma"/>
                <a:cs typeface="Tahoma"/>
              </a:rPr>
              <a:t>L-5: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Solution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Methods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Equations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L-</a:t>
            </a:r>
            <a:r>
              <a:rPr dirty="0" sz="1100">
                <a:latin typeface="Tahoma"/>
                <a:cs typeface="Tahoma"/>
              </a:rPr>
              <a:t>6: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Solution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Elliptic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L-7: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Solution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Parabolic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3286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Course</a:t>
            </a:r>
            <a:r>
              <a:rPr dirty="0" spc="-60"/>
              <a:t> </a:t>
            </a:r>
            <a:r>
              <a:rPr dirty="0" spc="-35"/>
              <a:t>Outcomes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953870"/>
            <a:ext cx="32550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After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completion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course,</a:t>
            </a:r>
            <a:r>
              <a:rPr dirty="0" sz="1100" spc="-35">
                <a:latin typeface="Tahoma"/>
                <a:cs typeface="Tahoma"/>
              </a:rPr>
              <a:t> students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40">
                <a:latin typeface="Tahoma"/>
                <a:cs typeface="Tahoma"/>
              </a:rPr>
              <a:t> able</a:t>
            </a:r>
            <a:r>
              <a:rPr dirty="0" sz="1100" spc="-35">
                <a:latin typeface="Tahoma"/>
                <a:cs typeface="Tahoma"/>
              </a:rPr>
              <a:t> to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255975"/>
            <a:ext cx="114214" cy="1142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917" y="124304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932" y="1201863"/>
            <a:ext cx="3641090" cy="11283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21920">
              <a:lnSpc>
                <a:spcPct val="102600"/>
              </a:lnSpc>
              <a:spcBef>
                <a:spcPts val="55"/>
              </a:spcBef>
            </a:pPr>
            <a:r>
              <a:rPr dirty="0" sz="1100" spc="-35">
                <a:latin typeface="Tahoma"/>
                <a:cs typeface="Tahoma"/>
              </a:rPr>
              <a:t>Develop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difference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</a:t>
            </a:r>
            <a:r>
              <a:rPr dirty="0" sz="1100" spc="-35">
                <a:latin typeface="Tahoma"/>
                <a:cs typeface="Tahoma"/>
              </a:rPr>
              <a:t> by</a:t>
            </a:r>
            <a:r>
              <a:rPr dirty="0" sz="1100" spc="-40">
                <a:latin typeface="Tahoma"/>
                <a:cs typeface="Tahoma"/>
              </a:rPr>
              <a:t> using</a:t>
            </a:r>
            <a:r>
              <a:rPr dirty="0" sz="1100" spc="-30">
                <a:latin typeface="Tahoma"/>
                <a:cs typeface="Tahoma"/>
              </a:rPr>
              <a:t> Taylor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series </a:t>
            </a:r>
            <a:r>
              <a:rPr dirty="0" sz="1100" spc="-10">
                <a:latin typeface="Tahoma"/>
                <a:cs typeface="Tahoma"/>
              </a:rPr>
              <a:t>expansion</a:t>
            </a:r>
            <a:endParaRPr sz="1100">
              <a:latin typeface="Tahoma"/>
              <a:cs typeface="Tahoma"/>
            </a:endParaRPr>
          </a:p>
          <a:p>
            <a:pPr marL="12700" marR="146685">
              <a:lnSpc>
                <a:spcPct val="102600"/>
              </a:lnSpc>
              <a:spcBef>
                <a:spcPts val="300"/>
              </a:spcBef>
            </a:pP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30">
                <a:latin typeface="Tahoma"/>
                <a:cs typeface="Tahoma"/>
              </a:rPr>
              <a:t> Equations </a:t>
            </a:r>
            <a:r>
              <a:rPr dirty="0" sz="1100" spc="-35">
                <a:latin typeface="Tahoma"/>
                <a:cs typeface="Tahoma"/>
              </a:rPr>
              <a:t>using </a:t>
            </a:r>
            <a:r>
              <a:rPr dirty="0" sz="1100">
                <a:latin typeface="Tahoma"/>
                <a:cs typeface="Tahoma"/>
              </a:rPr>
              <a:t>Matrix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inversion </a:t>
            </a:r>
            <a:r>
              <a:rPr dirty="0" sz="1100" spc="-10">
                <a:latin typeface="Tahoma"/>
                <a:cs typeface="Tahoma"/>
              </a:rPr>
              <a:t>techniques.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Elliptic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Parabolic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difference </a:t>
            </a:r>
            <a:r>
              <a:rPr dirty="0" sz="1100" spc="-10">
                <a:latin typeface="Tahoma"/>
                <a:cs typeface="Tahoma"/>
              </a:rPr>
              <a:t>method.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38080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625160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020185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2007265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Learning</a:t>
            </a:r>
            <a:r>
              <a:rPr dirty="0" spc="-45"/>
              <a:t> </a:t>
            </a:r>
            <a:r>
              <a:rPr dirty="0" spc="-35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996745"/>
            <a:ext cx="3116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After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completion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unit,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students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able </a:t>
            </a:r>
            <a:r>
              <a:rPr dirty="0" sz="1100" spc="-25"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406852"/>
            <a:ext cx="114214" cy="1142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917" y="139391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932" y="1352726"/>
            <a:ext cx="4079240" cy="9944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60070">
              <a:lnSpc>
                <a:spcPct val="102600"/>
              </a:lnSpc>
              <a:spcBef>
                <a:spcPts val="55"/>
              </a:spcBef>
            </a:pPr>
            <a:r>
              <a:rPr dirty="0" sz="1100" spc="-35">
                <a:latin typeface="Tahoma"/>
                <a:cs typeface="Tahoma"/>
              </a:rPr>
              <a:t>Develop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difference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</a:t>
            </a:r>
            <a:r>
              <a:rPr dirty="0" sz="1100" spc="-35">
                <a:latin typeface="Tahoma"/>
                <a:cs typeface="Tahoma"/>
              </a:rPr>
              <a:t> by</a:t>
            </a:r>
            <a:r>
              <a:rPr dirty="0" sz="1100" spc="-40">
                <a:latin typeface="Tahoma"/>
                <a:cs typeface="Tahoma"/>
              </a:rPr>
              <a:t> using</a:t>
            </a:r>
            <a:r>
              <a:rPr dirty="0" sz="1100" spc="-30">
                <a:latin typeface="Tahoma"/>
                <a:cs typeface="Tahoma"/>
              </a:rPr>
              <a:t> Taylor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series </a:t>
            </a:r>
            <a:r>
              <a:rPr dirty="0" sz="1100" spc="-10">
                <a:latin typeface="Tahoma"/>
                <a:cs typeface="Tahoma"/>
              </a:rPr>
              <a:t>expansion.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 spc="-30">
                <a:latin typeface="Tahoma"/>
                <a:cs typeface="Tahoma"/>
              </a:rPr>
              <a:t>Solve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finite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difference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 </a:t>
            </a:r>
            <a:r>
              <a:rPr dirty="0" sz="1100" spc="-35">
                <a:latin typeface="Tahoma"/>
                <a:cs typeface="Tahoma"/>
              </a:rPr>
              <a:t>using </a:t>
            </a:r>
            <a:r>
              <a:rPr dirty="0" sz="1100" spc="-20">
                <a:latin typeface="Tahoma"/>
                <a:cs typeface="Tahoma"/>
              </a:rPr>
              <a:t>matrix</a:t>
            </a:r>
            <a:r>
              <a:rPr dirty="0" sz="1100" spc="-40">
                <a:latin typeface="Tahoma"/>
                <a:cs typeface="Tahoma"/>
              </a:rPr>
              <a:t> inversion </a:t>
            </a:r>
            <a:r>
              <a:rPr dirty="0" sz="1100" spc="-45">
                <a:latin typeface="Tahoma"/>
                <a:cs typeface="Tahoma"/>
              </a:rPr>
              <a:t>techniques.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Elliptic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iterative</a:t>
            </a:r>
            <a:r>
              <a:rPr dirty="0" sz="1100" spc="-25">
                <a:latin typeface="Tahoma"/>
                <a:cs typeface="Tahoma"/>
              </a:rPr>
              <a:t> solution </a:t>
            </a:r>
            <a:r>
              <a:rPr dirty="0" sz="1100" spc="-10">
                <a:latin typeface="Tahoma"/>
                <a:cs typeface="Tahoma"/>
              </a:rPr>
              <a:t>methods.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Parabolic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 using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explicit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>
                <a:latin typeface="Tahoma"/>
                <a:cs typeface="Tahoma"/>
              </a:rPr>
              <a:t>implicit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schemes.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788956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77602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998989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198605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209022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219608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0651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Derivation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Finite</a:t>
            </a:r>
            <a:r>
              <a:rPr dirty="0" spc="-35"/>
              <a:t> </a:t>
            </a:r>
            <a:r>
              <a:rPr dirty="0" spc="-45"/>
              <a:t>Difference</a:t>
            </a:r>
            <a:r>
              <a:rPr dirty="0" spc="-40"/>
              <a:t> </a:t>
            </a:r>
            <a:r>
              <a:rPr dirty="0" spc="-10"/>
              <a:t>Equations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12661"/>
            <a:ext cx="65265" cy="652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503036" y="838140"/>
            <a:ext cx="1879600" cy="43180"/>
            <a:chOff x="1503036" y="838140"/>
            <a:chExt cx="1879600" cy="43180"/>
          </a:xfrm>
        </p:grpSpPr>
        <p:sp>
          <p:nvSpPr>
            <p:cNvPr id="6" name="object 6"/>
            <p:cNvSpPr/>
            <p:nvPr/>
          </p:nvSpPr>
          <p:spPr>
            <a:xfrm>
              <a:off x="1524546" y="859650"/>
              <a:ext cx="1836420" cy="0"/>
            </a:xfrm>
            <a:custGeom>
              <a:avLst/>
              <a:gdLst/>
              <a:ahLst/>
              <a:cxnLst/>
              <a:rect l="l" t="t" r="r" b="b"/>
              <a:pathLst>
                <a:path w="1836420" h="0">
                  <a:moveTo>
                    <a:pt x="0" y="0"/>
                  </a:moveTo>
                  <a:lnTo>
                    <a:pt x="183603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03032" y="838149"/>
              <a:ext cx="1879600" cy="43180"/>
            </a:xfrm>
            <a:custGeom>
              <a:avLst/>
              <a:gdLst/>
              <a:ahLst/>
              <a:cxnLst/>
              <a:rect l="l" t="t" r="r" b="b"/>
              <a:pathLst>
                <a:path w="1879600" h="43180">
                  <a:moveTo>
                    <a:pt x="43014" y="21501"/>
                  </a:moveTo>
                  <a:lnTo>
                    <a:pt x="41325" y="13131"/>
                  </a:lnTo>
                  <a:lnTo>
                    <a:pt x="36715" y="6299"/>
                  </a:lnTo>
                  <a:lnTo>
                    <a:pt x="29883" y="1689"/>
                  </a:lnTo>
                  <a:lnTo>
                    <a:pt x="21513" y="0"/>
                  </a:lnTo>
                  <a:lnTo>
                    <a:pt x="13131" y="1689"/>
                  </a:lnTo>
                  <a:lnTo>
                    <a:pt x="6299" y="6299"/>
                  </a:lnTo>
                  <a:lnTo>
                    <a:pt x="1689" y="13131"/>
                  </a:lnTo>
                  <a:lnTo>
                    <a:pt x="0" y="21501"/>
                  </a:lnTo>
                  <a:lnTo>
                    <a:pt x="1689" y="29883"/>
                  </a:lnTo>
                  <a:lnTo>
                    <a:pt x="6299" y="36715"/>
                  </a:lnTo>
                  <a:lnTo>
                    <a:pt x="13131" y="41325"/>
                  </a:lnTo>
                  <a:lnTo>
                    <a:pt x="21513" y="43014"/>
                  </a:lnTo>
                  <a:lnTo>
                    <a:pt x="29883" y="41325"/>
                  </a:lnTo>
                  <a:lnTo>
                    <a:pt x="36715" y="36715"/>
                  </a:lnTo>
                  <a:lnTo>
                    <a:pt x="41325" y="29883"/>
                  </a:lnTo>
                  <a:lnTo>
                    <a:pt x="43014" y="21501"/>
                  </a:lnTo>
                  <a:close/>
                </a:path>
                <a:path w="1879600" h="43180">
                  <a:moveTo>
                    <a:pt x="961034" y="21501"/>
                  </a:moveTo>
                  <a:lnTo>
                    <a:pt x="959345" y="13131"/>
                  </a:lnTo>
                  <a:lnTo>
                    <a:pt x="954735" y="6299"/>
                  </a:lnTo>
                  <a:lnTo>
                    <a:pt x="947902" y="1689"/>
                  </a:lnTo>
                  <a:lnTo>
                    <a:pt x="939520" y="0"/>
                  </a:lnTo>
                  <a:lnTo>
                    <a:pt x="931151" y="1689"/>
                  </a:lnTo>
                  <a:lnTo>
                    <a:pt x="924318" y="6299"/>
                  </a:lnTo>
                  <a:lnTo>
                    <a:pt x="919708" y="13131"/>
                  </a:lnTo>
                  <a:lnTo>
                    <a:pt x="918019" y="21501"/>
                  </a:lnTo>
                  <a:lnTo>
                    <a:pt x="919708" y="29883"/>
                  </a:lnTo>
                  <a:lnTo>
                    <a:pt x="924318" y="36715"/>
                  </a:lnTo>
                  <a:lnTo>
                    <a:pt x="931151" y="41325"/>
                  </a:lnTo>
                  <a:lnTo>
                    <a:pt x="939520" y="43014"/>
                  </a:lnTo>
                  <a:lnTo>
                    <a:pt x="947902" y="41325"/>
                  </a:lnTo>
                  <a:lnTo>
                    <a:pt x="954735" y="36715"/>
                  </a:lnTo>
                  <a:lnTo>
                    <a:pt x="959345" y="29883"/>
                  </a:lnTo>
                  <a:lnTo>
                    <a:pt x="961034" y="21501"/>
                  </a:lnTo>
                  <a:close/>
                </a:path>
                <a:path w="1879600" h="43180">
                  <a:moveTo>
                    <a:pt x="1879053" y="21501"/>
                  </a:moveTo>
                  <a:lnTo>
                    <a:pt x="1877364" y="13131"/>
                  </a:lnTo>
                  <a:lnTo>
                    <a:pt x="1872754" y="6299"/>
                  </a:lnTo>
                  <a:lnTo>
                    <a:pt x="1865922" y="1689"/>
                  </a:lnTo>
                  <a:lnTo>
                    <a:pt x="1857540" y="0"/>
                  </a:lnTo>
                  <a:lnTo>
                    <a:pt x="1849170" y="1689"/>
                  </a:lnTo>
                  <a:lnTo>
                    <a:pt x="1842338" y="6299"/>
                  </a:lnTo>
                  <a:lnTo>
                    <a:pt x="1837728" y="13131"/>
                  </a:lnTo>
                  <a:lnTo>
                    <a:pt x="1836039" y="21501"/>
                  </a:lnTo>
                  <a:lnTo>
                    <a:pt x="1837728" y="29883"/>
                  </a:lnTo>
                  <a:lnTo>
                    <a:pt x="1842338" y="36715"/>
                  </a:lnTo>
                  <a:lnTo>
                    <a:pt x="1849170" y="41325"/>
                  </a:lnTo>
                  <a:lnTo>
                    <a:pt x="1857540" y="43014"/>
                  </a:lnTo>
                  <a:lnTo>
                    <a:pt x="1865922" y="41325"/>
                  </a:lnTo>
                  <a:lnTo>
                    <a:pt x="1872754" y="36715"/>
                  </a:lnTo>
                  <a:lnTo>
                    <a:pt x="1877364" y="29883"/>
                  </a:lnTo>
                  <a:lnTo>
                    <a:pt x="1879053" y="21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365732" y="853000"/>
            <a:ext cx="3155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-50" i="1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4877" y="821364"/>
            <a:ext cx="838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1746" y="853000"/>
            <a:ext cx="3155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3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50" i="1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22015" y="1027954"/>
            <a:ext cx="1841500" cy="76835"/>
            <a:chOff x="1522015" y="1027954"/>
            <a:chExt cx="1841500" cy="76835"/>
          </a:xfrm>
        </p:grpSpPr>
        <p:sp>
          <p:nvSpPr>
            <p:cNvPr id="12" name="object 12"/>
            <p:cNvSpPr/>
            <p:nvPr/>
          </p:nvSpPr>
          <p:spPr>
            <a:xfrm>
              <a:off x="1530366" y="1073853"/>
              <a:ext cx="906780" cy="0"/>
            </a:xfrm>
            <a:custGeom>
              <a:avLst/>
              <a:gdLst/>
              <a:ahLst/>
              <a:cxnLst/>
              <a:rect l="l" t="t" r="r" b="b"/>
              <a:pathLst>
                <a:path w="906780" h="0">
                  <a:moveTo>
                    <a:pt x="0" y="0"/>
                  </a:moveTo>
                  <a:lnTo>
                    <a:pt x="90637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26570" y="105360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21560" y="105360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48384" y="1073853"/>
              <a:ext cx="906780" cy="0"/>
            </a:xfrm>
            <a:custGeom>
              <a:avLst/>
              <a:gdLst/>
              <a:ahLst/>
              <a:cxnLst/>
              <a:rect l="l" t="t" r="r" b="b"/>
              <a:pathLst>
                <a:path w="906779" h="0">
                  <a:moveTo>
                    <a:pt x="0" y="0"/>
                  </a:moveTo>
                  <a:lnTo>
                    <a:pt x="90637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44588" y="105360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39578" y="105360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24546" y="1027954"/>
              <a:ext cx="1836420" cy="76835"/>
            </a:xfrm>
            <a:custGeom>
              <a:avLst/>
              <a:gdLst/>
              <a:ahLst/>
              <a:cxnLst/>
              <a:rect l="l" t="t" r="r" b="b"/>
              <a:pathLst>
                <a:path w="1836420" h="76834">
                  <a:moveTo>
                    <a:pt x="0" y="76501"/>
                  </a:moveTo>
                  <a:lnTo>
                    <a:pt x="0" y="0"/>
                  </a:lnTo>
                </a:path>
                <a:path w="1836420" h="76834">
                  <a:moveTo>
                    <a:pt x="918017" y="76501"/>
                  </a:moveTo>
                  <a:lnTo>
                    <a:pt x="918017" y="0"/>
                  </a:lnTo>
                </a:path>
                <a:path w="1836420" h="76834">
                  <a:moveTo>
                    <a:pt x="1836035" y="76501"/>
                  </a:moveTo>
                  <a:lnTo>
                    <a:pt x="183603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937029" y="920526"/>
            <a:ext cx="10090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0275" algn="l"/>
              </a:tabLst>
            </a:pPr>
            <a:r>
              <a:rPr dirty="0" sz="1000" spc="-50" i="1">
                <a:latin typeface="Arial"/>
                <a:cs typeface="Arial"/>
              </a:rPr>
              <a:t>h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 i="1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19485" y="584247"/>
            <a:ext cx="1846580" cy="92075"/>
            <a:chOff x="1519485" y="584247"/>
            <a:chExt cx="1846580" cy="92075"/>
          </a:xfrm>
        </p:grpSpPr>
        <p:sp>
          <p:nvSpPr>
            <p:cNvPr id="21" name="object 21"/>
            <p:cNvSpPr/>
            <p:nvPr/>
          </p:nvSpPr>
          <p:spPr>
            <a:xfrm>
              <a:off x="1530366" y="630146"/>
              <a:ext cx="1824989" cy="0"/>
            </a:xfrm>
            <a:custGeom>
              <a:avLst/>
              <a:gdLst/>
              <a:ahLst/>
              <a:cxnLst/>
              <a:rect l="l" t="t" r="r" b="b"/>
              <a:pathLst>
                <a:path w="1824989" h="0">
                  <a:moveTo>
                    <a:pt x="0" y="0"/>
                  </a:moveTo>
                  <a:lnTo>
                    <a:pt x="182439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526570" y="60990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339578" y="60990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24546" y="584247"/>
              <a:ext cx="1836420" cy="92075"/>
            </a:xfrm>
            <a:custGeom>
              <a:avLst/>
              <a:gdLst/>
              <a:ahLst/>
              <a:cxnLst/>
              <a:rect l="l" t="t" r="r" b="b"/>
              <a:pathLst>
                <a:path w="1836420" h="92075">
                  <a:moveTo>
                    <a:pt x="0" y="0"/>
                  </a:moveTo>
                  <a:lnTo>
                    <a:pt x="0" y="91798"/>
                  </a:lnTo>
                </a:path>
                <a:path w="1836420" h="92075">
                  <a:moveTo>
                    <a:pt x="1836035" y="0"/>
                  </a:moveTo>
                  <a:lnTo>
                    <a:pt x="1836035" y="9179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02932" y="329208"/>
            <a:ext cx="4006850" cy="478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22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three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equally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spaced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nodes: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h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x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step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size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h</a:t>
            </a:r>
            <a:endParaRPr sz="1100">
              <a:latin typeface="Arial"/>
              <a:cs typeface="Arial"/>
            </a:endParaRPr>
          </a:p>
          <a:p>
            <a:pPr algn="ctr" marL="70485">
              <a:lnSpc>
                <a:spcPts val="1100"/>
              </a:lnSpc>
            </a:pP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algn="ctr" marL="72390">
              <a:lnSpc>
                <a:spcPct val="100000"/>
              </a:lnSpc>
              <a:spcBef>
                <a:spcPts val="60"/>
              </a:spcBef>
              <a:tabLst>
                <a:tab pos="1101725" algn="l"/>
                <a:tab pos="1908175" algn="l"/>
              </a:tabLst>
            </a:pP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7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-25" i="1">
                <a:latin typeface="Arial"/>
                <a:cs typeface="Arial"/>
              </a:rPr>
              <a:t>h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40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6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h</a:t>
            </a:r>
            <a:r>
              <a:rPr dirty="0" sz="1000" spc="-25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50658"/>
            <a:ext cx="65265" cy="6526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2932" y="1067205"/>
            <a:ext cx="18973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Applying </a:t>
            </a:r>
            <a:r>
              <a:rPr dirty="0" sz="1100" spc="-30">
                <a:latin typeface="Tahoma"/>
                <a:cs typeface="Tahoma"/>
              </a:rPr>
              <a:t>Taylor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series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expansion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78354" y="1132197"/>
            <a:ext cx="191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-37" i="1">
                <a:latin typeface="Arial"/>
                <a:cs typeface="Arial"/>
              </a:rPr>
              <a:t>h</a:t>
            </a:r>
            <a:r>
              <a:rPr dirty="0" sz="700" spc="-25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16454" y="1371307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 h="0">
                <a:moveTo>
                  <a:pt x="0" y="0"/>
                </a:moveTo>
                <a:lnTo>
                  <a:pt x="1210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83509" y="1132197"/>
            <a:ext cx="191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-37" i="1">
                <a:latin typeface="Arial"/>
                <a:cs typeface="Arial"/>
              </a:rPr>
              <a:t>h</a:t>
            </a:r>
            <a:r>
              <a:rPr dirty="0" sz="700" spc="-25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121609" y="1371307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 h="0">
                <a:moveTo>
                  <a:pt x="0" y="0"/>
                </a:moveTo>
                <a:lnTo>
                  <a:pt x="1210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512415" y="1350497"/>
            <a:ext cx="734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7220" algn="l"/>
              </a:tabLst>
            </a:pPr>
            <a:r>
              <a:rPr dirty="0" sz="1000" spc="-25">
                <a:latin typeface="Tahoma"/>
                <a:cs typeface="Tahoma"/>
              </a:rPr>
              <a:t>2!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Tahoma"/>
                <a:cs typeface="Tahoma"/>
              </a:rPr>
              <a:t>3!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8634" y="1263718"/>
            <a:ext cx="29679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93545" algn="l"/>
                <a:tab pos="2298700" algn="l"/>
              </a:tabLst>
            </a:pP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5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5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h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55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hf</a:t>
            </a:r>
            <a:r>
              <a:rPr dirty="0" sz="1000" spc="-50" i="1">
                <a:latin typeface="Arial"/>
                <a:cs typeface="Arial"/>
              </a:rPr>
              <a:t> </a:t>
            </a:r>
            <a:r>
              <a:rPr dirty="0" baseline="31746" sz="1050">
                <a:latin typeface="Lucida Sans Unicode"/>
                <a:cs typeface="Lucida Sans Unicode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50" i="1">
                <a:latin typeface="Arial"/>
                <a:cs typeface="Arial"/>
              </a:rPr>
              <a:t> </a:t>
            </a:r>
            <a:r>
              <a:rPr dirty="0" baseline="31746" sz="1050">
                <a:latin typeface="Lucida Sans Unicode"/>
                <a:cs typeface="Lucida Sans Unicode"/>
              </a:rPr>
              <a:t>′′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50" i="1">
                <a:latin typeface="Arial"/>
                <a:cs typeface="Arial"/>
              </a:rPr>
              <a:t> </a:t>
            </a:r>
            <a:r>
              <a:rPr dirty="0" baseline="31746" sz="1050">
                <a:latin typeface="Lucida Sans Unicode"/>
                <a:cs typeface="Lucida Sans Unicode"/>
              </a:rPr>
              <a:t>′′′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35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4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95089" y="1263718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(1)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30082" y="1558813"/>
            <a:ext cx="546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Lucida Sans Unicode"/>
                <a:cs typeface="Lucida Sans Unicode"/>
              </a:rPr>
              <a:t>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516454" y="1680679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 h="0">
                <a:moveTo>
                  <a:pt x="0" y="0"/>
                </a:moveTo>
                <a:lnTo>
                  <a:pt x="1210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478354" y="1520855"/>
            <a:ext cx="3371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i="1">
                <a:latin typeface="Arial"/>
                <a:cs typeface="Arial"/>
              </a:rPr>
              <a:t>h</a:t>
            </a:r>
            <a:r>
              <a:rPr dirty="0" baseline="47619" sz="1050">
                <a:latin typeface="Tahoma"/>
                <a:cs typeface="Tahoma"/>
              </a:rPr>
              <a:t>2</a:t>
            </a:r>
            <a:r>
              <a:rPr dirty="0" baseline="47619" sz="1050" spc="652">
                <a:latin typeface="Tahoma"/>
                <a:cs typeface="Tahoma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′′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121609" y="1680679"/>
            <a:ext cx="121285" cy="0"/>
          </a:xfrm>
          <a:custGeom>
            <a:avLst/>
            <a:gdLst/>
            <a:ahLst/>
            <a:cxnLst/>
            <a:rect l="l" t="t" r="r" b="b"/>
            <a:pathLst>
              <a:path w="121285" h="0">
                <a:moveTo>
                  <a:pt x="0" y="0"/>
                </a:moveTo>
                <a:lnTo>
                  <a:pt x="1210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512415" y="1659882"/>
            <a:ext cx="734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7220" algn="l"/>
              </a:tabLst>
            </a:pPr>
            <a:r>
              <a:rPr dirty="0" sz="1000" spc="-25">
                <a:latin typeface="Tahoma"/>
                <a:cs typeface="Tahoma"/>
              </a:rPr>
              <a:t>2!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Tahoma"/>
                <a:cs typeface="Tahoma"/>
              </a:rPr>
              <a:t>3!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83509" y="1520855"/>
            <a:ext cx="366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i="1">
                <a:latin typeface="Arial"/>
                <a:cs typeface="Arial"/>
              </a:rPr>
              <a:t>h</a:t>
            </a:r>
            <a:r>
              <a:rPr dirty="0" baseline="47619" sz="1050">
                <a:latin typeface="Tahoma"/>
                <a:cs typeface="Tahoma"/>
              </a:rPr>
              <a:t>3</a:t>
            </a:r>
            <a:r>
              <a:rPr dirty="0" baseline="47619" sz="1050" spc="652">
                <a:latin typeface="Tahoma"/>
                <a:cs typeface="Tahoma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′′′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84034" y="1573090"/>
            <a:ext cx="29171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68145" algn="l"/>
                <a:tab pos="2273300" algn="l"/>
              </a:tabLst>
            </a:pP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6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h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60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hf</a:t>
            </a:r>
            <a:r>
              <a:rPr dirty="0" sz="1000" spc="225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470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220" i="1">
                <a:latin typeface="Arial"/>
                <a:cs typeface="Arial"/>
              </a:rPr>
              <a:t> 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45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4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95089" y="1573090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(2)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1802152"/>
            <a:ext cx="114214" cy="11421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34352" y="178921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0034" y="1756580"/>
            <a:ext cx="16681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latin typeface="Arial"/>
                <a:cs typeface="Arial"/>
              </a:rPr>
              <a:t>Forward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Difference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113026" y="2048586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5" h="0">
                <a:moveTo>
                  <a:pt x="0" y="0"/>
                </a:moveTo>
                <a:lnTo>
                  <a:pt x="8458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621066" y="1940984"/>
            <a:ext cx="19202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55" i="1">
                <a:latin typeface="Arial"/>
                <a:cs typeface="Arial"/>
              </a:rPr>
              <a:t> </a:t>
            </a:r>
            <a:r>
              <a:rPr dirty="0" baseline="31746" sz="1050">
                <a:latin typeface="Lucida Sans Unicode"/>
                <a:cs typeface="Lucida Sans Unicode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05">
                <a:latin typeface="Tahoma"/>
                <a:cs typeface="Tahoma"/>
              </a:rPr>
              <a:t> </a:t>
            </a:r>
            <a:r>
              <a:rPr dirty="0" baseline="36111" sz="1500" i="1">
                <a:latin typeface="Arial"/>
                <a:cs typeface="Arial"/>
              </a:rPr>
              <a:t>f</a:t>
            </a:r>
            <a:r>
              <a:rPr dirty="0" baseline="36111" sz="1500" spc="-75" i="1">
                <a:latin typeface="Arial"/>
                <a:cs typeface="Arial"/>
              </a:rPr>
              <a:t> </a:t>
            </a:r>
            <a:r>
              <a:rPr dirty="0" baseline="36111" sz="1500">
                <a:latin typeface="Tahoma"/>
                <a:cs typeface="Tahoma"/>
              </a:rPr>
              <a:t>(</a:t>
            </a:r>
            <a:r>
              <a:rPr dirty="0" baseline="36111" sz="1500" i="1">
                <a:latin typeface="Arial"/>
                <a:cs typeface="Arial"/>
              </a:rPr>
              <a:t>x</a:t>
            </a:r>
            <a:r>
              <a:rPr dirty="0" baseline="36111" sz="1500" spc="82" i="1">
                <a:latin typeface="Arial"/>
                <a:cs typeface="Arial"/>
              </a:rPr>
              <a:t> </a:t>
            </a:r>
            <a:r>
              <a:rPr dirty="0" baseline="36111" sz="1500">
                <a:latin typeface="Tahoma"/>
                <a:cs typeface="Tahoma"/>
              </a:rPr>
              <a:t>+</a:t>
            </a:r>
            <a:r>
              <a:rPr dirty="0" baseline="36111" sz="1500" spc="-127">
                <a:latin typeface="Tahoma"/>
                <a:cs typeface="Tahoma"/>
              </a:rPr>
              <a:t> </a:t>
            </a:r>
            <a:r>
              <a:rPr dirty="0" baseline="36111" sz="1500" spc="-30" i="1">
                <a:latin typeface="Arial"/>
                <a:cs typeface="Arial"/>
              </a:rPr>
              <a:t>h</a:t>
            </a:r>
            <a:r>
              <a:rPr dirty="0" baseline="36111" sz="1500" spc="-30">
                <a:latin typeface="Tahoma"/>
                <a:cs typeface="Tahoma"/>
              </a:rPr>
              <a:t>)</a:t>
            </a:r>
            <a:r>
              <a:rPr dirty="0" baseline="36111" sz="1500" spc="-120">
                <a:latin typeface="Tahoma"/>
                <a:cs typeface="Tahoma"/>
              </a:rPr>
              <a:t> </a:t>
            </a:r>
            <a:r>
              <a:rPr dirty="0" baseline="36111" sz="1500" spc="-60">
                <a:latin typeface="Lucida Sans Unicode"/>
                <a:cs typeface="Lucida Sans Unicode"/>
              </a:rPr>
              <a:t>−</a:t>
            </a:r>
            <a:r>
              <a:rPr dirty="0" baseline="36111" sz="1500" spc="-120">
                <a:latin typeface="Lucida Sans Unicode"/>
                <a:cs typeface="Lucida Sans Unicode"/>
              </a:rPr>
              <a:t> </a:t>
            </a:r>
            <a:r>
              <a:rPr dirty="0" baseline="36111" sz="1500" i="1">
                <a:latin typeface="Arial"/>
                <a:cs typeface="Arial"/>
              </a:rPr>
              <a:t>f</a:t>
            </a:r>
            <a:r>
              <a:rPr dirty="0" baseline="36111" sz="1500" spc="-75" i="1">
                <a:latin typeface="Arial"/>
                <a:cs typeface="Arial"/>
              </a:rPr>
              <a:t> </a:t>
            </a:r>
            <a:r>
              <a:rPr dirty="0" baseline="36111" sz="1500" spc="-44">
                <a:latin typeface="Tahoma"/>
                <a:cs typeface="Tahoma"/>
              </a:rPr>
              <a:t>(</a:t>
            </a:r>
            <a:r>
              <a:rPr dirty="0" baseline="36111" sz="1500" spc="-44" i="1">
                <a:latin typeface="Arial"/>
                <a:cs typeface="Arial"/>
              </a:rPr>
              <a:t>x</a:t>
            </a:r>
            <a:r>
              <a:rPr dirty="0" baseline="36111" sz="1500" spc="-277" i="1">
                <a:latin typeface="Arial"/>
                <a:cs typeface="Arial"/>
              </a:rPr>
              <a:t> </a:t>
            </a:r>
            <a:r>
              <a:rPr dirty="0" baseline="36111" sz="1500">
                <a:latin typeface="Tahoma"/>
                <a:cs typeface="Tahoma"/>
              </a:rPr>
              <a:t>)</a:t>
            </a:r>
            <a:r>
              <a:rPr dirty="0" baseline="36111" sz="1500" spc="6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4634" y="2091911"/>
            <a:ext cx="19513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5" b="1">
                <a:latin typeface="Arial"/>
                <a:cs typeface="Arial"/>
              </a:rPr>
              <a:t>Backward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Difference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Formula:</a:t>
            </a:r>
            <a:r>
              <a:rPr dirty="0" sz="1000" spc="125" b="1">
                <a:latin typeface="Arial"/>
                <a:cs typeface="Arial"/>
              </a:rPr>
              <a:t> </a:t>
            </a:r>
            <a:r>
              <a:rPr dirty="0" baseline="27777" sz="1500" spc="-75" i="1">
                <a:latin typeface="Arial"/>
                <a:cs typeface="Arial"/>
              </a:rPr>
              <a:t>h</a:t>
            </a:r>
            <a:endParaRPr baseline="27777" sz="1500">
              <a:latin typeface="Arial"/>
              <a:cs typeface="Arial"/>
            </a:endParaRPr>
          </a:p>
        </p:txBody>
      </p:sp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108" y="2137483"/>
            <a:ext cx="114214" cy="114214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534352" y="2124550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113026" y="2419908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5" h="0">
                <a:moveTo>
                  <a:pt x="0" y="0"/>
                </a:moveTo>
                <a:lnTo>
                  <a:pt x="8458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621066" y="2312319"/>
            <a:ext cx="19202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60" i="1">
                <a:latin typeface="Arial"/>
                <a:cs typeface="Arial"/>
              </a:rPr>
              <a:t> </a:t>
            </a:r>
            <a:r>
              <a:rPr dirty="0" baseline="31746" sz="1050">
                <a:latin typeface="Lucida Sans Unicode"/>
                <a:cs typeface="Lucida Sans Unicode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00">
                <a:latin typeface="Tahoma"/>
                <a:cs typeface="Tahoma"/>
              </a:rPr>
              <a:t> </a:t>
            </a:r>
            <a:r>
              <a:rPr dirty="0" baseline="36111" sz="1500" i="1">
                <a:latin typeface="Arial"/>
                <a:cs typeface="Arial"/>
              </a:rPr>
              <a:t>f</a:t>
            </a:r>
            <a:r>
              <a:rPr dirty="0" baseline="36111" sz="1500" spc="-89" i="1">
                <a:latin typeface="Arial"/>
                <a:cs typeface="Arial"/>
              </a:rPr>
              <a:t> </a:t>
            </a:r>
            <a:r>
              <a:rPr dirty="0" baseline="36111" sz="1500" spc="-44">
                <a:latin typeface="Tahoma"/>
                <a:cs typeface="Tahoma"/>
              </a:rPr>
              <a:t>(</a:t>
            </a:r>
            <a:r>
              <a:rPr dirty="0" baseline="36111" sz="1500" spc="-44" i="1">
                <a:latin typeface="Arial"/>
                <a:cs typeface="Arial"/>
              </a:rPr>
              <a:t>x</a:t>
            </a:r>
            <a:r>
              <a:rPr dirty="0" baseline="36111" sz="1500" spc="-277" i="1">
                <a:latin typeface="Arial"/>
                <a:cs typeface="Arial"/>
              </a:rPr>
              <a:t> </a:t>
            </a:r>
            <a:r>
              <a:rPr dirty="0" baseline="36111" sz="1500" spc="-15">
                <a:latin typeface="Tahoma"/>
                <a:cs typeface="Tahoma"/>
              </a:rPr>
              <a:t>)</a:t>
            </a:r>
            <a:r>
              <a:rPr dirty="0" baseline="36111" sz="1500" spc="-127">
                <a:latin typeface="Tahoma"/>
                <a:cs typeface="Tahoma"/>
              </a:rPr>
              <a:t> </a:t>
            </a:r>
            <a:r>
              <a:rPr dirty="0" baseline="36111" sz="1500" spc="-60">
                <a:latin typeface="Lucida Sans Unicode"/>
                <a:cs typeface="Lucida Sans Unicode"/>
              </a:rPr>
              <a:t>−</a:t>
            </a:r>
            <a:r>
              <a:rPr dirty="0" baseline="36111" sz="1500" spc="-127">
                <a:latin typeface="Lucida Sans Unicode"/>
                <a:cs typeface="Lucida Sans Unicode"/>
              </a:rPr>
              <a:t> </a:t>
            </a:r>
            <a:r>
              <a:rPr dirty="0" baseline="36111" sz="1500" i="1">
                <a:latin typeface="Arial"/>
                <a:cs typeface="Arial"/>
              </a:rPr>
              <a:t>f</a:t>
            </a:r>
            <a:r>
              <a:rPr dirty="0" baseline="36111" sz="1500" spc="-82" i="1">
                <a:latin typeface="Arial"/>
                <a:cs typeface="Arial"/>
              </a:rPr>
              <a:t> </a:t>
            </a:r>
            <a:r>
              <a:rPr dirty="0" baseline="36111" sz="1500">
                <a:latin typeface="Tahoma"/>
                <a:cs typeface="Tahoma"/>
              </a:rPr>
              <a:t>(</a:t>
            </a:r>
            <a:r>
              <a:rPr dirty="0" baseline="36111" sz="1500" i="1">
                <a:latin typeface="Arial"/>
                <a:cs typeface="Arial"/>
              </a:rPr>
              <a:t>x</a:t>
            </a:r>
            <a:r>
              <a:rPr dirty="0" baseline="36111" sz="1500" spc="67" i="1">
                <a:latin typeface="Arial"/>
                <a:cs typeface="Arial"/>
              </a:rPr>
              <a:t> </a:t>
            </a:r>
            <a:r>
              <a:rPr dirty="0" baseline="36111" sz="1500" spc="-60">
                <a:latin typeface="Lucida Sans Unicode"/>
                <a:cs typeface="Lucida Sans Unicode"/>
              </a:rPr>
              <a:t>−</a:t>
            </a:r>
            <a:r>
              <a:rPr dirty="0" baseline="36111" sz="1500" spc="-127">
                <a:latin typeface="Lucida Sans Unicode"/>
                <a:cs typeface="Lucida Sans Unicode"/>
              </a:rPr>
              <a:t> </a:t>
            </a:r>
            <a:r>
              <a:rPr dirty="0" baseline="36111" sz="1500" i="1">
                <a:latin typeface="Arial"/>
                <a:cs typeface="Arial"/>
              </a:rPr>
              <a:t>h</a:t>
            </a:r>
            <a:r>
              <a:rPr dirty="0" baseline="36111" sz="1500">
                <a:latin typeface="Tahoma"/>
                <a:cs typeface="Tahoma"/>
              </a:rPr>
              <a:t>)</a:t>
            </a:r>
            <a:r>
              <a:rPr dirty="0" baseline="36111" sz="1500" spc="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0034" y="2399098"/>
            <a:ext cx="3081020" cy="313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28650">
              <a:lnSpc>
                <a:spcPts val="1135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ts val="1135"/>
              </a:lnSpc>
            </a:pPr>
            <a:r>
              <a:rPr dirty="0" sz="1000" spc="-10" b="1">
                <a:latin typeface="Arial"/>
                <a:cs typeface="Arial"/>
              </a:rPr>
              <a:t>Central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Difference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Formula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for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first-</a:t>
            </a:r>
            <a:r>
              <a:rPr dirty="0" sz="1000" spc="-25" b="1">
                <a:latin typeface="Arial"/>
                <a:cs typeface="Arial"/>
              </a:rPr>
              <a:t>order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Derivative: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08" y="2580814"/>
            <a:ext cx="114214" cy="114214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534352" y="256788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001901" y="2863240"/>
            <a:ext cx="1068705" cy="0"/>
          </a:xfrm>
          <a:custGeom>
            <a:avLst/>
            <a:gdLst/>
            <a:ahLst/>
            <a:cxnLst/>
            <a:rect l="l" t="t" r="r" b="b"/>
            <a:pathLst>
              <a:path w="1068705" h="0">
                <a:moveTo>
                  <a:pt x="0" y="0"/>
                </a:moveTo>
                <a:lnTo>
                  <a:pt x="106812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509941" y="2670053"/>
            <a:ext cx="21424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6111" sz="1500" i="1">
                <a:latin typeface="Arial"/>
                <a:cs typeface="Arial"/>
              </a:rPr>
              <a:t>f</a:t>
            </a:r>
            <a:r>
              <a:rPr dirty="0" baseline="-36111" sz="1500" spc="-89" i="1">
                <a:latin typeface="Arial"/>
                <a:cs typeface="Arial"/>
              </a:rPr>
              <a:t> </a:t>
            </a:r>
            <a:r>
              <a:rPr dirty="0" baseline="-19841" sz="1050">
                <a:latin typeface="Lucida Sans Unicode"/>
                <a:cs typeface="Lucida Sans Unicode"/>
              </a:rPr>
              <a:t>′</a:t>
            </a:r>
            <a:r>
              <a:rPr dirty="0" baseline="-36111" sz="1500">
                <a:latin typeface="Tahoma"/>
                <a:cs typeface="Tahoma"/>
              </a:rPr>
              <a:t>(</a:t>
            </a:r>
            <a:r>
              <a:rPr dirty="0" baseline="-36111" sz="1500" i="1">
                <a:latin typeface="Arial"/>
                <a:cs typeface="Arial"/>
              </a:rPr>
              <a:t>x</a:t>
            </a:r>
            <a:r>
              <a:rPr dirty="0" baseline="-36111" sz="1500" spc="-277" i="1">
                <a:latin typeface="Arial"/>
                <a:cs typeface="Arial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)</a:t>
            </a:r>
            <a:r>
              <a:rPr dirty="0" baseline="-36111" sz="1500" spc="-44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=</a:t>
            </a:r>
            <a:r>
              <a:rPr dirty="0" baseline="-36111" sz="1500" spc="142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6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h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6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h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+</a:t>
            </a:r>
            <a:r>
              <a:rPr dirty="0" baseline="-36111" sz="1500" spc="-127">
                <a:latin typeface="Tahoma"/>
                <a:cs typeface="Tahoma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H.O.T.</a:t>
            </a:r>
            <a:endParaRPr baseline="-36111" sz="15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0021" y="2842430"/>
            <a:ext cx="3270250" cy="313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39420">
              <a:lnSpc>
                <a:spcPts val="1135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ts val="1135"/>
              </a:lnSpc>
            </a:pPr>
            <a:r>
              <a:rPr dirty="0" sz="1000" spc="-10" b="1">
                <a:latin typeface="Arial"/>
                <a:cs typeface="Arial"/>
              </a:rPr>
              <a:t>Central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Difference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Formula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for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60" b="1">
                <a:latin typeface="Arial"/>
                <a:cs typeface="Arial"/>
              </a:rPr>
              <a:t>Second-</a:t>
            </a:r>
            <a:r>
              <a:rPr dirty="0" sz="1000" spc="-30" b="1">
                <a:latin typeface="Arial"/>
                <a:cs typeface="Arial"/>
              </a:rPr>
              <a:t>order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Derivative: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9" name="object 5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0108" y="3024146"/>
            <a:ext cx="114214" cy="114214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34352" y="301121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790293" y="3306572"/>
            <a:ext cx="1520825" cy="0"/>
          </a:xfrm>
          <a:custGeom>
            <a:avLst/>
            <a:gdLst/>
            <a:ahLst/>
            <a:cxnLst/>
            <a:rect l="l" t="t" r="r" b="b"/>
            <a:pathLst>
              <a:path w="1520825" h="0">
                <a:moveTo>
                  <a:pt x="0" y="0"/>
                </a:moveTo>
                <a:lnTo>
                  <a:pt x="152049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451938" y="3249211"/>
            <a:ext cx="191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6666" sz="1500" spc="-37" i="1">
                <a:latin typeface="Arial"/>
                <a:cs typeface="Arial"/>
              </a:rPr>
              <a:t>h</a:t>
            </a:r>
            <a:r>
              <a:rPr dirty="0" sz="700" spc="-25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69161" y="3113371"/>
            <a:ext cx="2624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6111" sz="1500" i="1">
                <a:latin typeface="Arial"/>
                <a:cs typeface="Arial"/>
              </a:rPr>
              <a:t>f</a:t>
            </a:r>
            <a:r>
              <a:rPr dirty="0" baseline="-36111" sz="1500" spc="-89" i="1">
                <a:latin typeface="Arial"/>
                <a:cs typeface="Arial"/>
              </a:rPr>
              <a:t> </a:t>
            </a:r>
            <a:r>
              <a:rPr dirty="0" baseline="-19841" sz="1050">
                <a:latin typeface="Lucida Sans Unicode"/>
                <a:cs typeface="Lucida Sans Unicode"/>
              </a:rPr>
              <a:t>′′</a:t>
            </a:r>
            <a:r>
              <a:rPr dirty="0" baseline="-36111" sz="1500">
                <a:latin typeface="Tahoma"/>
                <a:cs typeface="Tahoma"/>
              </a:rPr>
              <a:t>(</a:t>
            </a:r>
            <a:r>
              <a:rPr dirty="0" baseline="-36111" sz="1500" i="1">
                <a:latin typeface="Arial"/>
                <a:cs typeface="Arial"/>
              </a:rPr>
              <a:t>x</a:t>
            </a:r>
            <a:r>
              <a:rPr dirty="0" baseline="-36111" sz="1500" spc="-277" i="1">
                <a:latin typeface="Arial"/>
                <a:cs typeface="Arial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)</a:t>
            </a:r>
            <a:r>
              <a:rPr dirty="0" baseline="-36111" sz="1500" spc="-30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=</a:t>
            </a:r>
            <a:r>
              <a:rPr dirty="0" baseline="-36111" sz="1500" spc="142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5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h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</a:t>
            </a:r>
            <a:r>
              <a:rPr dirty="0" sz="1000" spc="-55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-5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h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+</a:t>
            </a:r>
            <a:r>
              <a:rPr dirty="0" baseline="-36111" sz="1500" spc="-127">
                <a:latin typeface="Tahoma"/>
                <a:cs typeface="Tahoma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H.O.T.</a:t>
            </a:r>
            <a:endParaRPr baseline="-36111" sz="15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326420" y="3323099"/>
            <a:ext cx="213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7F7F7F"/>
                </a:solidFill>
                <a:latin typeface="Tahoma"/>
                <a:cs typeface="Tahoma"/>
              </a:rPr>
              <a:t>5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7F7F7F"/>
                </a:solidFill>
                <a:latin typeface="Tahoma"/>
                <a:cs typeface="Tahoma"/>
              </a:rPr>
              <a:t>44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Finite</a:t>
            </a:r>
            <a:r>
              <a:rPr dirty="0" spc="-40"/>
              <a:t> </a:t>
            </a:r>
            <a:r>
              <a:rPr dirty="0" spc="-45"/>
              <a:t>Difference</a:t>
            </a:r>
            <a:r>
              <a:rPr dirty="0" spc="-40"/>
              <a:t> </a:t>
            </a:r>
            <a:r>
              <a:rPr dirty="0" spc="-25"/>
              <a:t>Equations</a:t>
            </a:r>
            <a:r>
              <a:rPr dirty="0" spc="-40"/>
              <a:t> </a:t>
            </a:r>
            <a:r>
              <a:rPr dirty="0" spc="-10"/>
              <a:t>for</a:t>
            </a:r>
            <a:r>
              <a:rPr dirty="0" spc="-40"/>
              <a:t> </a:t>
            </a:r>
            <a:r>
              <a:rPr dirty="0" spc="-55"/>
              <a:t>One-</a:t>
            </a:r>
            <a:r>
              <a:rPr dirty="0" spc="-35"/>
              <a:t>Dimensional </a:t>
            </a:r>
            <a:r>
              <a:rPr dirty="0" spc="-20"/>
              <a:t>Variable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12661"/>
            <a:ext cx="65265" cy="652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558302" y="822159"/>
            <a:ext cx="1769110" cy="40640"/>
            <a:chOff x="1558302" y="822159"/>
            <a:chExt cx="1769110" cy="40640"/>
          </a:xfrm>
        </p:grpSpPr>
        <p:sp>
          <p:nvSpPr>
            <p:cNvPr id="6" name="object 6"/>
            <p:cNvSpPr/>
            <p:nvPr/>
          </p:nvSpPr>
          <p:spPr>
            <a:xfrm>
              <a:off x="1578546" y="842403"/>
              <a:ext cx="1728470" cy="0"/>
            </a:xfrm>
            <a:custGeom>
              <a:avLst/>
              <a:gdLst/>
              <a:ahLst/>
              <a:cxnLst/>
              <a:rect l="l" t="t" r="r" b="b"/>
              <a:pathLst>
                <a:path w="1728470" h="0">
                  <a:moveTo>
                    <a:pt x="0" y="0"/>
                  </a:moveTo>
                  <a:lnTo>
                    <a:pt x="1728028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58290" y="822159"/>
              <a:ext cx="1769110" cy="40640"/>
            </a:xfrm>
            <a:custGeom>
              <a:avLst/>
              <a:gdLst/>
              <a:ahLst/>
              <a:cxnLst/>
              <a:rect l="l" t="t" r="r" b="b"/>
              <a:pathLst>
                <a:path w="1769110" h="40640">
                  <a:moveTo>
                    <a:pt x="40500" y="20243"/>
                  </a:moveTo>
                  <a:lnTo>
                    <a:pt x="38900" y="12369"/>
                  </a:lnTo>
                  <a:lnTo>
                    <a:pt x="34569" y="5930"/>
                  </a:lnTo>
                  <a:lnTo>
                    <a:pt x="28130" y="1600"/>
                  </a:lnTo>
                  <a:lnTo>
                    <a:pt x="20256" y="0"/>
                  </a:lnTo>
                  <a:lnTo>
                    <a:pt x="12369" y="1600"/>
                  </a:lnTo>
                  <a:lnTo>
                    <a:pt x="5930" y="5930"/>
                  </a:lnTo>
                  <a:lnTo>
                    <a:pt x="1600" y="12369"/>
                  </a:lnTo>
                  <a:lnTo>
                    <a:pt x="0" y="20243"/>
                  </a:lnTo>
                  <a:lnTo>
                    <a:pt x="1600" y="28130"/>
                  </a:lnTo>
                  <a:lnTo>
                    <a:pt x="5930" y="34569"/>
                  </a:lnTo>
                  <a:lnTo>
                    <a:pt x="12369" y="38900"/>
                  </a:lnTo>
                  <a:lnTo>
                    <a:pt x="20256" y="40500"/>
                  </a:lnTo>
                  <a:lnTo>
                    <a:pt x="28130" y="38900"/>
                  </a:lnTo>
                  <a:lnTo>
                    <a:pt x="34569" y="34569"/>
                  </a:lnTo>
                  <a:lnTo>
                    <a:pt x="38900" y="28130"/>
                  </a:lnTo>
                  <a:lnTo>
                    <a:pt x="40500" y="20243"/>
                  </a:lnTo>
                  <a:close/>
                </a:path>
                <a:path w="1769110" h="40640">
                  <a:moveTo>
                    <a:pt x="904506" y="20243"/>
                  </a:moveTo>
                  <a:lnTo>
                    <a:pt x="902919" y="12369"/>
                  </a:lnTo>
                  <a:lnTo>
                    <a:pt x="898575" y="5930"/>
                  </a:lnTo>
                  <a:lnTo>
                    <a:pt x="892149" y="1600"/>
                  </a:lnTo>
                  <a:lnTo>
                    <a:pt x="884262" y="0"/>
                  </a:lnTo>
                  <a:lnTo>
                    <a:pt x="876388" y="1600"/>
                  </a:lnTo>
                  <a:lnTo>
                    <a:pt x="869950" y="5930"/>
                  </a:lnTo>
                  <a:lnTo>
                    <a:pt x="865606" y="12369"/>
                  </a:lnTo>
                  <a:lnTo>
                    <a:pt x="864019" y="20243"/>
                  </a:lnTo>
                  <a:lnTo>
                    <a:pt x="865606" y="28130"/>
                  </a:lnTo>
                  <a:lnTo>
                    <a:pt x="869950" y="34569"/>
                  </a:lnTo>
                  <a:lnTo>
                    <a:pt x="876388" y="38900"/>
                  </a:lnTo>
                  <a:lnTo>
                    <a:pt x="884262" y="40500"/>
                  </a:lnTo>
                  <a:lnTo>
                    <a:pt x="892149" y="38900"/>
                  </a:lnTo>
                  <a:lnTo>
                    <a:pt x="898575" y="34569"/>
                  </a:lnTo>
                  <a:lnTo>
                    <a:pt x="902919" y="28130"/>
                  </a:lnTo>
                  <a:lnTo>
                    <a:pt x="904506" y="20243"/>
                  </a:lnTo>
                  <a:close/>
                </a:path>
                <a:path w="1769110" h="40640">
                  <a:moveTo>
                    <a:pt x="1768525" y="20243"/>
                  </a:moveTo>
                  <a:lnTo>
                    <a:pt x="1766925" y="12369"/>
                  </a:lnTo>
                  <a:lnTo>
                    <a:pt x="1762594" y="5930"/>
                  </a:lnTo>
                  <a:lnTo>
                    <a:pt x="1756156" y="1600"/>
                  </a:lnTo>
                  <a:lnTo>
                    <a:pt x="1748282" y="0"/>
                  </a:lnTo>
                  <a:lnTo>
                    <a:pt x="1740395" y="1600"/>
                  </a:lnTo>
                  <a:lnTo>
                    <a:pt x="1733969" y="5930"/>
                  </a:lnTo>
                  <a:lnTo>
                    <a:pt x="1729625" y="12369"/>
                  </a:lnTo>
                  <a:lnTo>
                    <a:pt x="1728038" y="20243"/>
                  </a:lnTo>
                  <a:lnTo>
                    <a:pt x="1729625" y="28130"/>
                  </a:lnTo>
                  <a:lnTo>
                    <a:pt x="1733969" y="34569"/>
                  </a:lnTo>
                  <a:lnTo>
                    <a:pt x="1740395" y="38900"/>
                  </a:lnTo>
                  <a:lnTo>
                    <a:pt x="1748282" y="40500"/>
                  </a:lnTo>
                  <a:lnTo>
                    <a:pt x="1756156" y="38900"/>
                  </a:lnTo>
                  <a:lnTo>
                    <a:pt x="1762594" y="34569"/>
                  </a:lnTo>
                  <a:lnTo>
                    <a:pt x="1766925" y="28130"/>
                  </a:lnTo>
                  <a:lnTo>
                    <a:pt x="1768525" y="20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35633" y="833836"/>
            <a:ext cx="10287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5519" algn="l"/>
              </a:tabLst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 i="1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7988" y="619739"/>
            <a:ext cx="1739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8226" y="638726"/>
            <a:ext cx="20599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781175" algn="l"/>
              </a:tabLst>
            </a:pPr>
            <a:r>
              <a:rPr dirty="0" baseline="8333" sz="1500" spc="-30" i="1">
                <a:latin typeface="Calibri"/>
                <a:cs typeface="Calibri"/>
              </a:rPr>
              <a:t>φ</a:t>
            </a:r>
            <a:r>
              <a:rPr dirty="0" sz="700" spc="-20" i="1">
                <a:latin typeface="Arial"/>
                <a:cs typeface="Arial"/>
              </a:rPr>
              <a:t>i</a:t>
            </a:r>
            <a:r>
              <a:rPr dirty="0" sz="700" spc="-20">
                <a:latin typeface="Lucida Sans Unicode"/>
                <a:cs typeface="Lucida Sans Unicode"/>
              </a:rPr>
              <a:t>−</a:t>
            </a:r>
            <a:r>
              <a:rPr dirty="0" sz="700" spc="-2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8333" sz="1500" spc="-30" i="1">
                <a:latin typeface="Calibri"/>
                <a:cs typeface="Calibri"/>
              </a:rPr>
              <a:t>φ</a:t>
            </a:r>
            <a:r>
              <a:rPr dirty="0" sz="700" spc="-20" i="1">
                <a:latin typeface="Arial"/>
                <a:cs typeface="Arial"/>
              </a:rPr>
              <a:t>i</a:t>
            </a:r>
            <a:r>
              <a:rPr dirty="0" sz="700" spc="-20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3633" y="833836"/>
            <a:ext cx="286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7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76016" y="1000807"/>
            <a:ext cx="1733550" cy="72390"/>
            <a:chOff x="1576016" y="1000807"/>
            <a:chExt cx="1733550" cy="72390"/>
          </a:xfrm>
        </p:grpSpPr>
        <p:sp>
          <p:nvSpPr>
            <p:cNvPr id="13" name="object 13"/>
            <p:cNvSpPr/>
            <p:nvPr/>
          </p:nvSpPr>
          <p:spPr>
            <a:xfrm>
              <a:off x="1584366" y="1044005"/>
              <a:ext cx="852805" cy="0"/>
            </a:xfrm>
            <a:custGeom>
              <a:avLst/>
              <a:gdLst/>
              <a:ahLst/>
              <a:cxnLst/>
              <a:rect l="l" t="t" r="r" b="b"/>
              <a:pathLst>
                <a:path w="852805" h="0">
                  <a:moveTo>
                    <a:pt x="0" y="0"/>
                  </a:moveTo>
                  <a:lnTo>
                    <a:pt x="85237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80570" y="102376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21557" y="102376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48380" y="1044005"/>
              <a:ext cx="852805" cy="0"/>
            </a:xfrm>
            <a:custGeom>
              <a:avLst/>
              <a:gdLst/>
              <a:ahLst/>
              <a:cxnLst/>
              <a:rect l="l" t="t" r="r" b="b"/>
              <a:pathLst>
                <a:path w="852804" h="0">
                  <a:moveTo>
                    <a:pt x="0" y="0"/>
                  </a:moveTo>
                  <a:lnTo>
                    <a:pt x="85237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44584" y="102376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85571" y="102376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78546" y="1000807"/>
              <a:ext cx="1728470" cy="72390"/>
            </a:xfrm>
            <a:custGeom>
              <a:avLst/>
              <a:gdLst/>
              <a:ahLst/>
              <a:cxnLst/>
              <a:rect l="l" t="t" r="r" b="b"/>
              <a:pathLst>
                <a:path w="1728470" h="72390">
                  <a:moveTo>
                    <a:pt x="0" y="72000"/>
                  </a:moveTo>
                  <a:lnTo>
                    <a:pt x="0" y="0"/>
                  </a:lnTo>
                </a:path>
                <a:path w="1728470" h="72390">
                  <a:moveTo>
                    <a:pt x="864014" y="72000"/>
                  </a:moveTo>
                  <a:lnTo>
                    <a:pt x="864014" y="0"/>
                  </a:lnTo>
                </a:path>
                <a:path w="1728470" h="72390">
                  <a:moveTo>
                    <a:pt x="1728028" y="72000"/>
                  </a:moveTo>
                  <a:lnTo>
                    <a:pt x="172802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910156" y="888878"/>
            <a:ext cx="10534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6300" algn="l"/>
              </a:tabLst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73485" y="583201"/>
            <a:ext cx="1738630" cy="86995"/>
            <a:chOff x="1573485" y="583201"/>
            <a:chExt cx="1738630" cy="86995"/>
          </a:xfrm>
        </p:grpSpPr>
        <p:sp>
          <p:nvSpPr>
            <p:cNvPr id="22" name="object 22"/>
            <p:cNvSpPr/>
            <p:nvPr/>
          </p:nvSpPr>
          <p:spPr>
            <a:xfrm>
              <a:off x="1584366" y="626400"/>
              <a:ext cx="1716405" cy="0"/>
            </a:xfrm>
            <a:custGeom>
              <a:avLst/>
              <a:gdLst/>
              <a:ahLst/>
              <a:cxnLst/>
              <a:rect l="l" t="t" r="r" b="b"/>
              <a:pathLst>
                <a:path w="1716404" h="0">
                  <a:moveTo>
                    <a:pt x="0" y="0"/>
                  </a:moveTo>
                  <a:lnTo>
                    <a:pt x="171638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80570" y="60615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85571" y="60615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78546" y="583201"/>
              <a:ext cx="1728470" cy="86995"/>
            </a:xfrm>
            <a:custGeom>
              <a:avLst/>
              <a:gdLst/>
              <a:ahLst/>
              <a:cxnLst/>
              <a:rect l="l" t="t" r="r" b="b"/>
              <a:pathLst>
                <a:path w="1728470" h="86995">
                  <a:moveTo>
                    <a:pt x="0" y="0"/>
                  </a:moveTo>
                  <a:lnTo>
                    <a:pt x="0" y="86397"/>
                  </a:lnTo>
                </a:path>
                <a:path w="1728470" h="86995">
                  <a:moveTo>
                    <a:pt x="1728028" y="0"/>
                  </a:moveTo>
                  <a:lnTo>
                    <a:pt x="1728028" y="86397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77532" y="329208"/>
            <a:ext cx="4062729" cy="323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24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three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equally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spaced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points:</a:t>
            </a:r>
            <a:r>
              <a:rPr dirty="0" sz="1100" spc="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 i="1">
                <a:latin typeface="Arial"/>
                <a:cs typeface="Arial"/>
              </a:rPr>
              <a:t>i</a:t>
            </a:r>
            <a:r>
              <a:rPr dirty="0" baseline="-10416" sz="1200" spc="-217" i="1">
                <a:latin typeface="Arial"/>
                <a:cs typeface="Arial"/>
              </a:rPr>
              <a:t> </a:t>
            </a:r>
            <a:r>
              <a:rPr dirty="0" baseline="-10416" sz="1200">
                <a:latin typeface="Lucida Sans Unicode"/>
                <a:cs typeface="Lucida Sans Unicode"/>
              </a:rPr>
              <a:t>−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 i="1">
                <a:latin typeface="Arial"/>
                <a:cs typeface="Arial"/>
              </a:rPr>
              <a:t>i</a:t>
            </a:r>
            <a:r>
              <a:rPr dirty="0" baseline="-10416" sz="1200" spc="-142" i="1">
                <a:latin typeface="Arial"/>
                <a:cs typeface="Arial"/>
              </a:rPr>
              <a:t> 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 i="1">
                <a:latin typeface="Arial"/>
                <a:cs typeface="Arial"/>
              </a:rPr>
              <a:t>i</a:t>
            </a:r>
            <a:r>
              <a:rPr dirty="0" baseline="-10416" sz="1200" spc="-217" i="1">
                <a:latin typeface="Arial"/>
                <a:cs typeface="Arial"/>
              </a:rPr>
              <a:t> </a:t>
            </a:r>
            <a:r>
              <a:rPr dirty="0" baseline="-10416" sz="1200">
                <a:latin typeface="Tahoma"/>
                <a:cs typeface="Tahoma"/>
              </a:rPr>
              <a:t>+1</a:t>
            </a:r>
            <a:r>
              <a:rPr dirty="0" baseline="-10416" sz="1200" spc="19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step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size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60">
                <a:latin typeface="Tahoma"/>
                <a:cs typeface="Tahoma"/>
              </a:rPr>
              <a:t>∆</a:t>
            </a:r>
            <a:r>
              <a:rPr dirty="0" sz="1100" spc="6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algn="ctr" marL="55880">
              <a:lnSpc>
                <a:spcPts val="1120"/>
              </a:lnSpc>
            </a:pPr>
            <a:r>
              <a:rPr dirty="0" sz="1000" spc="-25">
                <a:latin typeface="Tahoma"/>
                <a:cs typeface="Tahoma"/>
              </a:rPr>
              <a:t>2∆</a:t>
            </a:r>
            <a:r>
              <a:rPr dirty="0" sz="1000" spc="-25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18997"/>
            <a:ext cx="65265" cy="6526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02932" y="1035556"/>
            <a:ext cx="18973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Applying </a:t>
            </a:r>
            <a:r>
              <a:rPr dirty="0" sz="1100" spc="-30">
                <a:latin typeface="Tahoma"/>
                <a:cs typeface="Tahoma"/>
              </a:rPr>
              <a:t>Taylor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series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expansion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913305" y="1375651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5" h="0">
                <a:moveTo>
                  <a:pt x="0" y="0"/>
                </a:moveTo>
                <a:lnTo>
                  <a:pt x="15275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23744" y="1375651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 h="0">
                <a:moveTo>
                  <a:pt x="0" y="0"/>
                </a:moveTo>
                <a:lnTo>
                  <a:pt x="2287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373579" y="1354853"/>
            <a:ext cx="1295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2!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82875" y="1375651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 h="0">
                <a:moveTo>
                  <a:pt x="0" y="0"/>
                </a:moveTo>
                <a:lnTo>
                  <a:pt x="20613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46679" y="1375651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 h="0">
                <a:moveTo>
                  <a:pt x="0" y="0"/>
                </a:moveTo>
                <a:lnTo>
                  <a:pt x="2287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096526" y="1354853"/>
            <a:ext cx="1295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3!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62505" y="1182464"/>
            <a:ext cx="1700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61009" algn="l"/>
                <a:tab pos="1183640" algn="l"/>
              </a:tabLst>
            </a:pPr>
            <a:r>
              <a:rPr dirty="0" sz="1000" spc="-25" i="1">
                <a:latin typeface="Arial"/>
                <a:cs typeface="Arial"/>
              </a:rPr>
              <a:t>d</a:t>
            </a: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sz="1000" i="1">
                <a:latin typeface="Calibri"/>
                <a:cs typeface="Calibri"/>
              </a:rPr>
              <a:t>	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baseline="27777" sz="1050">
                <a:latin typeface="Tahoma"/>
                <a:cs typeface="Tahoma"/>
              </a:rPr>
              <a:t>2</a:t>
            </a:r>
            <a:r>
              <a:rPr dirty="0" baseline="27777" sz="1050" spc="89">
                <a:latin typeface="Tahoma"/>
                <a:cs typeface="Tahoma"/>
              </a:rPr>
              <a:t> </a:t>
            </a:r>
            <a:r>
              <a:rPr dirty="0" sz="1000" spc="-45" i="1">
                <a:latin typeface="Arial"/>
                <a:cs typeface="Arial"/>
              </a:rPr>
              <a:t>d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sz="1000" i="1">
                <a:latin typeface="Calibri"/>
                <a:cs typeface="Calibri"/>
              </a:rPr>
              <a:t>	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baseline="27777" sz="1050">
                <a:latin typeface="Tahoma"/>
                <a:cs typeface="Tahoma"/>
              </a:rPr>
              <a:t>3</a:t>
            </a:r>
            <a:r>
              <a:rPr dirty="0" baseline="27777" sz="1050" spc="89">
                <a:latin typeface="Tahoma"/>
                <a:cs typeface="Tahoma"/>
              </a:rPr>
              <a:t> </a:t>
            </a:r>
            <a:r>
              <a:rPr dirty="0" sz="1000" spc="-45" i="1">
                <a:latin typeface="Arial"/>
                <a:cs typeface="Arial"/>
              </a:rPr>
              <a:t>d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baseline="27777" sz="1050" spc="-37">
                <a:latin typeface="Tahoma"/>
                <a:cs typeface="Tahoma"/>
              </a:rPr>
              <a:t>3</a:t>
            </a:r>
            <a:r>
              <a:rPr dirty="0" sz="1000" spc="-25" i="1">
                <a:latin typeface="Calibri"/>
                <a:cs typeface="Calibri"/>
              </a:rPr>
              <a:t>φ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305809" y="1375651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 h="0">
                <a:moveTo>
                  <a:pt x="0" y="0"/>
                </a:moveTo>
                <a:lnTo>
                  <a:pt x="20613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44943" y="1268062"/>
            <a:ext cx="29952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46555" algn="l"/>
                <a:tab pos="2369185" algn="l"/>
              </a:tabLst>
            </a:pPr>
            <a:r>
              <a:rPr dirty="0" sz="1000" i="1">
                <a:latin typeface="Calibri"/>
                <a:cs typeface="Calibri"/>
              </a:rPr>
              <a:t>φ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>
                <a:latin typeface="Tahoma"/>
                <a:cs typeface="Tahoma"/>
              </a:rPr>
              <a:t>+1</a:t>
            </a:r>
            <a:r>
              <a:rPr dirty="0" baseline="-11904" sz="1050" spc="89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φ</a:t>
            </a:r>
            <a:r>
              <a:rPr dirty="0" sz="1000" spc="-10">
                <a:latin typeface="Lucida Sans Unicode"/>
                <a:cs typeface="Lucida Sans Unicode"/>
              </a:rPr>
              <a:t>|</a:t>
            </a:r>
            <a:r>
              <a:rPr dirty="0" baseline="-11904" sz="1050" spc="-15" i="1">
                <a:latin typeface="Arial"/>
                <a:cs typeface="Arial"/>
              </a:rPr>
              <a:t>i</a:t>
            </a:r>
            <a:r>
              <a:rPr dirty="0" baseline="-11904" sz="1050" spc="18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baseline="-38888" sz="1500" spc="-30" i="1">
                <a:latin typeface="Arial"/>
                <a:cs typeface="Arial"/>
              </a:rPr>
              <a:t>dx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179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baseline="-38888" sz="1500" spc="-75" i="1">
                <a:latin typeface="Arial"/>
                <a:cs typeface="Arial"/>
              </a:rPr>
              <a:t>dx</a:t>
            </a:r>
            <a:r>
              <a:rPr dirty="0" baseline="-38888" sz="1500" spc="-284" i="1">
                <a:latin typeface="Arial"/>
                <a:cs typeface="Arial"/>
              </a:rPr>
              <a:t> </a:t>
            </a:r>
            <a:r>
              <a:rPr dirty="0" baseline="-31746" sz="1050">
                <a:latin typeface="Tahoma"/>
                <a:cs typeface="Tahoma"/>
              </a:rPr>
              <a:t>2</a:t>
            </a:r>
            <a:r>
              <a:rPr dirty="0" baseline="-31746" sz="1050" spc="-37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165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baseline="-38888" sz="1500" spc="-75" i="1">
                <a:latin typeface="Arial"/>
                <a:cs typeface="Arial"/>
              </a:rPr>
              <a:t>dx</a:t>
            </a:r>
            <a:r>
              <a:rPr dirty="0" baseline="-38888" sz="1500" spc="-284" i="1">
                <a:latin typeface="Arial"/>
                <a:cs typeface="Arial"/>
              </a:rPr>
              <a:t> </a:t>
            </a:r>
            <a:r>
              <a:rPr dirty="0" baseline="-31746" sz="1050">
                <a:latin typeface="Tahoma"/>
                <a:cs typeface="Tahoma"/>
              </a:rPr>
              <a:t>3</a:t>
            </a:r>
            <a:r>
              <a:rPr dirty="0" baseline="-31746" sz="1050" spc="-15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209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95089" y="1268062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(3)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916252" y="1685036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5" h="0">
                <a:moveTo>
                  <a:pt x="0" y="0"/>
                </a:moveTo>
                <a:lnTo>
                  <a:pt x="15275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2326690" y="1682508"/>
            <a:ext cx="465455" cy="5080"/>
            <a:chOff x="2326690" y="1682508"/>
            <a:chExt cx="465455" cy="5080"/>
          </a:xfrm>
        </p:grpSpPr>
        <p:sp>
          <p:nvSpPr>
            <p:cNvPr id="41" name="object 41"/>
            <p:cNvSpPr/>
            <p:nvPr/>
          </p:nvSpPr>
          <p:spPr>
            <a:xfrm>
              <a:off x="2326690" y="1685036"/>
              <a:ext cx="229235" cy="0"/>
            </a:xfrm>
            <a:custGeom>
              <a:avLst/>
              <a:gdLst/>
              <a:ahLst/>
              <a:cxnLst/>
              <a:rect l="l" t="t" r="r" b="b"/>
              <a:pathLst>
                <a:path w="229235" h="0">
                  <a:moveTo>
                    <a:pt x="0" y="0"/>
                  </a:moveTo>
                  <a:lnTo>
                    <a:pt x="22876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85808" y="1685036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 h="0">
                  <a:moveTo>
                    <a:pt x="0" y="0"/>
                  </a:moveTo>
                  <a:lnTo>
                    <a:pt x="20613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/>
          <p:nvPr/>
        </p:nvSpPr>
        <p:spPr>
          <a:xfrm>
            <a:off x="3049625" y="1685036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 h="0">
                <a:moveTo>
                  <a:pt x="0" y="0"/>
                </a:moveTo>
                <a:lnTo>
                  <a:pt x="2287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2376525" y="1664225"/>
            <a:ext cx="8521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5330" algn="l"/>
              </a:tabLst>
            </a:pPr>
            <a:r>
              <a:rPr dirty="0" sz="1000" spc="-25">
                <a:latin typeface="Tahoma"/>
                <a:cs typeface="Tahoma"/>
              </a:rPr>
              <a:t>2!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Tahoma"/>
                <a:cs typeface="Tahoma"/>
              </a:rPr>
              <a:t>3!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78152" y="1491848"/>
            <a:ext cx="1675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8309" algn="l"/>
                <a:tab pos="1170940" algn="l"/>
              </a:tabLst>
            </a:pPr>
            <a:r>
              <a:rPr dirty="0" sz="1000" spc="-25" i="1">
                <a:latin typeface="Arial"/>
                <a:cs typeface="Arial"/>
              </a:rPr>
              <a:t>d</a:t>
            </a: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sz="1000" i="1">
                <a:latin typeface="Calibri"/>
                <a:cs typeface="Calibri"/>
              </a:rPr>
              <a:t>	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baseline="27777" sz="1050">
                <a:latin typeface="Tahoma"/>
                <a:cs typeface="Tahoma"/>
              </a:rPr>
              <a:t>2</a:t>
            </a:r>
            <a:r>
              <a:rPr dirty="0" baseline="27777" sz="1050" spc="89">
                <a:latin typeface="Tahoma"/>
                <a:cs typeface="Tahoma"/>
              </a:rPr>
              <a:t> </a:t>
            </a:r>
            <a:r>
              <a:rPr dirty="0" sz="1000" spc="-45" i="1">
                <a:latin typeface="Arial"/>
                <a:cs typeface="Arial"/>
              </a:rPr>
              <a:t>d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sz="1000" i="1">
                <a:latin typeface="Calibri"/>
                <a:cs typeface="Calibri"/>
              </a:rPr>
              <a:t>	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baseline="27777" sz="1050">
                <a:latin typeface="Tahoma"/>
                <a:cs typeface="Tahoma"/>
              </a:rPr>
              <a:t>3</a:t>
            </a:r>
            <a:r>
              <a:rPr dirty="0" baseline="27777" sz="1050" spc="89">
                <a:latin typeface="Tahoma"/>
                <a:cs typeface="Tahoma"/>
              </a:rPr>
              <a:t> </a:t>
            </a:r>
            <a:r>
              <a:rPr dirty="0" sz="1000" spc="-45" i="1">
                <a:latin typeface="Arial"/>
                <a:cs typeface="Arial"/>
              </a:rPr>
              <a:t>d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baseline="27777" sz="1050" spc="-37">
                <a:latin typeface="Tahoma"/>
                <a:cs typeface="Tahoma"/>
              </a:rPr>
              <a:t>3</a:t>
            </a:r>
            <a:r>
              <a:rPr dirty="0" sz="1000" spc="-25" i="1">
                <a:latin typeface="Calibri"/>
                <a:cs typeface="Calibri"/>
              </a:rPr>
              <a:t>φ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308756" y="1685036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 h="0">
                <a:moveTo>
                  <a:pt x="0" y="0"/>
                </a:moveTo>
                <a:lnTo>
                  <a:pt x="20613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941997" y="1577434"/>
            <a:ext cx="3001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52270" algn="l"/>
                <a:tab pos="2374900" algn="l"/>
              </a:tabLst>
            </a:pPr>
            <a:r>
              <a:rPr dirty="0" sz="1000" i="1">
                <a:latin typeface="Calibri"/>
                <a:cs typeface="Calibri"/>
              </a:rPr>
              <a:t>φ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>
                <a:latin typeface="Lucida Sans Unicode"/>
                <a:cs typeface="Lucida Sans Unicode"/>
              </a:rPr>
              <a:t>−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φ</a:t>
            </a:r>
            <a:r>
              <a:rPr dirty="0" sz="1000" spc="-10">
                <a:latin typeface="Lucida Sans Unicode"/>
                <a:cs typeface="Lucida Sans Unicode"/>
              </a:rPr>
              <a:t>|</a:t>
            </a:r>
            <a:r>
              <a:rPr dirty="0" baseline="-11904" sz="1050" spc="-15" i="1">
                <a:latin typeface="Arial"/>
                <a:cs typeface="Arial"/>
              </a:rPr>
              <a:t>i</a:t>
            </a:r>
            <a:r>
              <a:rPr dirty="0" baseline="-11904" sz="1050" spc="172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baseline="-38888" sz="1500" spc="-30" i="1">
                <a:latin typeface="Arial"/>
                <a:cs typeface="Arial"/>
              </a:rPr>
              <a:t>dx</a:t>
            </a:r>
            <a:r>
              <a:rPr dirty="0" baseline="-38888" sz="1500" spc="-44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179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baseline="-38888" sz="1500" spc="-75" i="1">
                <a:latin typeface="Arial"/>
                <a:cs typeface="Arial"/>
              </a:rPr>
              <a:t>dx</a:t>
            </a:r>
            <a:r>
              <a:rPr dirty="0" baseline="-38888" sz="1500" spc="-284" i="1">
                <a:latin typeface="Arial"/>
                <a:cs typeface="Arial"/>
              </a:rPr>
              <a:t> </a:t>
            </a:r>
            <a:r>
              <a:rPr dirty="0" baseline="-31746" sz="1050">
                <a:latin typeface="Tahoma"/>
                <a:cs typeface="Tahoma"/>
              </a:rPr>
              <a:t>2</a:t>
            </a:r>
            <a:r>
              <a:rPr dirty="0" baseline="-31746" sz="1050" spc="-37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165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baseline="-38888" sz="1500" spc="-75" i="1">
                <a:latin typeface="Arial"/>
                <a:cs typeface="Arial"/>
              </a:rPr>
              <a:t>dx</a:t>
            </a:r>
            <a:r>
              <a:rPr dirty="0" baseline="-38888" sz="1500" spc="-284" i="1">
                <a:latin typeface="Arial"/>
                <a:cs typeface="Arial"/>
              </a:rPr>
              <a:t> </a:t>
            </a:r>
            <a:r>
              <a:rPr dirty="0" baseline="-31746" sz="1050">
                <a:latin typeface="Tahoma"/>
                <a:cs typeface="Tahoma"/>
              </a:rPr>
              <a:t>3</a:t>
            </a:r>
            <a:r>
              <a:rPr dirty="0" baseline="-31746" sz="1050" spc="-15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209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95089" y="1577434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(4)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9" name="object 4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1788499"/>
            <a:ext cx="114214" cy="114214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534352" y="177556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0034" y="1742927"/>
            <a:ext cx="16681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latin typeface="Arial"/>
                <a:cs typeface="Arial"/>
              </a:rPr>
              <a:t>Forward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Difference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854009" y="2045906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5" h="0">
                <a:moveTo>
                  <a:pt x="0" y="0"/>
                </a:moveTo>
                <a:lnTo>
                  <a:pt x="15275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78507" y="2045906"/>
            <a:ext cx="501015" cy="0"/>
          </a:xfrm>
          <a:custGeom>
            <a:avLst/>
            <a:gdLst/>
            <a:ahLst/>
            <a:cxnLst/>
            <a:rect l="l" t="t" r="r" b="b"/>
            <a:pathLst>
              <a:path w="501014" h="0">
                <a:moveTo>
                  <a:pt x="0" y="0"/>
                </a:moveTo>
                <a:lnTo>
                  <a:pt x="50071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11934" y="2025096"/>
            <a:ext cx="8312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28650" algn="l"/>
              </a:tabLst>
            </a:pPr>
            <a:r>
              <a:rPr dirty="0" sz="1000" i="1">
                <a:latin typeface="Arial"/>
                <a:cs typeface="Arial"/>
              </a:rPr>
              <a:t>dx</a:t>
            </a:r>
            <a:r>
              <a:rPr dirty="0" sz="1000" spc="190" i="1">
                <a:latin typeface="Arial"/>
                <a:cs typeface="Arial"/>
              </a:rPr>
              <a:t> </a:t>
            </a:r>
            <a:r>
              <a:rPr dirty="0" baseline="43650" sz="1050" spc="-75" i="1">
                <a:latin typeface="Arial"/>
                <a:cs typeface="Arial"/>
              </a:rPr>
              <a:t>i</a:t>
            </a:r>
            <a:r>
              <a:rPr dirty="0" baseline="43650" sz="1050" i="1">
                <a:latin typeface="Arial"/>
                <a:cs typeface="Arial"/>
              </a:rPr>
              <a:t>	</a:t>
            </a: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15909" y="1852706"/>
            <a:ext cx="154622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935"/>
              </a:lnSpc>
              <a:spcBef>
                <a:spcPts val="95"/>
              </a:spcBef>
              <a:tabLst>
                <a:tab pos="462280" algn="l"/>
              </a:tabLst>
            </a:pPr>
            <a:r>
              <a:rPr dirty="0" sz="1000" spc="-25" i="1">
                <a:latin typeface="Arial"/>
                <a:cs typeface="Arial"/>
              </a:rPr>
              <a:t>d</a:t>
            </a: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sz="1000" i="1">
                <a:latin typeface="Calibri"/>
                <a:cs typeface="Calibri"/>
              </a:rPr>
              <a:t>	φ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>
                <a:latin typeface="Tahoma"/>
                <a:cs typeface="Tahoma"/>
              </a:rPr>
              <a:t>+1</a:t>
            </a:r>
            <a:r>
              <a:rPr dirty="0" baseline="-11904" sz="1050" spc="127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55">
                <a:latin typeface="Lucida Sans Unicode"/>
                <a:cs typeface="Lucida Sans Unicode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  <a:p>
            <a:pPr marL="205740">
              <a:lnSpc>
                <a:spcPts val="935"/>
              </a:lnSpc>
              <a:tabLst>
                <a:tab pos="1006475" algn="l"/>
              </a:tabLst>
            </a:pP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sz="1000" spc="14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6" name="object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2185374"/>
            <a:ext cx="114214" cy="114214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534352" y="217244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0034" y="2139802"/>
            <a:ext cx="1770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 b="1">
                <a:latin typeface="Arial"/>
                <a:cs typeface="Arial"/>
              </a:rPr>
              <a:t>Backward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Difference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851075" y="2442768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5" h="0">
                <a:moveTo>
                  <a:pt x="0" y="0"/>
                </a:moveTo>
                <a:lnTo>
                  <a:pt x="15275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75560" y="2442768"/>
            <a:ext cx="506730" cy="0"/>
          </a:xfrm>
          <a:custGeom>
            <a:avLst/>
            <a:gdLst/>
            <a:ahLst/>
            <a:cxnLst/>
            <a:rect l="l" t="t" r="r" b="b"/>
            <a:pathLst>
              <a:path w="506730" h="0">
                <a:moveTo>
                  <a:pt x="0" y="0"/>
                </a:moveTo>
                <a:lnTo>
                  <a:pt x="50660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808988" y="2421971"/>
            <a:ext cx="8343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31825" algn="l"/>
              </a:tabLst>
            </a:pPr>
            <a:r>
              <a:rPr dirty="0" sz="1000" i="1">
                <a:latin typeface="Arial"/>
                <a:cs typeface="Arial"/>
              </a:rPr>
              <a:t>dx</a:t>
            </a:r>
            <a:r>
              <a:rPr dirty="0" sz="1000" spc="190" i="1">
                <a:latin typeface="Arial"/>
                <a:cs typeface="Arial"/>
              </a:rPr>
              <a:t> </a:t>
            </a:r>
            <a:r>
              <a:rPr dirty="0" baseline="43650" sz="1050" spc="-75" i="1">
                <a:latin typeface="Arial"/>
                <a:cs typeface="Arial"/>
              </a:rPr>
              <a:t>i</a:t>
            </a:r>
            <a:r>
              <a:rPr dirty="0" baseline="43650" sz="1050" i="1">
                <a:latin typeface="Arial"/>
                <a:cs typeface="Arial"/>
              </a:rPr>
              <a:t>	</a:t>
            </a: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812975" y="2249581"/>
            <a:ext cx="1551940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935"/>
              </a:lnSpc>
              <a:spcBef>
                <a:spcPts val="95"/>
              </a:spcBef>
              <a:tabLst>
                <a:tab pos="462280" algn="l"/>
              </a:tabLst>
            </a:pPr>
            <a:r>
              <a:rPr dirty="0" sz="1000" spc="-25" i="1">
                <a:latin typeface="Arial"/>
                <a:cs typeface="Arial"/>
              </a:rPr>
              <a:t>d</a:t>
            </a:r>
            <a:r>
              <a:rPr dirty="0" sz="1000" spc="-25" i="1">
                <a:latin typeface="Calibri"/>
                <a:cs typeface="Calibri"/>
              </a:rPr>
              <a:t>φ</a:t>
            </a:r>
            <a:r>
              <a:rPr dirty="0" sz="1000" i="1">
                <a:latin typeface="Calibri"/>
                <a:cs typeface="Calibri"/>
              </a:rPr>
              <a:t>	φ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172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-20" i="1">
                <a:latin typeface="Calibri"/>
                <a:cs typeface="Calibri"/>
              </a:rPr>
              <a:t>φ</a:t>
            </a:r>
            <a:r>
              <a:rPr dirty="0" baseline="-11904" sz="1050" spc="-30" i="1">
                <a:latin typeface="Arial"/>
                <a:cs typeface="Arial"/>
              </a:rPr>
              <a:t>i</a:t>
            </a:r>
            <a:r>
              <a:rPr dirty="0" baseline="-11904" sz="1050" spc="-30">
                <a:latin typeface="Lucida Sans Unicode"/>
                <a:cs typeface="Lucida Sans Unicode"/>
              </a:rPr>
              <a:t>−</a:t>
            </a:r>
            <a:r>
              <a:rPr dirty="0" baseline="-11904" sz="1050" spc="-30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  <a:p>
            <a:pPr marL="205740">
              <a:lnSpc>
                <a:spcPts val="935"/>
              </a:lnSpc>
              <a:tabLst>
                <a:tab pos="1012190" algn="l"/>
              </a:tabLst>
            </a:pP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sz="1000" spc="14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3" name="object 6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108" y="2621670"/>
            <a:ext cx="114214" cy="114214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534352" y="2608737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0034" y="2576098"/>
            <a:ext cx="30810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Central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Difference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Formula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for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first-</a:t>
            </a:r>
            <a:r>
              <a:rPr dirty="0" sz="1000" spc="-25" b="1">
                <a:latin typeface="Arial"/>
                <a:cs typeface="Arial"/>
              </a:rPr>
              <a:t>order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Derivative: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790954" y="2861068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5" h="0">
                <a:moveTo>
                  <a:pt x="0" y="0"/>
                </a:moveTo>
                <a:lnTo>
                  <a:pt x="15275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215438" y="2861068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84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748866" y="2840271"/>
            <a:ext cx="9258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60400" algn="l"/>
              </a:tabLst>
            </a:pPr>
            <a:r>
              <a:rPr dirty="0" sz="1000" i="1">
                <a:latin typeface="Arial"/>
                <a:cs typeface="Arial"/>
              </a:rPr>
              <a:t>dx</a:t>
            </a:r>
            <a:r>
              <a:rPr dirty="0" sz="1000" spc="190" i="1">
                <a:latin typeface="Arial"/>
                <a:cs typeface="Arial"/>
              </a:rPr>
              <a:t> </a:t>
            </a:r>
            <a:r>
              <a:rPr dirty="0" baseline="43650" sz="1050" spc="-75" i="1">
                <a:latin typeface="Arial"/>
                <a:cs typeface="Arial"/>
              </a:rPr>
              <a:t>i</a:t>
            </a:r>
            <a:r>
              <a:rPr dirty="0" baseline="43650" sz="1050" i="1">
                <a:latin typeface="Arial"/>
                <a:cs typeface="Arial"/>
              </a:rPr>
              <a:t>	</a:t>
            </a:r>
            <a:r>
              <a:rPr dirty="0" sz="1000" spc="-25">
                <a:latin typeface="Tahoma"/>
                <a:cs typeface="Tahoma"/>
              </a:rPr>
              <a:t>2∆</a:t>
            </a:r>
            <a:r>
              <a:rPr dirty="0" sz="1000" spc="-25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752854" y="2686855"/>
            <a:ext cx="1671955" cy="244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860"/>
              </a:lnSpc>
              <a:spcBef>
                <a:spcPts val="95"/>
              </a:spcBef>
              <a:tabLst>
                <a:tab pos="462280" algn="l"/>
              </a:tabLst>
            </a:pPr>
            <a:r>
              <a:rPr dirty="0" baseline="8333" sz="1500" spc="-37" i="1">
                <a:latin typeface="Arial"/>
                <a:cs typeface="Arial"/>
              </a:rPr>
              <a:t>d</a:t>
            </a:r>
            <a:r>
              <a:rPr dirty="0" baseline="8333" sz="1500" spc="-37" i="1">
                <a:latin typeface="Calibri"/>
                <a:cs typeface="Calibri"/>
              </a:rPr>
              <a:t>φ</a:t>
            </a:r>
            <a:r>
              <a:rPr dirty="0" baseline="8333" sz="1500" i="1">
                <a:latin typeface="Calibri"/>
                <a:cs typeface="Calibri"/>
              </a:rPr>
              <a:t>	φ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2">
                <a:latin typeface="Lucida Sans Unicode"/>
                <a:cs typeface="Lucida Sans Unicode"/>
              </a:rPr>
              <a:t> </a:t>
            </a:r>
            <a:r>
              <a:rPr dirty="0" baseline="8333" sz="1500" spc="-30" i="1">
                <a:latin typeface="Calibri"/>
                <a:cs typeface="Calibri"/>
              </a:rPr>
              <a:t>φ</a:t>
            </a:r>
            <a:r>
              <a:rPr dirty="0" sz="700" spc="-20" i="1">
                <a:latin typeface="Arial"/>
                <a:cs typeface="Arial"/>
              </a:rPr>
              <a:t>i</a:t>
            </a:r>
            <a:r>
              <a:rPr dirty="0" sz="700" spc="-20">
                <a:latin typeface="Lucida Sans Unicode"/>
                <a:cs typeface="Lucida Sans Unicode"/>
              </a:rPr>
              <a:t>−</a:t>
            </a:r>
            <a:r>
              <a:rPr dirty="0" sz="700" spc="-2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  <a:p>
            <a:pPr marL="205740">
              <a:lnSpc>
                <a:spcPts val="860"/>
              </a:lnSpc>
              <a:tabLst>
                <a:tab pos="1132205" algn="l"/>
              </a:tabLst>
            </a:pP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sz="1000" spc="14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0" name="object 7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08" y="3021974"/>
            <a:ext cx="114214" cy="114214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534352" y="300904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0021" y="2976402"/>
            <a:ext cx="3270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Central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Difference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Formula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for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60" b="1">
                <a:latin typeface="Arial"/>
                <a:cs typeface="Arial"/>
              </a:rPr>
              <a:t>Second-</a:t>
            </a:r>
            <a:r>
              <a:rPr dirty="0" sz="1000" spc="-30" b="1">
                <a:latin typeface="Arial"/>
                <a:cs typeface="Arial"/>
              </a:rPr>
              <a:t>order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Derivative: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560753" y="3100926"/>
            <a:ext cx="2825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d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φ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598853" y="3294113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 h="0">
                <a:moveTo>
                  <a:pt x="0" y="0"/>
                </a:moveTo>
                <a:lnTo>
                  <a:pt x="20613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1594866" y="3273315"/>
            <a:ext cx="1492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dx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04784" y="3186524"/>
            <a:ext cx="3600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1746" sz="1050">
                <a:latin typeface="Tahoma"/>
                <a:cs typeface="Tahoma"/>
              </a:rPr>
              <a:t>2</a:t>
            </a:r>
            <a:r>
              <a:rPr dirty="0" baseline="-31746" sz="1050" spc="-37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217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38616" y="3119899"/>
            <a:ext cx="10280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i="1">
                <a:latin typeface="Calibri"/>
                <a:cs typeface="Calibri"/>
              </a:rPr>
              <a:t>φ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60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135">
                <a:latin typeface="Lucida Sans Unicode"/>
                <a:cs typeface="Lucida Sans Unicode"/>
              </a:rPr>
              <a:t> </a:t>
            </a:r>
            <a:r>
              <a:rPr dirty="0" baseline="8333" sz="1500">
                <a:latin typeface="Tahoma"/>
                <a:cs typeface="Tahoma"/>
              </a:rPr>
              <a:t>2</a:t>
            </a:r>
            <a:r>
              <a:rPr dirty="0" baseline="8333" sz="1500" i="1">
                <a:latin typeface="Calibri"/>
                <a:cs typeface="Calibri"/>
              </a:rPr>
              <a:t>φ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spc="16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127">
                <a:latin typeface="Tahoma"/>
                <a:cs typeface="Tahoma"/>
              </a:rPr>
              <a:t> </a:t>
            </a:r>
            <a:r>
              <a:rPr dirty="0" baseline="8333" sz="1500" spc="-30" i="1">
                <a:latin typeface="Calibri"/>
                <a:cs typeface="Calibri"/>
              </a:rPr>
              <a:t>φ</a:t>
            </a:r>
            <a:r>
              <a:rPr dirty="0" sz="700" spc="-20" i="1">
                <a:latin typeface="Arial"/>
                <a:cs typeface="Arial"/>
              </a:rPr>
              <a:t>i</a:t>
            </a:r>
            <a:r>
              <a:rPr dirty="0" sz="700" spc="-20">
                <a:latin typeface="Lucida Sans Unicode"/>
                <a:cs typeface="Lucida Sans Unicode"/>
              </a:rPr>
              <a:t>−</a:t>
            </a:r>
            <a:r>
              <a:rPr dirty="0" sz="700" spc="-2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2076729" y="3294113"/>
            <a:ext cx="958215" cy="0"/>
          </a:xfrm>
          <a:custGeom>
            <a:avLst/>
            <a:gdLst/>
            <a:ahLst/>
            <a:cxnLst/>
            <a:rect l="l" t="t" r="r" b="b"/>
            <a:pathLst>
              <a:path w="958214" h="0">
                <a:moveTo>
                  <a:pt x="0" y="0"/>
                </a:moveTo>
                <a:lnTo>
                  <a:pt x="95765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379268" y="3273315"/>
            <a:ext cx="2990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53055" y="327472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064979" y="3186524"/>
            <a:ext cx="5264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326420" y="3323099"/>
            <a:ext cx="213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7F7F7F"/>
                </a:solidFill>
                <a:latin typeface="Tahoma"/>
                <a:cs typeface="Tahoma"/>
              </a:rPr>
              <a:t>6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7F7F7F"/>
                </a:solidFill>
                <a:latin typeface="Tahoma"/>
                <a:cs typeface="Tahoma"/>
              </a:rPr>
              <a:t>44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Finite</a:t>
            </a:r>
            <a:r>
              <a:rPr dirty="0" spc="-35"/>
              <a:t> </a:t>
            </a:r>
            <a:r>
              <a:rPr dirty="0" spc="-45"/>
              <a:t>Difference</a:t>
            </a:r>
            <a:r>
              <a:rPr dirty="0" spc="-35"/>
              <a:t> </a:t>
            </a:r>
            <a:r>
              <a:rPr dirty="0" spc="-25"/>
              <a:t>Equations</a:t>
            </a:r>
            <a:r>
              <a:rPr dirty="0" spc="-35"/>
              <a:t> </a:t>
            </a:r>
            <a:r>
              <a:rPr dirty="0" spc="-10"/>
              <a:t>for</a:t>
            </a:r>
            <a:r>
              <a:rPr dirty="0" spc="-35"/>
              <a:t> </a:t>
            </a:r>
            <a:r>
              <a:rPr dirty="0" spc="-25"/>
              <a:t>Two-</a:t>
            </a:r>
            <a:r>
              <a:rPr dirty="0" spc="-45"/>
              <a:t>Dimensional</a:t>
            </a:r>
            <a:r>
              <a:rPr dirty="0" spc="-35"/>
              <a:t> </a:t>
            </a:r>
            <a:r>
              <a:rPr dirty="0" spc="-10"/>
              <a:t>Variable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32915" y="564700"/>
            <a:ext cx="1085215" cy="1085215"/>
            <a:chOff x="1632915" y="564700"/>
            <a:chExt cx="1085215" cy="1085215"/>
          </a:xfrm>
        </p:grpSpPr>
        <p:sp>
          <p:nvSpPr>
            <p:cNvPr id="5" name="object 5"/>
            <p:cNvSpPr/>
            <p:nvPr/>
          </p:nvSpPr>
          <p:spPr>
            <a:xfrm>
              <a:off x="1635455" y="567240"/>
              <a:ext cx="1080135" cy="1080135"/>
            </a:xfrm>
            <a:custGeom>
              <a:avLst/>
              <a:gdLst/>
              <a:ahLst/>
              <a:cxnLst/>
              <a:rect l="l" t="t" r="r" b="b"/>
              <a:pathLst>
                <a:path w="1080135" h="1080135">
                  <a:moveTo>
                    <a:pt x="0" y="1080013"/>
                  </a:moveTo>
                  <a:lnTo>
                    <a:pt x="0" y="0"/>
                  </a:lnTo>
                </a:path>
                <a:path w="1080135" h="1080135">
                  <a:moveTo>
                    <a:pt x="270003" y="1080013"/>
                  </a:moveTo>
                  <a:lnTo>
                    <a:pt x="270003" y="0"/>
                  </a:lnTo>
                </a:path>
                <a:path w="1080135" h="1080135">
                  <a:moveTo>
                    <a:pt x="540006" y="1080013"/>
                  </a:moveTo>
                  <a:lnTo>
                    <a:pt x="540006" y="0"/>
                  </a:lnTo>
                </a:path>
                <a:path w="1080135" h="1080135">
                  <a:moveTo>
                    <a:pt x="810009" y="1080013"/>
                  </a:moveTo>
                  <a:lnTo>
                    <a:pt x="810009" y="0"/>
                  </a:lnTo>
                </a:path>
                <a:path w="1080135" h="1080135">
                  <a:moveTo>
                    <a:pt x="1080013" y="1080013"/>
                  </a:moveTo>
                  <a:lnTo>
                    <a:pt x="1080013" y="0"/>
                  </a:lnTo>
                </a:path>
                <a:path w="1080135" h="1080135">
                  <a:moveTo>
                    <a:pt x="0" y="1080013"/>
                  </a:moveTo>
                  <a:lnTo>
                    <a:pt x="1080013" y="1080013"/>
                  </a:lnTo>
                </a:path>
                <a:path w="1080135" h="1080135">
                  <a:moveTo>
                    <a:pt x="0" y="810010"/>
                  </a:moveTo>
                  <a:lnTo>
                    <a:pt x="1080013" y="810010"/>
                  </a:lnTo>
                </a:path>
                <a:path w="1080135" h="1080135">
                  <a:moveTo>
                    <a:pt x="0" y="540006"/>
                  </a:moveTo>
                  <a:lnTo>
                    <a:pt x="1080013" y="540006"/>
                  </a:lnTo>
                </a:path>
                <a:path w="1080135" h="1080135">
                  <a:moveTo>
                    <a:pt x="0" y="270003"/>
                  </a:moveTo>
                  <a:lnTo>
                    <a:pt x="1080013" y="270003"/>
                  </a:lnTo>
                </a:path>
                <a:path w="1080135" h="1080135">
                  <a:moveTo>
                    <a:pt x="0" y="0"/>
                  </a:moveTo>
                  <a:lnTo>
                    <a:pt x="108001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86470" y="818273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37960" y="288975"/>
                  </a:moveTo>
                  <a:lnTo>
                    <a:pt x="36474" y="281597"/>
                  </a:lnTo>
                  <a:lnTo>
                    <a:pt x="32397" y="275564"/>
                  </a:lnTo>
                  <a:lnTo>
                    <a:pt x="26365" y="271487"/>
                  </a:lnTo>
                  <a:lnTo>
                    <a:pt x="18986" y="270002"/>
                  </a:lnTo>
                  <a:lnTo>
                    <a:pt x="11595" y="271487"/>
                  </a:lnTo>
                  <a:lnTo>
                    <a:pt x="5562" y="275564"/>
                  </a:lnTo>
                  <a:lnTo>
                    <a:pt x="1498" y="281597"/>
                  </a:lnTo>
                  <a:lnTo>
                    <a:pt x="0" y="288975"/>
                  </a:lnTo>
                  <a:lnTo>
                    <a:pt x="1498" y="296367"/>
                  </a:lnTo>
                  <a:lnTo>
                    <a:pt x="5562" y="302399"/>
                  </a:lnTo>
                  <a:lnTo>
                    <a:pt x="11595" y="306463"/>
                  </a:lnTo>
                  <a:lnTo>
                    <a:pt x="18986" y="307962"/>
                  </a:lnTo>
                  <a:lnTo>
                    <a:pt x="26365" y="306463"/>
                  </a:lnTo>
                  <a:lnTo>
                    <a:pt x="32397" y="302399"/>
                  </a:lnTo>
                  <a:lnTo>
                    <a:pt x="36474" y="296367"/>
                  </a:lnTo>
                  <a:lnTo>
                    <a:pt x="37960" y="288975"/>
                  </a:lnTo>
                  <a:close/>
                </a:path>
                <a:path w="578485" h="578485">
                  <a:moveTo>
                    <a:pt x="307962" y="558977"/>
                  </a:moveTo>
                  <a:lnTo>
                    <a:pt x="306476" y="551599"/>
                  </a:lnTo>
                  <a:lnTo>
                    <a:pt x="302399" y="545566"/>
                  </a:lnTo>
                  <a:lnTo>
                    <a:pt x="296367" y="541489"/>
                  </a:lnTo>
                  <a:lnTo>
                    <a:pt x="288988" y="540004"/>
                  </a:lnTo>
                  <a:lnTo>
                    <a:pt x="281597" y="541489"/>
                  </a:lnTo>
                  <a:lnTo>
                    <a:pt x="275564" y="545566"/>
                  </a:lnTo>
                  <a:lnTo>
                    <a:pt x="271500" y="551599"/>
                  </a:lnTo>
                  <a:lnTo>
                    <a:pt x="270002" y="558977"/>
                  </a:lnTo>
                  <a:lnTo>
                    <a:pt x="271500" y="566369"/>
                  </a:lnTo>
                  <a:lnTo>
                    <a:pt x="275564" y="572401"/>
                  </a:lnTo>
                  <a:lnTo>
                    <a:pt x="281597" y="576465"/>
                  </a:lnTo>
                  <a:lnTo>
                    <a:pt x="288988" y="577964"/>
                  </a:lnTo>
                  <a:lnTo>
                    <a:pt x="296367" y="576465"/>
                  </a:lnTo>
                  <a:lnTo>
                    <a:pt x="302399" y="572401"/>
                  </a:lnTo>
                  <a:lnTo>
                    <a:pt x="306476" y="566369"/>
                  </a:lnTo>
                  <a:lnTo>
                    <a:pt x="307962" y="558977"/>
                  </a:lnTo>
                  <a:close/>
                </a:path>
                <a:path w="578485" h="578485">
                  <a:moveTo>
                    <a:pt x="307962" y="18973"/>
                  </a:moveTo>
                  <a:lnTo>
                    <a:pt x="306476" y="11595"/>
                  </a:lnTo>
                  <a:lnTo>
                    <a:pt x="302399" y="5549"/>
                  </a:lnTo>
                  <a:lnTo>
                    <a:pt x="296367" y="1485"/>
                  </a:lnTo>
                  <a:lnTo>
                    <a:pt x="288988" y="0"/>
                  </a:lnTo>
                  <a:lnTo>
                    <a:pt x="281597" y="1485"/>
                  </a:lnTo>
                  <a:lnTo>
                    <a:pt x="275564" y="5549"/>
                  </a:lnTo>
                  <a:lnTo>
                    <a:pt x="271500" y="11595"/>
                  </a:lnTo>
                  <a:lnTo>
                    <a:pt x="270002" y="18973"/>
                  </a:lnTo>
                  <a:lnTo>
                    <a:pt x="271500" y="26365"/>
                  </a:lnTo>
                  <a:lnTo>
                    <a:pt x="275564" y="32397"/>
                  </a:lnTo>
                  <a:lnTo>
                    <a:pt x="281597" y="36461"/>
                  </a:lnTo>
                  <a:lnTo>
                    <a:pt x="288988" y="37960"/>
                  </a:lnTo>
                  <a:lnTo>
                    <a:pt x="296367" y="36461"/>
                  </a:lnTo>
                  <a:lnTo>
                    <a:pt x="302399" y="32397"/>
                  </a:lnTo>
                  <a:lnTo>
                    <a:pt x="306476" y="26365"/>
                  </a:lnTo>
                  <a:lnTo>
                    <a:pt x="307962" y="18973"/>
                  </a:lnTo>
                  <a:close/>
                </a:path>
                <a:path w="578485" h="578485">
                  <a:moveTo>
                    <a:pt x="317449" y="288975"/>
                  </a:moveTo>
                  <a:lnTo>
                    <a:pt x="315214" y="277901"/>
                  </a:lnTo>
                  <a:lnTo>
                    <a:pt x="309118" y="268846"/>
                  </a:lnTo>
                  <a:lnTo>
                    <a:pt x="300062" y="262750"/>
                  </a:lnTo>
                  <a:lnTo>
                    <a:pt x="288988" y="260515"/>
                  </a:lnTo>
                  <a:lnTo>
                    <a:pt x="277901" y="262750"/>
                  </a:lnTo>
                  <a:lnTo>
                    <a:pt x="268859" y="268846"/>
                  </a:lnTo>
                  <a:lnTo>
                    <a:pt x="262750" y="277901"/>
                  </a:lnTo>
                  <a:lnTo>
                    <a:pt x="260515" y="288975"/>
                  </a:lnTo>
                  <a:lnTo>
                    <a:pt x="262750" y="300062"/>
                  </a:lnTo>
                  <a:lnTo>
                    <a:pt x="268859" y="309105"/>
                  </a:lnTo>
                  <a:lnTo>
                    <a:pt x="277901" y="315214"/>
                  </a:lnTo>
                  <a:lnTo>
                    <a:pt x="288988" y="317449"/>
                  </a:lnTo>
                  <a:lnTo>
                    <a:pt x="300062" y="315214"/>
                  </a:lnTo>
                  <a:lnTo>
                    <a:pt x="309118" y="309105"/>
                  </a:lnTo>
                  <a:lnTo>
                    <a:pt x="315214" y="300062"/>
                  </a:lnTo>
                  <a:lnTo>
                    <a:pt x="317449" y="288975"/>
                  </a:lnTo>
                  <a:close/>
                </a:path>
                <a:path w="578485" h="578485">
                  <a:moveTo>
                    <a:pt x="577964" y="288975"/>
                  </a:moveTo>
                  <a:lnTo>
                    <a:pt x="576478" y="281597"/>
                  </a:lnTo>
                  <a:lnTo>
                    <a:pt x="572414" y="275564"/>
                  </a:lnTo>
                  <a:lnTo>
                    <a:pt x="566369" y="271487"/>
                  </a:lnTo>
                  <a:lnTo>
                    <a:pt x="558990" y="270002"/>
                  </a:lnTo>
                  <a:lnTo>
                    <a:pt x="551599" y="271487"/>
                  </a:lnTo>
                  <a:lnTo>
                    <a:pt x="545566" y="275564"/>
                  </a:lnTo>
                  <a:lnTo>
                    <a:pt x="541502" y="281597"/>
                  </a:lnTo>
                  <a:lnTo>
                    <a:pt x="540004" y="288975"/>
                  </a:lnTo>
                  <a:lnTo>
                    <a:pt x="541502" y="296367"/>
                  </a:lnTo>
                  <a:lnTo>
                    <a:pt x="545566" y="302399"/>
                  </a:lnTo>
                  <a:lnTo>
                    <a:pt x="551599" y="306463"/>
                  </a:lnTo>
                  <a:lnTo>
                    <a:pt x="558990" y="307962"/>
                  </a:lnTo>
                  <a:lnTo>
                    <a:pt x="566369" y="306463"/>
                  </a:lnTo>
                  <a:lnTo>
                    <a:pt x="572414" y="302399"/>
                  </a:lnTo>
                  <a:lnTo>
                    <a:pt x="576478" y="296367"/>
                  </a:lnTo>
                  <a:lnTo>
                    <a:pt x="577964" y="288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207450" y="891697"/>
            <a:ext cx="267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65" i="1">
                <a:latin typeface="Calibri"/>
                <a:cs typeface="Calibri"/>
              </a:rPr>
              <a:t> </a:t>
            </a:r>
            <a:r>
              <a:rPr dirty="0" sz="1000" spc="35" i="1">
                <a:latin typeface="Arial"/>
                <a:cs typeface="Arial"/>
              </a:rPr>
              <a:t>j</a:t>
            </a:r>
            <a:r>
              <a:rPr dirty="0" sz="1000" spc="35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315581"/>
            <a:ext cx="2292985" cy="483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grid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i</a:t>
            </a:r>
            <a:r>
              <a:rPr dirty="0" sz="1100" spc="-200" i="1">
                <a:latin typeface="Arial"/>
                <a:cs typeface="Arial"/>
              </a:rPr>
              <a:t> 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5" i="1">
                <a:latin typeface="Arial"/>
                <a:cs typeface="Arial"/>
              </a:rPr>
              <a:t>j</a:t>
            </a:r>
            <a:r>
              <a:rPr dirty="0" sz="1100" spc="-25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095"/>
              </a:spcBef>
            </a:pP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15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j</a:t>
            </a:r>
            <a:r>
              <a:rPr dirty="0" sz="1000" spc="13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1)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75462" y="1732984"/>
            <a:ext cx="270510" cy="45085"/>
            <a:chOff x="2175462" y="1732984"/>
            <a:chExt cx="270510" cy="45085"/>
          </a:xfrm>
        </p:grpSpPr>
        <p:sp>
          <p:nvSpPr>
            <p:cNvPr id="10" name="object 10"/>
            <p:cNvSpPr/>
            <p:nvPr/>
          </p:nvSpPr>
          <p:spPr>
            <a:xfrm>
              <a:off x="2181282" y="1755253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4" h="0">
                  <a:moveTo>
                    <a:pt x="0" y="0"/>
                  </a:moveTo>
                  <a:lnTo>
                    <a:pt x="25836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77486" y="173500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24461" y="173500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90154" y="1067160"/>
            <a:ext cx="1170940" cy="710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684530" algn="l"/>
              </a:tabLst>
            </a:pP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15">
                <a:latin typeface="Tahoma"/>
                <a:cs typeface="Tahoma"/>
              </a:rPr>
              <a:t>1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55" i="1">
                <a:latin typeface="Calibri"/>
                <a:cs typeface="Calibri"/>
              </a:rPr>
              <a:t> </a:t>
            </a:r>
            <a:r>
              <a:rPr dirty="0" sz="1000" spc="35" i="1">
                <a:latin typeface="Arial"/>
                <a:cs typeface="Arial"/>
              </a:rPr>
              <a:t>j</a:t>
            </a:r>
            <a:r>
              <a:rPr dirty="0" sz="1000" spc="35">
                <a:latin typeface="Tahoma"/>
                <a:cs typeface="Tahoma"/>
              </a:rPr>
              <a:t>)</a:t>
            </a:r>
            <a:r>
              <a:rPr dirty="0" sz="1000">
                <a:latin typeface="Tahoma"/>
                <a:cs typeface="Tahoma"/>
              </a:rPr>
              <a:t>	(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6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5">
                <a:latin typeface="Tahoma"/>
                <a:cs typeface="Tahoma"/>
              </a:rPr>
              <a:t>1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45" i="1">
                <a:latin typeface="Calibri"/>
                <a:cs typeface="Calibri"/>
              </a:rPr>
              <a:t> </a:t>
            </a:r>
            <a:r>
              <a:rPr dirty="0" sz="1000" spc="35" i="1">
                <a:latin typeface="Arial"/>
                <a:cs typeface="Arial"/>
              </a:rPr>
              <a:t>j</a:t>
            </a:r>
            <a:r>
              <a:rPr dirty="0" sz="1000" spc="35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j</a:t>
            </a:r>
            <a:r>
              <a:rPr dirty="0" sz="1000" spc="110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 </a:t>
            </a:r>
            <a:r>
              <a:rPr dirty="0" sz="1000" spc="-25">
                <a:latin typeface="Tahoma"/>
                <a:cs typeface="Tahoma"/>
              </a:rPr>
              <a:t>1)</a:t>
            </a:r>
            <a:endParaRPr sz="1000">
              <a:latin typeface="Tahoma"/>
              <a:cs typeface="Tahoma"/>
            </a:endParaRPr>
          </a:p>
          <a:p>
            <a:pPr marL="632460">
              <a:lnSpc>
                <a:spcPct val="100000"/>
              </a:lnSpc>
              <a:spcBef>
                <a:spcPts val="555"/>
              </a:spcBef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47200" y="837244"/>
            <a:ext cx="45085" cy="270510"/>
            <a:chOff x="2747200" y="837244"/>
            <a:chExt cx="45085" cy="270510"/>
          </a:xfrm>
        </p:grpSpPr>
        <p:sp>
          <p:nvSpPr>
            <p:cNvPr id="15" name="object 15"/>
            <p:cNvSpPr/>
            <p:nvPr/>
          </p:nvSpPr>
          <p:spPr>
            <a:xfrm>
              <a:off x="2769468" y="843063"/>
              <a:ext cx="0" cy="258445"/>
            </a:xfrm>
            <a:custGeom>
              <a:avLst/>
              <a:gdLst/>
              <a:ahLst/>
              <a:cxnLst/>
              <a:rect l="l" t="t" r="r" b="b"/>
              <a:pathLst>
                <a:path w="0" h="258444">
                  <a:moveTo>
                    <a:pt x="0" y="25836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9224" y="108624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9224" y="83926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814954" y="864659"/>
            <a:ext cx="189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794684"/>
            <a:ext cx="114214" cy="11421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51917" y="178176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1740571"/>
            <a:ext cx="1823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b="1">
                <a:latin typeface="Arial"/>
                <a:cs typeface="Arial"/>
              </a:rPr>
              <a:t>Forward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Difference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Formula: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22183" y="2126132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 h="0">
                <a:moveTo>
                  <a:pt x="0" y="0"/>
                </a:moveTo>
                <a:lnTo>
                  <a:pt x="1495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609483" y="1932945"/>
            <a:ext cx="22542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5"/>
              </a:lnSpc>
              <a:spcBef>
                <a:spcPts val="95"/>
              </a:spcBef>
            </a:pPr>
            <a:r>
              <a:rPr dirty="0" sz="1000" spc="-25" i="1">
                <a:latin typeface="Calibri"/>
                <a:cs typeface="Calibri"/>
              </a:rPr>
              <a:t>∂φ</a:t>
            </a:r>
            <a:endParaRPr sz="1000">
              <a:latin typeface="Calibri"/>
              <a:cs typeface="Calibri"/>
            </a:endParaRPr>
          </a:p>
          <a:p>
            <a:pPr algn="r" marR="5080">
              <a:lnSpc>
                <a:spcPts val="935"/>
              </a:lnSpc>
            </a:pPr>
            <a:r>
              <a:rPr dirty="0" sz="1000" spc="-50">
                <a:latin typeface="Lucida Sans Unicode"/>
                <a:cs typeface="Lucida Sans Unicode"/>
              </a:rPr>
              <a:t>|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6801" y="2037517"/>
            <a:ext cx="3600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0555" sz="1500" i="1">
                <a:latin typeface="Calibri"/>
                <a:cs typeface="Calibri"/>
              </a:rPr>
              <a:t>∂</a:t>
            </a:r>
            <a:r>
              <a:rPr dirty="0" baseline="-30555" sz="1500" i="1">
                <a:latin typeface="Arial"/>
                <a:cs typeface="Arial"/>
              </a:rPr>
              <a:t>x</a:t>
            </a:r>
            <a:r>
              <a:rPr dirty="0" baseline="-30555" sz="1500" spc="330" i="1">
                <a:latin typeface="Arial"/>
                <a:cs typeface="Arial"/>
              </a:rPr>
              <a:t> </a:t>
            </a:r>
            <a:r>
              <a:rPr dirty="0" sz="700" spc="40" i="1">
                <a:latin typeface="Arial"/>
                <a:cs typeface="Arial"/>
              </a:rPr>
              <a:t>i</a:t>
            </a:r>
            <a:r>
              <a:rPr dirty="0" sz="700" spc="40" i="1">
                <a:latin typeface="Calibri"/>
                <a:cs typeface="Calibri"/>
              </a:rPr>
              <a:t>,</a:t>
            </a:r>
            <a:r>
              <a:rPr dirty="0" sz="700" spc="4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06752" y="2126132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20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319972" y="2105322"/>
            <a:ext cx="189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19922" y="1951919"/>
            <a:ext cx="1397000" cy="243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690">
              <a:lnSpc>
                <a:spcPts val="860"/>
              </a:lnSpc>
              <a:spcBef>
                <a:spcPts val="95"/>
              </a:spcBef>
            </a:pPr>
            <a:r>
              <a:rPr dirty="0" baseline="8333" sz="1500" i="1">
                <a:latin typeface="Calibri"/>
                <a:cs typeface="Calibri"/>
              </a:rPr>
              <a:t>φ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60" i="1">
                <a:latin typeface="Arial"/>
                <a:cs typeface="Arial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30">
                <a:latin typeface="Lucida Sans Unicode"/>
                <a:cs typeface="Lucida Sans Unicode"/>
              </a:rPr>
              <a:t> </a:t>
            </a:r>
            <a:r>
              <a:rPr dirty="0" baseline="8333" sz="1500" spc="-30" i="1">
                <a:latin typeface="Calibri"/>
                <a:cs typeface="Calibri"/>
              </a:rPr>
              <a:t>φ</a:t>
            </a:r>
            <a:r>
              <a:rPr dirty="0" sz="700" spc="-20" i="1">
                <a:latin typeface="Arial"/>
                <a:cs typeface="Arial"/>
              </a:rPr>
              <a:t>i</a:t>
            </a:r>
            <a:r>
              <a:rPr dirty="0" sz="700" spc="-20" i="1">
                <a:latin typeface="Calibri"/>
                <a:cs typeface="Calibri"/>
              </a:rPr>
              <a:t>,</a:t>
            </a:r>
            <a:r>
              <a:rPr dirty="0" sz="700" spc="-2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860"/>
              </a:lnSpc>
              <a:tabLst>
                <a:tab pos="857250" algn="l"/>
              </a:tabLst>
            </a:pP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22183" y="2430030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 h="0">
                <a:moveTo>
                  <a:pt x="0" y="0"/>
                </a:moveTo>
                <a:lnTo>
                  <a:pt x="1495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609483" y="2236843"/>
            <a:ext cx="22542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5"/>
              </a:lnSpc>
              <a:spcBef>
                <a:spcPts val="95"/>
              </a:spcBef>
            </a:pPr>
            <a:r>
              <a:rPr dirty="0" sz="1000" spc="-25" i="1">
                <a:latin typeface="Calibri"/>
                <a:cs typeface="Calibri"/>
              </a:rPr>
              <a:t>∂φ</a:t>
            </a:r>
            <a:endParaRPr sz="1000">
              <a:latin typeface="Calibri"/>
              <a:cs typeface="Calibri"/>
            </a:endParaRPr>
          </a:p>
          <a:p>
            <a:pPr algn="r" marR="5080">
              <a:lnSpc>
                <a:spcPts val="935"/>
              </a:lnSpc>
            </a:pPr>
            <a:r>
              <a:rPr dirty="0" sz="1000" spc="-50">
                <a:latin typeface="Lucida Sans Unicode"/>
                <a:cs typeface="Lucida Sans Unicode"/>
              </a:rPr>
              <a:t>|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85747" y="2341415"/>
            <a:ext cx="3606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0555" sz="1500" i="1">
                <a:latin typeface="Calibri"/>
                <a:cs typeface="Calibri"/>
              </a:rPr>
              <a:t>∂</a:t>
            </a:r>
            <a:r>
              <a:rPr dirty="0" baseline="-30555" sz="1500" i="1">
                <a:latin typeface="Arial"/>
                <a:cs typeface="Arial"/>
              </a:rPr>
              <a:t>y</a:t>
            </a:r>
            <a:r>
              <a:rPr dirty="0" baseline="-30555" sz="1500" spc="345" i="1">
                <a:latin typeface="Arial"/>
                <a:cs typeface="Arial"/>
              </a:rPr>
              <a:t> </a:t>
            </a:r>
            <a:r>
              <a:rPr dirty="0" sz="700" spc="40" i="1">
                <a:latin typeface="Arial"/>
                <a:cs typeface="Arial"/>
              </a:rPr>
              <a:t>i</a:t>
            </a:r>
            <a:r>
              <a:rPr dirty="0" sz="700" spc="40" i="1">
                <a:latin typeface="Calibri"/>
                <a:cs typeface="Calibri"/>
              </a:rPr>
              <a:t>,</a:t>
            </a:r>
            <a:r>
              <a:rPr dirty="0" sz="700" spc="4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06752" y="2430030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20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318918" y="2409233"/>
            <a:ext cx="189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19922" y="2255817"/>
            <a:ext cx="1397000" cy="244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690">
              <a:lnSpc>
                <a:spcPts val="860"/>
              </a:lnSpc>
              <a:spcBef>
                <a:spcPts val="95"/>
              </a:spcBef>
            </a:pPr>
            <a:r>
              <a:rPr dirty="0" baseline="8333" sz="1500" i="1">
                <a:latin typeface="Calibri"/>
                <a:cs typeface="Calibri"/>
              </a:rPr>
              <a:t>φ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90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22">
                <a:latin typeface="Lucida Sans Unicode"/>
                <a:cs typeface="Lucida Sans Unicode"/>
              </a:rPr>
              <a:t> </a:t>
            </a:r>
            <a:r>
              <a:rPr dirty="0" baseline="8333" sz="1500" spc="-30" i="1">
                <a:latin typeface="Calibri"/>
                <a:cs typeface="Calibri"/>
              </a:rPr>
              <a:t>φ</a:t>
            </a:r>
            <a:r>
              <a:rPr dirty="0" sz="700" spc="-20" i="1">
                <a:latin typeface="Arial"/>
                <a:cs typeface="Arial"/>
              </a:rPr>
              <a:t>i</a:t>
            </a:r>
            <a:r>
              <a:rPr dirty="0" sz="700" spc="-20" i="1">
                <a:latin typeface="Calibri"/>
                <a:cs typeface="Calibri"/>
              </a:rPr>
              <a:t>,</a:t>
            </a:r>
            <a:r>
              <a:rPr dirty="0" sz="700" spc="-2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860"/>
              </a:lnSpc>
              <a:tabLst>
                <a:tab pos="857250" algn="l"/>
              </a:tabLst>
            </a:pP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019" y="2586796"/>
            <a:ext cx="114214" cy="11421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57263" y="257386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2932" y="2541224"/>
            <a:ext cx="1769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 b="1">
                <a:latin typeface="Arial"/>
                <a:cs typeface="Arial"/>
              </a:rPr>
              <a:t>Backward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Difference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Formula: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619237" y="2862186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 h="0">
                <a:moveTo>
                  <a:pt x="0" y="0"/>
                </a:moveTo>
                <a:lnTo>
                  <a:pt x="1495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606537" y="2668999"/>
            <a:ext cx="22542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5"/>
              </a:lnSpc>
              <a:spcBef>
                <a:spcPts val="95"/>
              </a:spcBef>
            </a:pPr>
            <a:r>
              <a:rPr dirty="0" sz="1000" spc="-25" i="1">
                <a:latin typeface="Calibri"/>
                <a:cs typeface="Calibri"/>
              </a:rPr>
              <a:t>∂φ</a:t>
            </a:r>
            <a:endParaRPr sz="1000">
              <a:latin typeface="Calibri"/>
              <a:cs typeface="Calibri"/>
            </a:endParaRPr>
          </a:p>
          <a:p>
            <a:pPr algn="r" marR="5080">
              <a:lnSpc>
                <a:spcPts val="935"/>
              </a:lnSpc>
            </a:pPr>
            <a:r>
              <a:rPr dirty="0" sz="1000" spc="-50">
                <a:latin typeface="Lucida Sans Unicode"/>
                <a:cs typeface="Lucida Sans Unicode"/>
              </a:rPr>
              <a:t>|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83855" y="2773570"/>
            <a:ext cx="3600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0555" sz="1500" i="1">
                <a:latin typeface="Calibri"/>
                <a:cs typeface="Calibri"/>
              </a:rPr>
              <a:t>∂</a:t>
            </a:r>
            <a:r>
              <a:rPr dirty="0" baseline="-30555" sz="1500" i="1">
                <a:latin typeface="Arial"/>
                <a:cs typeface="Arial"/>
              </a:rPr>
              <a:t>x</a:t>
            </a:r>
            <a:r>
              <a:rPr dirty="0" baseline="-30555" sz="1500" spc="330" i="1">
                <a:latin typeface="Arial"/>
                <a:cs typeface="Arial"/>
              </a:rPr>
              <a:t> </a:t>
            </a:r>
            <a:r>
              <a:rPr dirty="0" sz="700" spc="40" i="1">
                <a:latin typeface="Arial"/>
                <a:cs typeface="Arial"/>
              </a:rPr>
              <a:t>i</a:t>
            </a:r>
            <a:r>
              <a:rPr dirty="0" sz="700" spc="40" i="1">
                <a:latin typeface="Calibri"/>
                <a:cs typeface="Calibri"/>
              </a:rPr>
              <a:t>,</a:t>
            </a:r>
            <a:r>
              <a:rPr dirty="0" sz="700" spc="4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03818" y="2862186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4" h="0">
                <a:moveTo>
                  <a:pt x="0" y="0"/>
                </a:moveTo>
                <a:lnTo>
                  <a:pt x="63309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319972" y="2841388"/>
            <a:ext cx="189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916976" y="2687985"/>
            <a:ext cx="1402715" cy="243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690">
              <a:lnSpc>
                <a:spcPts val="860"/>
              </a:lnSpc>
              <a:spcBef>
                <a:spcPts val="95"/>
              </a:spcBef>
            </a:pPr>
            <a:r>
              <a:rPr dirty="0" baseline="8333" sz="1500" i="1">
                <a:latin typeface="Calibri"/>
                <a:cs typeface="Calibri"/>
              </a:rPr>
              <a:t>φ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35" i="1">
                <a:latin typeface="Arial"/>
                <a:cs typeface="Arial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 </a:t>
            </a:r>
            <a:r>
              <a:rPr dirty="0" baseline="8333" sz="1500" spc="-15" i="1">
                <a:latin typeface="Calibri"/>
                <a:cs typeface="Calibri"/>
              </a:rPr>
              <a:t>φ</a:t>
            </a:r>
            <a:r>
              <a:rPr dirty="0" sz="700" spc="-10" i="1">
                <a:latin typeface="Arial"/>
                <a:cs typeface="Arial"/>
              </a:rPr>
              <a:t>i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860"/>
              </a:lnSpc>
              <a:tabLst>
                <a:tab pos="862965" algn="l"/>
              </a:tabLst>
            </a:pP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619237" y="3191395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 h="0">
                <a:moveTo>
                  <a:pt x="0" y="0"/>
                </a:moveTo>
                <a:lnTo>
                  <a:pt x="1495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606537" y="2998208"/>
            <a:ext cx="22542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5"/>
              </a:lnSpc>
              <a:spcBef>
                <a:spcPts val="95"/>
              </a:spcBef>
            </a:pPr>
            <a:r>
              <a:rPr dirty="0" sz="1000" spc="-25" i="1">
                <a:latin typeface="Calibri"/>
                <a:cs typeface="Calibri"/>
              </a:rPr>
              <a:t>∂φ</a:t>
            </a:r>
            <a:endParaRPr sz="1000">
              <a:latin typeface="Calibri"/>
              <a:cs typeface="Calibri"/>
            </a:endParaRPr>
          </a:p>
          <a:p>
            <a:pPr algn="r" marR="5080">
              <a:lnSpc>
                <a:spcPts val="935"/>
              </a:lnSpc>
            </a:pPr>
            <a:r>
              <a:rPr dirty="0" sz="1000" spc="-50">
                <a:latin typeface="Lucida Sans Unicode"/>
                <a:cs typeface="Lucida Sans Unicode"/>
              </a:rPr>
              <a:t>|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82800" y="3102780"/>
            <a:ext cx="3606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0555" sz="1500" i="1">
                <a:latin typeface="Calibri"/>
                <a:cs typeface="Calibri"/>
              </a:rPr>
              <a:t>∂</a:t>
            </a:r>
            <a:r>
              <a:rPr dirty="0" baseline="-30555" sz="1500" i="1">
                <a:latin typeface="Arial"/>
                <a:cs typeface="Arial"/>
              </a:rPr>
              <a:t>y</a:t>
            </a:r>
            <a:r>
              <a:rPr dirty="0" baseline="-30555" sz="1500" spc="345" i="1">
                <a:latin typeface="Arial"/>
                <a:cs typeface="Arial"/>
              </a:rPr>
              <a:t> </a:t>
            </a:r>
            <a:r>
              <a:rPr dirty="0" sz="700" spc="40" i="1">
                <a:latin typeface="Arial"/>
                <a:cs typeface="Arial"/>
              </a:rPr>
              <a:t>i</a:t>
            </a:r>
            <a:r>
              <a:rPr dirty="0" sz="700" spc="40" i="1">
                <a:latin typeface="Calibri"/>
                <a:cs typeface="Calibri"/>
              </a:rPr>
              <a:t>,</a:t>
            </a:r>
            <a:r>
              <a:rPr dirty="0" sz="700" spc="4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103818" y="3191395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4" h="0">
                <a:moveTo>
                  <a:pt x="0" y="0"/>
                </a:moveTo>
                <a:lnTo>
                  <a:pt x="63309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318918" y="3170598"/>
            <a:ext cx="189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916976" y="3017182"/>
            <a:ext cx="1402715" cy="244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690">
              <a:lnSpc>
                <a:spcPts val="860"/>
              </a:lnSpc>
              <a:spcBef>
                <a:spcPts val="95"/>
              </a:spcBef>
            </a:pPr>
            <a:r>
              <a:rPr dirty="0" baseline="8333" sz="1500" i="1">
                <a:latin typeface="Calibri"/>
                <a:cs typeface="Calibri"/>
              </a:rPr>
              <a:t>φ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35" i="1">
                <a:latin typeface="Arial"/>
                <a:cs typeface="Arial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 </a:t>
            </a:r>
            <a:r>
              <a:rPr dirty="0" baseline="8333" sz="1500" spc="-15" i="1">
                <a:latin typeface="Calibri"/>
                <a:cs typeface="Calibri"/>
              </a:rPr>
              <a:t>φ</a:t>
            </a:r>
            <a:r>
              <a:rPr dirty="0" sz="700" spc="-10" i="1">
                <a:latin typeface="Arial"/>
                <a:cs typeface="Arial"/>
              </a:rPr>
              <a:t>i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j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  <a:p>
            <a:pPr marL="38100">
              <a:lnSpc>
                <a:spcPts val="860"/>
              </a:lnSpc>
              <a:tabLst>
                <a:tab pos="862965" algn="l"/>
              </a:tabLst>
            </a:pP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H.O.T.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7862"/>
                </a:lnTo>
                <a:lnTo>
                  <a:pt x="4608004" y="577862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347845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/>
              <a:t>Finite</a:t>
            </a:r>
            <a:r>
              <a:rPr dirty="0" spc="-35"/>
              <a:t> </a:t>
            </a:r>
            <a:r>
              <a:rPr dirty="0" spc="-45"/>
              <a:t>Difference</a:t>
            </a:r>
            <a:r>
              <a:rPr dirty="0" spc="-35"/>
              <a:t> </a:t>
            </a:r>
            <a:r>
              <a:rPr dirty="0" spc="-25"/>
              <a:t>Equations</a:t>
            </a:r>
            <a:r>
              <a:rPr dirty="0" spc="-35"/>
              <a:t> </a:t>
            </a:r>
            <a:r>
              <a:rPr dirty="0" spc="-10"/>
              <a:t>for</a:t>
            </a:r>
            <a:r>
              <a:rPr dirty="0" spc="-35"/>
              <a:t> </a:t>
            </a:r>
            <a:r>
              <a:rPr dirty="0" spc="-25"/>
              <a:t>Two-</a:t>
            </a:r>
            <a:r>
              <a:rPr dirty="0" spc="-45"/>
              <a:t>Dimensional</a:t>
            </a:r>
            <a:r>
              <a:rPr dirty="0" spc="-35"/>
              <a:t> </a:t>
            </a:r>
            <a:r>
              <a:rPr dirty="0" spc="-25"/>
              <a:t>Variable, </a:t>
            </a:r>
            <a:r>
              <a:rPr dirty="0" spc="-10"/>
              <a:t>Contd..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882380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86945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828267"/>
            <a:ext cx="337057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Arial"/>
                <a:cs typeface="Arial"/>
              </a:rPr>
              <a:t>Central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Difference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Formula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 </a:t>
            </a:r>
            <a:r>
              <a:rPr dirty="0" sz="1100" spc="-30" b="1">
                <a:latin typeface="Arial"/>
                <a:cs typeface="Arial"/>
              </a:rPr>
              <a:t>first-order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Derivative: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74927" y="1234274"/>
            <a:ext cx="163830" cy="0"/>
          </a:xfrm>
          <a:custGeom>
            <a:avLst/>
            <a:gdLst/>
            <a:ahLst/>
            <a:cxnLst/>
            <a:rect l="l" t="t" r="r" b="b"/>
            <a:pathLst>
              <a:path w="163830" h="0">
                <a:moveTo>
                  <a:pt x="0" y="0"/>
                </a:moveTo>
                <a:lnTo>
                  <a:pt x="1638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62227" y="1023936"/>
            <a:ext cx="243204" cy="285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030"/>
              </a:lnSpc>
              <a:spcBef>
                <a:spcPts val="90"/>
              </a:spcBef>
            </a:pPr>
            <a:r>
              <a:rPr dirty="0" sz="1100" spc="-25" i="1">
                <a:latin typeface="Calibri"/>
                <a:cs typeface="Calibri"/>
              </a:rPr>
              <a:t>∂φ</a:t>
            </a:r>
            <a:endParaRPr sz="1100">
              <a:latin typeface="Calibri"/>
              <a:cs typeface="Calibri"/>
            </a:endParaRPr>
          </a:p>
          <a:p>
            <a:pPr algn="r" marR="5080">
              <a:lnSpc>
                <a:spcPts val="1030"/>
              </a:lnSpc>
            </a:pPr>
            <a:r>
              <a:rPr dirty="0" sz="1100" spc="-5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9799" y="1139303"/>
            <a:ext cx="384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0303" sz="1650" i="1">
                <a:latin typeface="Calibri"/>
                <a:cs typeface="Calibri"/>
              </a:rPr>
              <a:t>∂</a:t>
            </a:r>
            <a:r>
              <a:rPr dirty="0" baseline="-30303" sz="1650" i="1">
                <a:latin typeface="Arial"/>
                <a:cs typeface="Arial"/>
              </a:rPr>
              <a:t>x</a:t>
            </a:r>
            <a:r>
              <a:rPr dirty="0" baseline="-30303" sz="1650" spc="345" i="1">
                <a:latin typeface="Arial"/>
                <a:cs typeface="Arial"/>
              </a:rPr>
              <a:t> </a:t>
            </a:r>
            <a:r>
              <a:rPr dirty="0" sz="800" spc="-25" i="1">
                <a:latin typeface="Arial"/>
                <a:cs typeface="Arial"/>
              </a:rPr>
              <a:t>i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2104" y="1234274"/>
            <a:ext cx="829310" cy="0"/>
          </a:xfrm>
          <a:custGeom>
            <a:avLst/>
            <a:gdLst/>
            <a:ahLst/>
            <a:cxnLst/>
            <a:rect l="l" t="t" r="r" b="b"/>
            <a:pathLst>
              <a:path w="829310" h="0">
                <a:moveTo>
                  <a:pt x="0" y="0"/>
                </a:moveTo>
                <a:lnTo>
                  <a:pt x="8288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73173" y="1212696"/>
            <a:ext cx="274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2∆</a:t>
            </a:r>
            <a:r>
              <a:rPr dirty="0" sz="1100" spc="-25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2574" y="1043951"/>
            <a:ext cx="1661160" cy="265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9390">
              <a:lnSpc>
                <a:spcPts val="950"/>
              </a:lnSpc>
              <a:spcBef>
                <a:spcPts val="90"/>
              </a:spcBef>
            </a:pPr>
            <a:r>
              <a:rPr dirty="0" baseline="7575" sz="1650" spc="-52" i="1">
                <a:latin typeface="Calibri"/>
                <a:cs typeface="Calibri"/>
              </a:rPr>
              <a:t>φ</a:t>
            </a:r>
            <a:r>
              <a:rPr dirty="0" sz="800" spc="-35" i="1">
                <a:latin typeface="Arial"/>
                <a:cs typeface="Arial"/>
              </a:rPr>
              <a:t>i</a:t>
            </a:r>
            <a:r>
              <a:rPr dirty="0" sz="800" spc="-135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 spc="204" i="1">
                <a:latin typeface="Arial"/>
                <a:cs typeface="Arial"/>
              </a:rPr>
              <a:t> </a:t>
            </a:r>
            <a:r>
              <a:rPr dirty="0" baseline="7575" sz="1650" spc="-52">
                <a:latin typeface="Lucida Sans Unicode"/>
                <a:cs typeface="Lucida Sans Unicode"/>
              </a:rPr>
              <a:t>−</a:t>
            </a:r>
            <a:r>
              <a:rPr dirty="0" baseline="7575" sz="1650" spc="-89">
                <a:latin typeface="Lucida Sans Unicode"/>
                <a:cs typeface="Lucida Sans Unicode"/>
              </a:rPr>
              <a:t> </a:t>
            </a:r>
            <a:r>
              <a:rPr dirty="0" baseline="7575" sz="1650" spc="-52" i="1">
                <a:latin typeface="Calibri"/>
                <a:cs typeface="Calibri"/>
              </a:rPr>
              <a:t>φ</a:t>
            </a:r>
            <a:r>
              <a:rPr dirty="0" sz="800" spc="-35" i="1">
                <a:latin typeface="Arial"/>
                <a:cs typeface="Arial"/>
              </a:rPr>
              <a:t>i</a:t>
            </a:r>
            <a:r>
              <a:rPr dirty="0" sz="800" spc="-135" i="1">
                <a:latin typeface="Arial"/>
                <a:cs typeface="Arial"/>
              </a:rPr>
              <a:t> </a:t>
            </a:r>
            <a:r>
              <a:rPr dirty="0" sz="800" spc="-20">
                <a:latin typeface="Lucida Sans Unicode"/>
                <a:cs typeface="Lucida Sans Unicode"/>
              </a:rPr>
              <a:t>−</a:t>
            </a:r>
            <a:r>
              <a:rPr dirty="0" sz="800" spc="-20">
                <a:latin typeface="Tahoma"/>
                <a:cs typeface="Tahoma"/>
              </a:rPr>
              <a:t>1</a:t>
            </a:r>
            <a:r>
              <a:rPr dirty="0" sz="800" spc="-20" i="1">
                <a:latin typeface="Sitka Text"/>
                <a:cs typeface="Sitka Text"/>
              </a:rPr>
              <a:t>,</a:t>
            </a:r>
            <a:r>
              <a:rPr dirty="0" sz="800" spc="-20" i="1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ts val="950"/>
              </a:lnSpc>
              <a:tabLst>
                <a:tab pos="1073785" algn="l"/>
              </a:tabLst>
            </a:pP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H.O.T.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4927" y="1677746"/>
            <a:ext cx="163830" cy="0"/>
          </a:xfrm>
          <a:custGeom>
            <a:avLst/>
            <a:gdLst/>
            <a:ahLst/>
            <a:cxnLst/>
            <a:rect l="l" t="t" r="r" b="b"/>
            <a:pathLst>
              <a:path w="163830" h="0">
                <a:moveTo>
                  <a:pt x="0" y="0"/>
                </a:moveTo>
                <a:lnTo>
                  <a:pt x="1638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62227" y="1467420"/>
            <a:ext cx="243204" cy="285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030"/>
              </a:lnSpc>
              <a:spcBef>
                <a:spcPts val="90"/>
              </a:spcBef>
            </a:pPr>
            <a:r>
              <a:rPr dirty="0" sz="1100" spc="-25" i="1">
                <a:latin typeface="Calibri"/>
                <a:cs typeface="Calibri"/>
              </a:rPr>
              <a:t>∂φ</a:t>
            </a:r>
            <a:endParaRPr sz="1100">
              <a:latin typeface="Calibri"/>
              <a:cs typeface="Calibri"/>
            </a:endParaRPr>
          </a:p>
          <a:p>
            <a:pPr algn="r" marR="5080">
              <a:lnSpc>
                <a:spcPts val="1030"/>
              </a:lnSpc>
            </a:pPr>
            <a:r>
              <a:rPr dirty="0" sz="1100" spc="-5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8655" y="1582787"/>
            <a:ext cx="3860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0303" sz="1650" i="1">
                <a:latin typeface="Calibri"/>
                <a:cs typeface="Calibri"/>
              </a:rPr>
              <a:t>∂</a:t>
            </a:r>
            <a:r>
              <a:rPr dirty="0" baseline="-30303" sz="1650" i="1">
                <a:latin typeface="Arial"/>
                <a:cs typeface="Arial"/>
              </a:rPr>
              <a:t>y</a:t>
            </a:r>
            <a:r>
              <a:rPr dirty="0" baseline="-30303" sz="1650" spc="352" i="1">
                <a:latin typeface="Arial"/>
                <a:cs typeface="Arial"/>
              </a:rPr>
              <a:t> </a:t>
            </a:r>
            <a:r>
              <a:rPr dirty="0" sz="800" spc="-25" i="1">
                <a:latin typeface="Arial"/>
                <a:cs typeface="Arial"/>
              </a:rPr>
              <a:t>i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2104" y="1677746"/>
            <a:ext cx="829310" cy="0"/>
          </a:xfrm>
          <a:custGeom>
            <a:avLst/>
            <a:gdLst/>
            <a:ahLst/>
            <a:cxnLst/>
            <a:rect l="l" t="t" r="r" b="b"/>
            <a:pathLst>
              <a:path w="829310" h="0">
                <a:moveTo>
                  <a:pt x="0" y="0"/>
                </a:moveTo>
                <a:lnTo>
                  <a:pt x="8288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272017" y="1656180"/>
            <a:ext cx="274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2∆</a:t>
            </a:r>
            <a:r>
              <a:rPr dirty="0" sz="1100" spc="-25" i="1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02574" y="1487422"/>
            <a:ext cx="1661160" cy="265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9390">
              <a:lnSpc>
                <a:spcPts val="950"/>
              </a:lnSpc>
              <a:spcBef>
                <a:spcPts val="90"/>
              </a:spcBef>
            </a:pPr>
            <a:r>
              <a:rPr dirty="0" baseline="7575" sz="1650" i="1">
                <a:latin typeface="Calibri"/>
                <a:cs typeface="Calibri"/>
              </a:rPr>
              <a:t>φ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140">
                <a:latin typeface="Tahoma"/>
                <a:cs typeface="Tahoma"/>
              </a:rPr>
              <a:t> </a:t>
            </a:r>
            <a:r>
              <a:rPr dirty="0" baseline="7575" sz="1650" spc="-52">
                <a:latin typeface="Lucida Sans Unicode"/>
                <a:cs typeface="Lucida Sans Unicode"/>
              </a:rPr>
              <a:t>−</a:t>
            </a:r>
            <a:r>
              <a:rPr dirty="0" baseline="7575" sz="1650" spc="-30">
                <a:latin typeface="Lucida Sans Unicode"/>
                <a:cs typeface="Lucida Sans Unicode"/>
              </a:rPr>
              <a:t> </a:t>
            </a:r>
            <a:r>
              <a:rPr dirty="0" baseline="7575" sz="1650" spc="-15" i="1">
                <a:latin typeface="Calibri"/>
                <a:cs typeface="Calibri"/>
              </a:rPr>
              <a:t>φ</a:t>
            </a:r>
            <a:r>
              <a:rPr dirty="0" sz="800" spc="-10" i="1">
                <a:latin typeface="Arial"/>
                <a:cs typeface="Arial"/>
              </a:rPr>
              <a:t>i</a:t>
            </a:r>
            <a:r>
              <a:rPr dirty="0" sz="800" spc="-10" i="1">
                <a:latin typeface="Sitka Text"/>
                <a:cs typeface="Sitka Text"/>
              </a:rPr>
              <a:t>,</a:t>
            </a:r>
            <a:r>
              <a:rPr dirty="0" sz="800" spc="-10" i="1">
                <a:latin typeface="Arial"/>
                <a:cs typeface="Arial"/>
              </a:rPr>
              <a:t>j</a:t>
            </a:r>
            <a:r>
              <a:rPr dirty="0" sz="800" spc="-10">
                <a:latin typeface="Lucida Sans Unicode"/>
                <a:cs typeface="Lucida Sans Unicode"/>
              </a:rPr>
              <a:t>−</a:t>
            </a:r>
            <a:r>
              <a:rPr dirty="0" sz="800" spc="-1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ts val="950"/>
              </a:lnSpc>
              <a:tabLst>
                <a:tab pos="1073785" algn="l"/>
              </a:tabLst>
            </a:pP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H.O.T.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2007612"/>
            <a:ext cx="114214" cy="11421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51917" y="199467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1953487"/>
            <a:ext cx="3578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Arial"/>
                <a:cs typeface="Arial"/>
              </a:rPr>
              <a:t>Central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Difference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Formula</a:t>
            </a:r>
            <a:r>
              <a:rPr dirty="0" sz="1100" b="1">
                <a:latin typeface="Arial"/>
                <a:cs typeface="Arial"/>
              </a:rPr>
              <a:t> for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65" b="1">
                <a:latin typeface="Arial"/>
                <a:cs typeface="Arial"/>
              </a:rPr>
              <a:t>Second-</a:t>
            </a:r>
            <a:r>
              <a:rPr dirty="0" sz="1100" spc="-35" b="1">
                <a:latin typeface="Arial"/>
                <a:cs typeface="Arial"/>
              </a:rPr>
              <a:t>order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Derivative: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29398" y="2357259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5" h="0">
                <a:moveTo>
                  <a:pt x="0" y="0"/>
                </a:moveTo>
                <a:lnTo>
                  <a:pt x="2239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778571" y="2166936"/>
            <a:ext cx="1320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52" i="1">
                <a:latin typeface="Calibri"/>
                <a:cs typeface="Calibri"/>
              </a:rPr>
              <a:t>φ</a:t>
            </a:r>
            <a:r>
              <a:rPr dirty="0" sz="800" spc="-35" i="1">
                <a:latin typeface="Arial"/>
                <a:cs typeface="Arial"/>
              </a:rPr>
              <a:t>i</a:t>
            </a:r>
            <a:r>
              <a:rPr dirty="0" sz="800" spc="-135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 spc="190" i="1">
                <a:latin typeface="Arial"/>
                <a:cs typeface="Arial"/>
              </a:rPr>
              <a:t> </a:t>
            </a:r>
            <a:r>
              <a:rPr dirty="0" baseline="7575" sz="1650" spc="-52">
                <a:latin typeface="Lucida Sans Unicode"/>
                <a:cs typeface="Lucida Sans Unicode"/>
              </a:rPr>
              <a:t>−</a:t>
            </a:r>
            <a:r>
              <a:rPr dirty="0" baseline="7575" sz="1650" spc="-112">
                <a:latin typeface="Lucida Sans Unicode"/>
                <a:cs typeface="Lucida Sans Unicode"/>
              </a:rPr>
              <a:t> </a:t>
            </a:r>
            <a:r>
              <a:rPr dirty="0" baseline="7575" sz="1650">
                <a:latin typeface="Tahoma"/>
                <a:cs typeface="Tahoma"/>
              </a:rPr>
              <a:t>2</a:t>
            </a:r>
            <a:r>
              <a:rPr dirty="0" baseline="7575" sz="1650" i="1">
                <a:latin typeface="Calibri"/>
                <a:cs typeface="Calibri"/>
              </a:rPr>
              <a:t>φ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 spc="190" i="1">
                <a:latin typeface="Arial"/>
                <a:cs typeface="Arial"/>
              </a:rPr>
              <a:t> </a:t>
            </a:r>
            <a:r>
              <a:rPr dirty="0" baseline="7575" sz="1650">
                <a:latin typeface="Tahoma"/>
                <a:cs typeface="Tahoma"/>
              </a:rPr>
              <a:t>+</a:t>
            </a:r>
            <a:r>
              <a:rPr dirty="0" baseline="7575" sz="1650" spc="-112">
                <a:latin typeface="Tahoma"/>
                <a:cs typeface="Tahoma"/>
              </a:rPr>
              <a:t> </a:t>
            </a:r>
            <a:r>
              <a:rPr dirty="0" baseline="7575" sz="1650" spc="-52" i="1">
                <a:latin typeface="Calibri"/>
                <a:cs typeface="Calibri"/>
              </a:rPr>
              <a:t>φ</a:t>
            </a:r>
            <a:r>
              <a:rPr dirty="0" sz="800" spc="-35" i="1">
                <a:latin typeface="Arial"/>
                <a:cs typeface="Arial"/>
              </a:rPr>
              <a:t>i</a:t>
            </a:r>
            <a:r>
              <a:rPr dirty="0" sz="800" spc="-135" i="1">
                <a:latin typeface="Arial"/>
                <a:cs typeface="Arial"/>
              </a:rPr>
              <a:t> </a:t>
            </a:r>
            <a:r>
              <a:rPr dirty="0" sz="800" spc="-20">
                <a:latin typeface="Lucida Sans Unicode"/>
                <a:cs typeface="Lucida Sans Unicode"/>
              </a:rPr>
              <a:t>−</a:t>
            </a:r>
            <a:r>
              <a:rPr dirty="0" sz="800" spc="-20">
                <a:latin typeface="Tahoma"/>
                <a:cs typeface="Tahoma"/>
              </a:rPr>
              <a:t>1</a:t>
            </a:r>
            <a:r>
              <a:rPr dirty="0" sz="800" spc="-20" i="1">
                <a:latin typeface="Sitka Text"/>
                <a:cs typeface="Sitka Text"/>
              </a:rPr>
              <a:t>,</a:t>
            </a:r>
            <a:r>
              <a:rPr dirty="0" sz="800" spc="-20" i="1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16671" y="2357259"/>
            <a:ext cx="1259840" cy="0"/>
          </a:xfrm>
          <a:custGeom>
            <a:avLst/>
            <a:gdLst/>
            <a:ahLst/>
            <a:cxnLst/>
            <a:rect l="l" t="t" r="r" b="b"/>
            <a:pathLst>
              <a:path w="1259839" h="0">
                <a:moveTo>
                  <a:pt x="0" y="0"/>
                </a:moveTo>
                <a:lnTo>
                  <a:pt x="125982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109772" y="2240647"/>
            <a:ext cx="5740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H.O.T.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29398" y="2762656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5" h="0">
                <a:moveTo>
                  <a:pt x="0" y="0"/>
                </a:moveTo>
                <a:lnTo>
                  <a:pt x="2239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91298" y="2146921"/>
            <a:ext cx="610235" cy="712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115"/>
              </a:lnSpc>
              <a:spcBef>
                <a:spcPts val="90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baseline="27777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Calibri"/>
                <a:cs typeface="Calibri"/>
              </a:rPr>
              <a:t>φ</a:t>
            </a:r>
            <a:endParaRPr sz="1100">
              <a:latin typeface="Calibri"/>
              <a:cs typeface="Calibri"/>
            </a:endParaRPr>
          </a:p>
          <a:p>
            <a:pPr marL="40640">
              <a:lnSpc>
                <a:spcPts val="1115"/>
              </a:lnSpc>
            </a:pPr>
            <a:r>
              <a:rPr dirty="0" baseline="-30303" sz="1650" spc="-15" i="1">
                <a:latin typeface="Calibri"/>
                <a:cs typeface="Calibri"/>
              </a:rPr>
              <a:t>∂</a:t>
            </a:r>
            <a:r>
              <a:rPr dirty="0" baseline="-30303" sz="1650" spc="-15" i="1">
                <a:latin typeface="Arial"/>
                <a:cs typeface="Arial"/>
              </a:rPr>
              <a:t>x</a:t>
            </a:r>
            <a:r>
              <a:rPr dirty="0" baseline="-30303" sz="1650" spc="-307" i="1">
                <a:latin typeface="Arial"/>
                <a:cs typeface="Arial"/>
              </a:rPr>
              <a:t> </a:t>
            </a:r>
            <a:r>
              <a:rPr dirty="0" baseline="-17361" sz="1200" spc="-37">
                <a:latin typeface="Tahoma"/>
                <a:cs typeface="Tahoma"/>
              </a:rPr>
              <a:t>2</a:t>
            </a:r>
            <a:r>
              <a:rPr dirty="0" baseline="-17361" sz="1200" spc="-67">
                <a:latin typeface="Tahoma"/>
                <a:cs typeface="Tahoma"/>
              </a:rPr>
              <a:t> </a:t>
            </a:r>
            <a:r>
              <a:rPr dirty="0" baseline="7575" sz="1650">
                <a:latin typeface="Lucida Sans Unicode"/>
                <a:cs typeface="Lucida Sans Unicode"/>
              </a:rPr>
              <a:t>|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 spc="245" i="1">
                <a:latin typeface="Arial"/>
                <a:cs typeface="Arial"/>
              </a:rPr>
              <a:t> </a:t>
            </a:r>
            <a:r>
              <a:rPr dirty="0" baseline="7575" sz="1650" spc="-75">
                <a:latin typeface="Tahoma"/>
                <a:cs typeface="Tahoma"/>
              </a:rPr>
              <a:t>=</a:t>
            </a:r>
            <a:endParaRPr baseline="7575" sz="1650">
              <a:latin typeface="Tahoma"/>
              <a:cs typeface="Tahoma"/>
            </a:endParaRPr>
          </a:p>
          <a:p>
            <a:pPr marL="38100">
              <a:lnSpc>
                <a:spcPts val="1115"/>
              </a:lnSpc>
              <a:spcBef>
                <a:spcPts val="965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baseline="27777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Calibri"/>
                <a:cs typeface="Calibri"/>
              </a:rPr>
              <a:t>φ</a:t>
            </a:r>
            <a:endParaRPr sz="1100">
              <a:latin typeface="Calibri"/>
              <a:cs typeface="Calibri"/>
            </a:endParaRPr>
          </a:p>
          <a:p>
            <a:pPr marL="39370">
              <a:lnSpc>
                <a:spcPts val="1115"/>
              </a:lnSpc>
            </a:pPr>
            <a:r>
              <a:rPr dirty="0" baseline="-30303" sz="1650" spc="-15" i="1">
                <a:latin typeface="Calibri"/>
                <a:cs typeface="Calibri"/>
              </a:rPr>
              <a:t>∂</a:t>
            </a:r>
            <a:r>
              <a:rPr dirty="0" baseline="-30303" sz="1650" spc="-15" i="1">
                <a:latin typeface="Arial"/>
                <a:cs typeface="Arial"/>
              </a:rPr>
              <a:t>y</a:t>
            </a:r>
            <a:r>
              <a:rPr dirty="0" baseline="-30303" sz="1650" spc="-277" i="1">
                <a:latin typeface="Arial"/>
                <a:cs typeface="Arial"/>
              </a:rPr>
              <a:t> </a:t>
            </a:r>
            <a:r>
              <a:rPr dirty="0" baseline="-17361" sz="1200" spc="-37">
                <a:latin typeface="Tahoma"/>
                <a:cs typeface="Tahoma"/>
              </a:rPr>
              <a:t>2</a:t>
            </a:r>
            <a:r>
              <a:rPr dirty="0" baseline="-17361" sz="1200" spc="-82">
                <a:latin typeface="Tahoma"/>
                <a:cs typeface="Tahoma"/>
              </a:rPr>
              <a:t> </a:t>
            </a:r>
            <a:r>
              <a:rPr dirty="0" baseline="7575" sz="1650">
                <a:latin typeface="Lucida Sans Unicode"/>
                <a:cs typeface="Lucida Sans Unicode"/>
              </a:rPr>
              <a:t>|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 spc="245" i="1">
                <a:latin typeface="Arial"/>
                <a:cs typeface="Arial"/>
              </a:rPr>
              <a:t> </a:t>
            </a:r>
            <a:r>
              <a:rPr dirty="0" baseline="7575" sz="1650" spc="-75">
                <a:latin typeface="Tahoma"/>
                <a:cs typeface="Tahoma"/>
              </a:rPr>
              <a:t>=</a:t>
            </a:r>
            <a:endParaRPr baseline="7575" sz="16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78571" y="2265284"/>
            <a:ext cx="1329690" cy="499109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100" spc="60">
                <a:latin typeface="Tahoma"/>
                <a:cs typeface="Tahoma"/>
              </a:rPr>
              <a:t>(∆</a:t>
            </a:r>
            <a:r>
              <a:rPr dirty="0" sz="1100" spc="60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baseline="20833" sz="1200" spc="-37">
                <a:latin typeface="Tahoma"/>
                <a:cs typeface="Tahoma"/>
              </a:rPr>
              <a:t>2</a:t>
            </a:r>
            <a:endParaRPr baseline="20833"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baseline="7575" sz="1650" i="1">
                <a:latin typeface="Calibri"/>
                <a:cs typeface="Calibri"/>
              </a:rPr>
              <a:t>φ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95">
                <a:latin typeface="Tahoma"/>
                <a:cs typeface="Tahoma"/>
              </a:rPr>
              <a:t> </a:t>
            </a:r>
            <a:r>
              <a:rPr dirty="0" baseline="7575" sz="1650" spc="-52">
                <a:latin typeface="Lucida Sans Unicode"/>
                <a:cs typeface="Lucida Sans Unicode"/>
              </a:rPr>
              <a:t>−</a:t>
            </a:r>
            <a:r>
              <a:rPr dirty="0" baseline="7575" sz="1650" spc="-82">
                <a:latin typeface="Lucida Sans Unicode"/>
                <a:cs typeface="Lucida Sans Unicode"/>
              </a:rPr>
              <a:t> </a:t>
            </a:r>
            <a:r>
              <a:rPr dirty="0" baseline="7575" sz="1650">
                <a:latin typeface="Tahoma"/>
                <a:cs typeface="Tahoma"/>
              </a:rPr>
              <a:t>2</a:t>
            </a:r>
            <a:r>
              <a:rPr dirty="0" baseline="7575" sz="1650" i="1">
                <a:latin typeface="Calibri"/>
                <a:cs typeface="Calibri"/>
              </a:rPr>
              <a:t>φ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j</a:t>
            </a:r>
            <a:r>
              <a:rPr dirty="0" sz="800" spc="220" i="1">
                <a:latin typeface="Arial"/>
                <a:cs typeface="Arial"/>
              </a:rPr>
              <a:t> </a:t>
            </a:r>
            <a:r>
              <a:rPr dirty="0" baseline="7575" sz="1650">
                <a:latin typeface="Tahoma"/>
                <a:cs typeface="Tahoma"/>
              </a:rPr>
              <a:t>+</a:t>
            </a:r>
            <a:r>
              <a:rPr dirty="0" baseline="7575" sz="1650" spc="-82">
                <a:latin typeface="Tahoma"/>
                <a:cs typeface="Tahoma"/>
              </a:rPr>
              <a:t> </a:t>
            </a:r>
            <a:r>
              <a:rPr dirty="0" baseline="7575" sz="1650" spc="-15" i="1">
                <a:latin typeface="Calibri"/>
                <a:cs typeface="Calibri"/>
              </a:rPr>
              <a:t>φ</a:t>
            </a:r>
            <a:r>
              <a:rPr dirty="0" sz="800" spc="-10" i="1">
                <a:latin typeface="Arial"/>
                <a:cs typeface="Arial"/>
              </a:rPr>
              <a:t>i</a:t>
            </a:r>
            <a:r>
              <a:rPr dirty="0" sz="800" spc="-10" i="1">
                <a:latin typeface="Sitka Text"/>
                <a:cs typeface="Sitka Text"/>
              </a:rPr>
              <a:t>,</a:t>
            </a:r>
            <a:r>
              <a:rPr dirty="0" sz="800" spc="-10" i="1">
                <a:latin typeface="Arial"/>
                <a:cs typeface="Arial"/>
              </a:rPr>
              <a:t>j</a:t>
            </a:r>
            <a:r>
              <a:rPr dirty="0" sz="800" spc="-10">
                <a:latin typeface="Lucida Sans Unicode"/>
                <a:cs typeface="Lucida Sans Unicode"/>
              </a:rPr>
              <a:t>−</a:t>
            </a:r>
            <a:r>
              <a:rPr dirty="0" sz="800" spc="-1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16671" y="2762656"/>
            <a:ext cx="1259840" cy="0"/>
          </a:xfrm>
          <a:custGeom>
            <a:avLst/>
            <a:gdLst/>
            <a:ahLst/>
            <a:cxnLst/>
            <a:rect l="l" t="t" r="r" b="b"/>
            <a:pathLst>
              <a:path w="1259839" h="0">
                <a:moveTo>
                  <a:pt x="0" y="0"/>
                </a:moveTo>
                <a:lnTo>
                  <a:pt x="125982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227376" y="2741077"/>
            <a:ext cx="4324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60">
                <a:latin typeface="Tahoma"/>
                <a:cs typeface="Tahoma"/>
              </a:rPr>
              <a:t>(∆</a:t>
            </a:r>
            <a:r>
              <a:rPr dirty="0" sz="1100" spc="60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baseline="20833" sz="1200" spc="-37">
                <a:latin typeface="Tahoma"/>
                <a:cs typeface="Tahoma"/>
              </a:rPr>
              <a:t>2</a:t>
            </a:r>
            <a:endParaRPr baseline="20833" sz="12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109772" y="2646043"/>
            <a:ext cx="5740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H.O.T.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(a)</a:t>
            </a:r>
            <a:r>
              <a:rPr dirty="0" spc="-45"/>
              <a:t> </a:t>
            </a:r>
            <a:r>
              <a:rPr dirty="0" spc="-35"/>
              <a:t>Iteration</a:t>
            </a:r>
            <a:r>
              <a:rPr dirty="0" spc="-40"/>
              <a:t> </a:t>
            </a:r>
            <a:r>
              <a:rPr dirty="0" spc="-10"/>
              <a:t>Solution</a:t>
            </a:r>
            <a:r>
              <a:rPr dirty="0" spc="-40"/>
              <a:t> </a:t>
            </a:r>
            <a:r>
              <a:rPr dirty="0" spc="-10"/>
              <a:t>Method:</a:t>
            </a:r>
            <a:r>
              <a:rPr dirty="0" spc="90"/>
              <a:t> </a:t>
            </a:r>
            <a:r>
              <a:rPr dirty="0" spc="-60"/>
              <a:t>Gauss-</a:t>
            </a:r>
            <a:r>
              <a:rPr dirty="0" spc="-45"/>
              <a:t>Seidel </a:t>
            </a:r>
            <a:r>
              <a:rPr dirty="0" spc="-10"/>
              <a:t>Method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4764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341323"/>
            <a:ext cx="3355975" cy="784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90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system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linear </a:t>
            </a:r>
            <a:r>
              <a:rPr dirty="0" sz="1100" spc="-40">
                <a:latin typeface="Tahoma"/>
                <a:cs typeface="Tahoma"/>
              </a:rPr>
              <a:t>algebraic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written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as:</a:t>
            </a:r>
            <a:endParaRPr sz="1100">
              <a:latin typeface="Tahoma"/>
              <a:cs typeface="Tahoma"/>
            </a:endParaRPr>
          </a:p>
          <a:p>
            <a:pPr algn="r" marR="83185">
              <a:lnSpc>
                <a:spcPct val="100000"/>
              </a:lnSpc>
              <a:spcBef>
                <a:spcPts val="35"/>
              </a:spcBef>
            </a:pP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11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1</a:t>
            </a:r>
            <a:r>
              <a:rPr dirty="0" baseline="-10416" sz="12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12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2</a:t>
            </a:r>
            <a:r>
              <a:rPr dirty="0" baseline="-10416" sz="1200" spc="5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13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3</a:t>
            </a:r>
            <a:r>
              <a:rPr dirty="0" baseline="-10416" sz="1200" spc="4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1</a:t>
            </a:r>
            <a:endParaRPr baseline="-10416" sz="1200">
              <a:latin typeface="Tahoma"/>
              <a:cs typeface="Tahoma"/>
            </a:endParaRPr>
          </a:p>
          <a:p>
            <a:pPr algn="r" marL="890269" marR="83185">
              <a:lnSpc>
                <a:spcPct val="125299"/>
              </a:lnSpc>
            </a:pP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21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1</a:t>
            </a:r>
            <a:r>
              <a:rPr dirty="0" baseline="-10416" sz="12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22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2</a:t>
            </a:r>
            <a:r>
              <a:rPr dirty="0" baseline="-10416" sz="1200" spc="5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23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3</a:t>
            </a:r>
            <a:r>
              <a:rPr dirty="0" baseline="-10416" sz="1200" spc="4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2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31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1</a:t>
            </a:r>
            <a:r>
              <a:rPr dirty="0" baseline="-10416" sz="12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32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2</a:t>
            </a:r>
            <a:r>
              <a:rPr dirty="0" baseline="-10416" sz="1200" spc="5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33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3</a:t>
            </a:r>
            <a:r>
              <a:rPr dirty="0" baseline="-10416" sz="1200" spc="4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3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3</a:t>
            </a:r>
            <a:endParaRPr baseline="-10416"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3740" y="1173745"/>
            <a:ext cx="379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660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8209" y="1180576"/>
            <a:ext cx="2463800" cy="4457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r" marR="303530">
              <a:lnSpc>
                <a:spcPct val="100000"/>
              </a:lnSpc>
              <a:spcBef>
                <a:spcPts val="434"/>
              </a:spcBef>
              <a:tabLst>
                <a:tab pos="314960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baseline="-10416" sz="1200" spc="-15">
                <a:latin typeface="Tahoma"/>
                <a:cs typeface="Tahoma"/>
              </a:rPr>
              <a:t>1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baseline="-10416" sz="1200" spc="-15">
                <a:latin typeface="Tahoma"/>
                <a:cs typeface="Tahoma"/>
              </a:rPr>
              <a:t>1</a:t>
            </a:r>
            <a:r>
              <a:rPr dirty="0" baseline="-10416" sz="1200" spc="-8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baseline="-10416" sz="1200" spc="-15">
                <a:latin typeface="Tahoma"/>
                <a:cs typeface="Tahoma"/>
              </a:rPr>
              <a:t>2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baseline="-10416" sz="1200" spc="-15">
                <a:latin typeface="Tahoma"/>
                <a:cs typeface="Tahoma"/>
              </a:rPr>
              <a:t>2</a:t>
            </a:r>
            <a:r>
              <a:rPr dirty="0" baseline="-10416" sz="1200" spc="37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baseline="-10416" sz="1200" spc="-15">
                <a:latin typeface="Tahoma"/>
                <a:cs typeface="Tahoma"/>
              </a:rPr>
              <a:t>3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baseline="-10416" sz="1200" spc="-15">
                <a:latin typeface="Tahoma"/>
                <a:cs typeface="Tahoma"/>
              </a:rPr>
              <a:t>3</a:t>
            </a:r>
            <a:r>
              <a:rPr dirty="0" baseline="-10416" sz="1200" spc="37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 i="1">
                <a:latin typeface="Arial"/>
                <a:cs typeface="Arial"/>
              </a:rPr>
              <a:t>nn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18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 i="1">
                <a:latin typeface="Arial"/>
                <a:cs typeface="Arial"/>
              </a:rPr>
              <a:t>n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722" y="974101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(5)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70037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532" y="1686584"/>
            <a:ext cx="3706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equation</a:t>
            </a:r>
            <a:r>
              <a:rPr dirty="0" sz="1100" spc="-20">
                <a:latin typeface="Tahoma"/>
                <a:cs typeface="Tahoma"/>
              </a:rPr>
              <a:t> for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corresponding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unknown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3</a:t>
            </a:r>
            <a:r>
              <a:rPr dirty="0" sz="1100" spc="-20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6807" y="208316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15641" y="1889492"/>
            <a:ext cx="781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65655" y="1960561"/>
            <a:ext cx="18129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110" algn="l"/>
                <a:tab pos="865505" algn="l"/>
                <a:tab pos="1689735" algn="l"/>
              </a:tabLst>
            </a:pPr>
            <a:r>
              <a:rPr dirty="0" sz="800" spc="-50">
                <a:latin typeface="Tahoma"/>
                <a:cs typeface="Tahoma"/>
              </a:rPr>
              <a:t>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5">
                <a:latin typeface="Tahoma"/>
                <a:cs typeface="Tahoma"/>
              </a:rPr>
              <a:t>12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5">
                <a:latin typeface="Tahoma"/>
                <a:cs typeface="Tahoma"/>
              </a:rPr>
              <a:t>13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5">
                <a:latin typeface="Tahoma"/>
                <a:cs typeface="Tahoma"/>
              </a:rPr>
              <a:t>1</a:t>
            </a:r>
            <a:r>
              <a:rPr dirty="0" sz="800" spc="-25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4078" y="1902446"/>
            <a:ext cx="1956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305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−</a:t>
            </a:r>
            <a:r>
              <a:rPr dirty="0" sz="1100" spc="360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14" i="1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10" i="1">
                <a:latin typeface="Arial"/>
                <a:cs typeface="Arial"/>
              </a:rPr>
              <a:t> 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20" i="1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05" i="1">
                <a:latin typeface="Arial"/>
                <a:cs typeface="Arial"/>
              </a:rPr>
              <a:t> 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30" i="1">
                <a:latin typeface="Arial"/>
                <a:cs typeface="Arial"/>
              </a:rPr>
              <a:t>  </a:t>
            </a: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9252" y="1889492"/>
            <a:ext cx="90614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0105" algn="l"/>
              </a:tabLst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7525" y="1946705"/>
            <a:ext cx="2631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27760" algn="l"/>
                <a:tab pos="1621155" algn="l"/>
                <a:tab pos="2449195" algn="l"/>
              </a:tabLst>
            </a:pPr>
            <a:r>
              <a:rPr dirty="0" baseline="-22727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k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280">
                <a:latin typeface="Tahoma"/>
                <a:cs typeface="Tahoma"/>
              </a:rPr>
              <a:t> </a:t>
            </a:r>
            <a:r>
              <a:rPr dirty="0" baseline="-22727" sz="1650">
                <a:latin typeface="Tahoma"/>
                <a:cs typeface="Tahoma"/>
              </a:rPr>
              <a:t>=</a:t>
            </a:r>
            <a:r>
              <a:rPr dirty="0" baseline="-22727" sz="1650" spc="442">
                <a:latin typeface="Tahoma"/>
                <a:cs typeface="Tahoma"/>
              </a:rPr>
              <a:t> </a:t>
            </a:r>
            <a:r>
              <a:rPr dirty="0" u="sng" baseline="3472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3472" sz="1200" spc="-7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baseline="3472" sz="12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3472" sz="1200" spc="-7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3</a:t>
            </a:r>
            <a:r>
              <a:rPr dirty="0" u="sng" baseline="3472" sz="12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6944" sz="120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baseline="6944" sz="1200" spc="7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6944"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5093" y="1790228"/>
            <a:ext cx="179832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721485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15412" y="2120797"/>
            <a:ext cx="250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11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00899" y="255301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1618" y="2416554"/>
            <a:ext cx="5041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k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275">
                <a:latin typeface="Tahoma"/>
                <a:cs typeface="Tahoma"/>
              </a:rPr>
              <a:t> </a:t>
            </a:r>
            <a:r>
              <a:rPr dirty="0" baseline="-22727" sz="1650" spc="-75">
                <a:latin typeface="Tahoma"/>
                <a:cs typeface="Tahoma"/>
              </a:rPr>
              <a:t>=</a:t>
            </a:r>
            <a:endParaRPr baseline="-22727" sz="16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9185" y="2176943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9747" y="2388830"/>
            <a:ext cx="511809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1160" algn="l"/>
              </a:tabLst>
            </a:pPr>
            <a:r>
              <a:rPr dirty="0" sz="800" spc="-50">
                <a:latin typeface="Tahoma"/>
                <a:cs typeface="Tahoma"/>
              </a:rPr>
              <a:t>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5">
                <a:latin typeface="Tahoma"/>
                <a:cs typeface="Tahoma"/>
              </a:rPr>
              <a:t>21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58974" y="2309785"/>
            <a:ext cx="22415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46261" y="240892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9537" y="2388830"/>
            <a:ext cx="1333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Tahoma"/>
                <a:cs typeface="Tahoma"/>
              </a:rPr>
              <a:t>23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89999" y="2317774"/>
            <a:ext cx="781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77299" y="240636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24122" y="2388830"/>
            <a:ext cx="1352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Tahoma"/>
                <a:cs typeface="Tahoma"/>
              </a:rPr>
              <a:t>2</a:t>
            </a:r>
            <a:r>
              <a:rPr dirty="0" sz="800" spc="-25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18170" y="2330728"/>
            <a:ext cx="2112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8365" algn="l"/>
              </a:tabLst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35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−</a:t>
            </a:r>
            <a:r>
              <a:rPr dirty="0" sz="1100" spc="484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05" i="1">
                <a:latin typeface="Arial"/>
                <a:cs typeface="Arial"/>
              </a:rPr>
              <a:t>  </a:t>
            </a:r>
            <a:r>
              <a:rPr dirty="0" sz="1100" spc="-50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05" i="1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14" i="1">
                <a:latin typeface="Arial"/>
                <a:cs typeface="Arial"/>
              </a:rPr>
              <a:t> 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40" i="1">
                <a:latin typeface="Arial"/>
                <a:cs typeface="Arial"/>
              </a:rPr>
              <a:t>  </a:t>
            </a: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05326" y="2317774"/>
            <a:ext cx="90805" cy="23177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 indent="12700">
              <a:lnSpc>
                <a:spcPct val="69300"/>
              </a:lnSpc>
              <a:spcBef>
                <a:spcPts val="390"/>
              </a:spcBef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spc="500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85260" y="2176943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30870" y="2591422"/>
            <a:ext cx="2250440" cy="0"/>
          </a:xfrm>
          <a:custGeom>
            <a:avLst/>
            <a:gdLst/>
            <a:ahLst/>
            <a:cxnLst/>
            <a:rect l="l" t="t" r="r" b="b"/>
            <a:pathLst>
              <a:path w="2250440" h="0">
                <a:moveTo>
                  <a:pt x="0" y="0"/>
                </a:moveTo>
                <a:lnTo>
                  <a:pt x="22498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627464" y="2590633"/>
            <a:ext cx="250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22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63472" y="302285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4191" y="2886391"/>
            <a:ext cx="5041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k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275">
                <a:latin typeface="Tahoma"/>
                <a:cs typeface="Tahoma"/>
              </a:rPr>
              <a:t> </a:t>
            </a:r>
            <a:r>
              <a:rPr dirty="0" baseline="-22727" sz="1650" spc="-75">
                <a:latin typeface="Tahoma"/>
                <a:cs typeface="Tahoma"/>
              </a:rPr>
              <a:t>=</a:t>
            </a:r>
            <a:endParaRPr baseline="-22727" sz="16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52333" y="285867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81759" y="2646780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80743" y="2800577"/>
            <a:ext cx="476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365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−</a:t>
            </a:r>
            <a:r>
              <a:rPr dirty="0" sz="1100" spc="495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31085" y="2858679"/>
            <a:ext cx="1333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Tahoma"/>
                <a:cs typeface="Tahoma"/>
              </a:rPr>
              <a:t>31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21547" y="2779635"/>
            <a:ext cx="22415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08847" y="2878771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62123" y="2858679"/>
            <a:ext cx="1333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Tahoma"/>
                <a:cs typeface="Tahoma"/>
              </a:rPr>
              <a:t>32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52585" y="2779635"/>
            <a:ext cx="22415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39885" y="2878771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24122" y="2858679"/>
            <a:ext cx="1352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Tahoma"/>
                <a:cs typeface="Tahoma"/>
              </a:rPr>
              <a:t>3</a:t>
            </a:r>
            <a:r>
              <a:rPr dirty="0" sz="800" spc="-25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44954" y="2800577"/>
            <a:ext cx="16859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4485" algn="l"/>
                <a:tab pos="955675" algn="l"/>
              </a:tabLst>
            </a:pPr>
            <a:r>
              <a:rPr dirty="0" sz="1100" spc="-50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10" i="1">
                <a:latin typeface="Arial"/>
                <a:cs typeface="Arial"/>
              </a:rPr>
              <a:t>  </a:t>
            </a:r>
            <a:r>
              <a:rPr dirty="0" sz="1100" spc="-60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45" i="1">
                <a:latin typeface="Arial"/>
                <a:cs typeface="Arial"/>
              </a:rPr>
              <a:t>  </a:t>
            </a: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05326" y="2787623"/>
            <a:ext cx="90805" cy="23177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 indent="12700">
              <a:lnSpc>
                <a:spcPct val="69300"/>
              </a:lnSpc>
              <a:spcBef>
                <a:spcPts val="390"/>
              </a:spcBef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spc="500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85260" y="2646793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493443" y="3061271"/>
            <a:ext cx="2387600" cy="0"/>
          </a:xfrm>
          <a:custGeom>
            <a:avLst/>
            <a:gdLst/>
            <a:ahLst/>
            <a:cxnLst/>
            <a:rect l="l" t="t" r="r" b="b"/>
            <a:pathLst>
              <a:path w="2387600" h="0">
                <a:moveTo>
                  <a:pt x="0" y="0"/>
                </a:moveTo>
                <a:lnTo>
                  <a:pt x="23872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558757" y="3060482"/>
            <a:ext cx="250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33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Gauss-</a:t>
            </a:r>
            <a:r>
              <a:rPr dirty="0" spc="-35"/>
              <a:t>Seidel</a:t>
            </a:r>
            <a:r>
              <a:rPr dirty="0" spc="-75"/>
              <a:t> </a:t>
            </a:r>
            <a:r>
              <a:rPr dirty="0"/>
              <a:t>Method:</a:t>
            </a:r>
            <a:r>
              <a:rPr dirty="0" spc="40"/>
              <a:t>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487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481417"/>
            <a:ext cx="23552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last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unknown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calculated</a:t>
            </a:r>
            <a:r>
              <a:rPr dirty="0" sz="1100" spc="-25">
                <a:latin typeface="Tahoma"/>
                <a:cs typeface="Tahoma"/>
              </a:rPr>
              <a:t> as: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683" y="933144"/>
            <a:ext cx="812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401" y="804353"/>
            <a:ext cx="5041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k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275">
                <a:latin typeface="Tahoma"/>
                <a:cs typeface="Tahoma"/>
              </a:rPr>
              <a:t> </a:t>
            </a:r>
            <a:r>
              <a:rPr dirty="0" baseline="-22727" sz="1650" spc="-75">
                <a:latin typeface="Tahoma"/>
                <a:cs typeface="Tahoma"/>
              </a:rPr>
              <a:t>=</a:t>
            </a:r>
            <a:endParaRPr baseline="-22727"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4411" y="563688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1531" y="775587"/>
            <a:ext cx="5187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4335" algn="l"/>
              </a:tabLst>
            </a:pPr>
            <a:r>
              <a:rPr dirty="0" sz="800" spc="-50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4941" y="79566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217" y="775587"/>
            <a:ext cx="1365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7641" y="696530"/>
            <a:ext cx="858519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7065" algn="l"/>
              </a:tabLst>
            </a:pP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79420" y="79566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9954" y="717472"/>
            <a:ext cx="2079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5350" algn="l"/>
                <a:tab pos="1529715" algn="l"/>
              </a:tabLst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375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−</a:t>
            </a:r>
            <a:r>
              <a:rPr dirty="0" sz="1100" spc="484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20" i="1">
                <a:latin typeface="Arial"/>
                <a:cs typeface="Arial"/>
              </a:rPr>
              <a:t>  </a:t>
            </a:r>
            <a:r>
              <a:rPr dirty="0" sz="1100" spc="-50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25" i="1">
                <a:latin typeface="Arial"/>
                <a:cs typeface="Arial"/>
              </a:rPr>
              <a:t>  </a:t>
            </a:r>
            <a:r>
              <a:rPr dirty="0" sz="1100" spc="-50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5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5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9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63658" y="775587"/>
            <a:ext cx="3073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latin typeface="Arial"/>
                <a:cs typeface="Arial"/>
              </a:rPr>
              <a:t>n</a:t>
            </a:r>
            <a:r>
              <a:rPr dirty="0" sz="800" spc="-10" i="1">
                <a:latin typeface="Sitka Text"/>
                <a:cs typeface="Sitka Text"/>
              </a:rPr>
              <a:t>,</a:t>
            </a:r>
            <a:r>
              <a:rPr dirty="0" sz="800" spc="-10" i="1">
                <a:latin typeface="Arial"/>
                <a:cs typeface="Arial"/>
              </a:rPr>
              <a:t>n</a:t>
            </a:r>
            <a:r>
              <a:rPr dirty="0" sz="800" spc="-10">
                <a:latin typeface="Lucida Sans Unicode"/>
                <a:cs typeface="Lucida Sans Unicode"/>
              </a:rPr>
              <a:t>−</a:t>
            </a:r>
            <a:r>
              <a:rPr dirty="0" sz="800" spc="-1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1719" y="717472"/>
            <a:ext cx="8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15600" y="696530"/>
            <a:ext cx="236854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869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69"/>
              </a:lnSpc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Lucida Sans Unicode"/>
                <a:cs typeface="Lucida Sans Unicode"/>
              </a:rPr>
              <a:t>−</a:t>
            </a:r>
            <a:r>
              <a:rPr dirty="0" sz="800" spc="-25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2974" y="563688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22654" y="978166"/>
            <a:ext cx="2706370" cy="0"/>
          </a:xfrm>
          <a:custGeom>
            <a:avLst/>
            <a:gdLst/>
            <a:ahLst/>
            <a:cxnLst/>
            <a:rect l="l" t="t" r="r" b="b"/>
            <a:pathLst>
              <a:path w="2706370" h="0">
                <a:moveTo>
                  <a:pt x="0" y="0"/>
                </a:moveTo>
                <a:lnTo>
                  <a:pt x="270576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544610" y="977378"/>
            <a:ext cx="254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nn</a:t>
            </a:r>
            <a:endParaRPr sz="8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76222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77532" y="1192782"/>
            <a:ext cx="21869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general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form,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55" i="1">
                <a:latin typeface="Arial"/>
                <a:cs typeface="Arial"/>
              </a:rPr>
              <a:t>i</a:t>
            </a:r>
            <a:r>
              <a:rPr dirty="0" baseline="27777" sz="1200" spc="82" i="1">
                <a:latin typeface="Arial"/>
                <a:cs typeface="Arial"/>
              </a:rPr>
              <a:t>th</a:t>
            </a:r>
            <a:r>
              <a:rPr dirty="0" baseline="27777" sz="1200" spc="225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iteration: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2512" y="1532584"/>
            <a:ext cx="22415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67408" y="1459800"/>
            <a:ext cx="97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38986" y="1518766"/>
            <a:ext cx="51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469771" y="167012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19" h="0">
                <a:moveTo>
                  <a:pt x="0" y="0"/>
                </a:moveTo>
                <a:lnTo>
                  <a:pt x="13421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50518" y="1553526"/>
            <a:ext cx="6242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57505" algn="l"/>
              </a:tabLst>
            </a:pP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baseline="-24305" sz="1200" spc="-37" i="1">
                <a:latin typeface="Arial"/>
                <a:cs typeface="Arial"/>
              </a:rPr>
              <a:t>i</a:t>
            </a:r>
            <a:r>
              <a:rPr dirty="0" baseline="-24305" sz="12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114">
                <a:latin typeface="Tahoma"/>
                <a:cs typeface="Tahoma"/>
              </a:rPr>
              <a:t> </a:t>
            </a:r>
            <a:r>
              <a:rPr dirty="0" baseline="-37878" sz="1650" spc="-75" i="1">
                <a:latin typeface="Arial"/>
                <a:cs typeface="Arial"/>
              </a:rPr>
              <a:t>a</a:t>
            </a:r>
            <a:endParaRPr baseline="-37878" sz="1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23657" y="1707526"/>
            <a:ext cx="768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ii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75815" y="1275040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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11871" y="1524430"/>
            <a:ext cx="307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2626" sz="1650" spc="-382">
                <a:latin typeface="Lucida Sans Unicode"/>
                <a:cs typeface="Lucida Sans Unicode"/>
              </a:rPr>
              <a:t>—</a:t>
            </a:r>
            <a:r>
              <a:rPr dirty="0" baseline="-12626" sz="1650" spc="-157">
                <a:latin typeface="Lucida Sans Unicode"/>
                <a:cs typeface="Lucida Sans Unicode"/>
              </a:rPr>
              <a:t> </a:t>
            </a:r>
            <a:r>
              <a:rPr dirty="0" sz="1100" spc="-425">
                <a:latin typeface="Lucida Sans Unicode"/>
                <a:cs typeface="Lucida Sans Unicode"/>
              </a:rPr>
              <a:t>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81695" y="1417661"/>
            <a:ext cx="1987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−</a:t>
            </a:r>
            <a:r>
              <a:rPr dirty="0" sz="800" spc="-25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68170" y="1421903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80552" y="1759507"/>
            <a:ext cx="2012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30" i="1">
                <a:latin typeface="Arial"/>
                <a:cs typeface="Arial"/>
              </a:rPr>
              <a:t>j</a:t>
            </a:r>
            <a:r>
              <a:rPr dirty="0" sz="800" spc="3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08555" y="1458161"/>
            <a:ext cx="92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75128" y="1517140"/>
            <a:ext cx="800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ij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221255" y="1670126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 h="0">
                <a:moveTo>
                  <a:pt x="0" y="0"/>
                </a:moveTo>
                <a:lnTo>
                  <a:pt x="1364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209698" y="1648560"/>
            <a:ext cx="92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76271" y="1707526"/>
            <a:ext cx="768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ii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91385" y="1358174"/>
            <a:ext cx="39624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1305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61907" y="1532584"/>
            <a:ext cx="22415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k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59913" y="1553526"/>
            <a:ext cx="4959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49885" algn="l"/>
              </a:tabLst>
            </a:pP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baseline="-24305" sz="1200" spc="-37" i="1">
                <a:latin typeface="Arial"/>
                <a:cs typeface="Arial"/>
              </a:rPr>
              <a:t>j</a:t>
            </a:r>
            <a:r>
              <a:rPr dirty="0" baseline="-24305" sz="1200" i="1">
                <a:latin typeface="Arial"/>
                <a:cs typeface="Arial"/>
              </a:rPr>
              <a:t>	</a:t>
            </a:r>
            <a:r>
              <a:rPr dirty="0" sz="1100" spc="-5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54616" y="1417661"/>
            <a:ext cx="812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83166" y="1421903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35897" y="1759507"/>
            <a:ext cx="3206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70" i="1">
                <a:latin typeface="Arial"/>
                <a:cs typeface="Arial"/>
              </a:rPr>
              <a:t>j</a:t>
            </a:r>
            <a:r>
              <a:rPr dirty="0" sz="800" spc="70">
                <a:latin typeface="Tahoma"/>
                <a:cs typeface="Tahoma"/>
              </a:rPr>
              <a:t>=</a:t>
            </a:r>
            <a:r>
              <a:rPr dirty="0" sz="800" spc="70" i="1">
                <a:latin typeface="Arial"/>
                <a:cs typeface="Arial"/>
              </a:rPr>
              <a:t>i</a:t>
            </a:r>
            <a:r>
              <a:rPr dirty="0" sz="800" spc="-14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70821" y="1458161"/>
            <a:ext cx="92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37407" y="1517140"/>
            <a:ext cx="800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ij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83521" y="1670126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 h="0">
                <a:moveTo>
                  <a:pt x="0" y="0"/>
                </a:moveTo>
                <a:lnTo>
                  <a:pt x="1364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371964" y="1648560"/>
            <a:ext cx="92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38537" y="1707526"/>
            <a:ext cx="768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ii</a:t>
            </a:r>
            <a:endParaRPr sz="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53651" y="1358174"/>
            <a:ext cx="39624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1305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47579" y="1553526"/>
            <a:ext cx="8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11473" y="1533650"/>
            <a:ext cx="90805" cy="23876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 indent="12700">
              <a:lnSpc>
                <a:spcPct val="75100"/>
              </a:lnSpc>
              <a:spcBef>
                <a:spcPts val="335"/>
              </a:spcBef>
            </a:pPr>
            <a:r>
              <a:rPr dirty="0" sz="800" spc="-50" i="1">
                <a:latin typeface="Arial"/>
                <a:cs typeface="Arial"/>
              </a:rPr>
              <a:t>k</a:t>
            </a:r>
            <a:r>
              <a:rPr dirty="0" sz="800" spc="500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91407" y="1275040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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91407" y="1524430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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279722" y="1553526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(6)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64832" y="1915614"/>
            <a:ext cx="3847465" cy="13182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dirty="0" sz="1100" spc="-60">
                <a:latin typeface="Tahoma"/>
                <a:cs typeface="Tahoma"/>
              </a:rPr>
              <a:t>where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13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1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spc="-30">
                <a:latin typeface="Tahoma"/>
                <a:cs typeface="Tahoma"/>
              </a:rPr>
              <a:t>2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60" i="1">
                <a:latin typeface="Calibri"/>
                <a:cs typeface="Calibri"/>
              </a:rPr>
              <a:t> </a:t>
            </a:r>
            <a:r>
              <a:rPr dirty="0" sz="1100" spc="-30">
                <a:latin typeface="Tahoma"/>
                <a:cs typeface="Tahoma"/>
              </a:rPr>
              <a:t>3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6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55" i="1">
                <a:latin typeface="Calibri"/>
                <a:cs typeface="Calibri"/>
              </a:rPr>
              <a:t> </a:t>
            </a:r>
            <a:r>
              <a:rPr dirty="0" sz="1100" spc="-50" i="1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50800" marR="17780">
              <a:lnSpc>
                <a:spcPct val="102600"/>
              </a:lnSpc>
              <a:spcBef>
                <a:spcPts val="295"/>
              </a:spcBef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Gauss-</a:t>
            </a:r>
            <a:r>
              <a:rPr dirty="0" sz="1100" spc="-35">
                <a:latin typeface="Tahoma"/>
                <a:cs typeface="Tahoma"/>
              </a:rPr>
              <a:t>Seidel method,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newly </a:t>
            </a:r>
            <a:r>
              <a:rPr dirty="0" sz="1100" spc="-30">
                <a:latin typeface="Tahoma"/>
                <a:cs typeface="Tahoma"/>
              </a:rPr>
              <a:t>calculated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used </a:t>
            </a:r>
            <a:r>
              <a:rPr dirty="0" sz="1100" spc="-10">
                <a:latin typeface="Tahoma"/>
                <a:cs typeface="Tahoma"/>
              </a:rPr>
              <a:t>immediately.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Thus,</a:t>
            </a:r>
            <a:r>
              <a:rPr dirty="0" sz="1100" spc="-45">
                <a:latin typeface="Tahoma"/>
                <a:cs typeface="Tahoma"/>
              </a:rPr>
              <a:t> one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iteration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proceeds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as:</a:t>
            </a:r>
            <a:endParaRPr sz="1100">
              <a:latin typeface="Tahoma"/>
              <a:cs typeface="Tahoma"/>
            </a:endParaRPr>
          </a:p>
          <a:p>
            <a:pPr marL="1003300">
              <a:lnSpc>
                <a:spcPts val="1195"/>
              </a:lnSpc>
              <a:spcBef>
                <a:spcPts val="90"/>
              </a:spcBef>
            </a:pPr>
            <a:r>
              <a:rPr dirty="0" baseline="-22727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k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180">
                <a:latin typeface="Tahoma"/>
                <a:cs typeface="Tahoma"/>
              </a:rPr>
              <a:t> </a:t>
            </a:r>
            <a:r>
              <a:rPr dirty="0" baseline="-22727" sz="1650">
                <a:latin typeface="Lucida Sans Unicode"/>
                <a:cs typeface="Lucida Sans Unicode"/>
              </a:rPr>
              <a:t>→</a:t>
            </a:r>
            <a:r>
              <a:rPr dirty="0" baseline="-22727" sz="1650" spc="44">
                <a:latin typeface="Lucida Sans Unicode"/>
                <a:cs typeface="Lucida Sans Unicode"/>
              </a:rPr>
              <a:t> </a:t>
            </a:r>
            <a:r>
              <a:rPr dirty="0" baseline="-22727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k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185">
                <a:latin typeface="Tahoma"/>
                <a:cs typeface="Tahoma"/>
              </a:rPr>
              <a:t> </a:t>
            </a:r>
            <a:r>
              <a:rPr dirty="0" baseline="-22727" sz="1650">
                <a:latin typeface="Lucida Sans Unicode"/>
                <a:cs typeface="Lucida Sans Unicode"/>
              </a:rPr>
              <a:t>→</a:t>
            </a:r>
            <a:r>
              <a:rPr dirty="0" baseline="-22727" sz="1650" spc="37">
                <a:latin typeface="Lucida Sans Unicode"/>
                <a:cs typeface="Lucida Sans Unicode"/>
              </a:rPr>
              <a:t> </a:t>
            </a:r>
            <a:r>
              <a:rPr dirty="0" baseline="-22727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k</a:t>
            </a:r>
            <a:r>
              <a:rPr dirty="0" sz="800">
                <a:latin typeface="Tahoma"/>
                <a:cs typeface="Tahoma"/>
              </a:rPr>
              <a:t>+1</a:t>
            </a:r>
            <a:r>
              <a:rPr dirty="0" sz="800" spc="185">
                <a:latin typeface="Tahoma"/>
                <a:cs typeface="Tahoma"/>
              </a:rPr>
              <a:t> </a:t>
            </a:r>
            <a:r>
              <a:rPr dirty="0" baseline="-22727" sz="1650">
                <a:latin typeface="Lucida Sans Unicode"/>
                <a:cs typeface="Lucida Sans Unicode"/>
              </a:rPr>
              <a:t>→</a:t>
            </a:r>
            <a:r>
              <a:rPr dirty="0" baseline="-22727" sz="1650" spc="44">
                <a:latin typeface="Lucida Sans Unicode"/>
                <a:cs typeface="Lucida Sans Unicode"/>
              </a:rPr>
              <a:t> </a:t>
            </a:r>
            <a:r>
              <a:rPr dirty="0" baseline="-22727" sz="1650" spc="-600">
                <a:latin typeface="Lucida Sans Unicode"/>
                <a:cs typeface="Lucida Sans Unicode"/>
              </a:rPr>
              <a:t>·</a:t>
            </a:r>
            <a:r>
              <a:rPr dirty="0" baseline="-22727" sz="1650" spc="-195">
                <a:latin typeface="Lucida Sans Unicode"/>
                <a:cs typeface="Lucida Sans Unicode"/>
              </a:rPr>
              <a:t> </a:t>
            </a:r>
            <a:r>
              <a:rPr dirty="0" baseline="-22727" sz="1650" spc="-600">
                <a:latin typeface="Lucida Sans Unicode"/>
                <a:cs typeface="Lucida Sans Unicode"/>
              </a:rPr>
              <a:t>·</a:t>
            </a:r>
            <a:r>
              <a:rPr dirty="0" baseline="-22727" sz="1650" spc="-179">
                <a:latin typeface="Lucida Sans Unicode"/>
                <a:cs typeface="Lucida Sans Unicode"/>
              </a:rPr>
              <a:t> </a:t>
            </a:r>
            <a:r>
              <a:rPr dirty="0" baseline="-22727" sz="1650" spc="-600">
                <a:latin typeface="Lucida Sans Unicode"/>
                <a:cs typeface="Lucida Sans Unicode"/>
              </a:rPr>
              <a:t>·</a:t>
            </a:r>
            <a:r>
              <a:rPr dirty="0" baseline="-22727" sz="1650" spc="44">
                <a:latin typeface="Lucida Sans Unicode"/>
                <a:cs typeface="Lucida Sans Unicode"/>
              </a:rPr>
              <a:t> </a:t>
            </a:r>
            <a:r>
              <a:rPr dirty="0" baseline="-22727" sz="1650">
                <a:latin typeface="Lucida Sans Unicode"/>
                <a:cs typeface="Lucida Sans Unicode"/>
              </a:rPr>
              <a:t>→</a:t>
            </a:r>
            <a:r>
              <a:rPr dirty="0" baseline="-22727" sz="1650" spc="44">
                <a:latin typeface="Lucida Sans Unicode"/>
                <a:cs typeface="Lucida Sans Unicode"/>
              </a:rPr>
              <a:t> </a:t>
            </a:r>
            <a:r>
              <a:rPr dirty="0" baseline="-22727" sz="1650" spc="-30" i="1">
                <a:latin typeface="Arial"/>
                <a:cs typeface="Arial"/>
              </a:rPr>
              <a:t>x</a:t>
            </a:r>
            <a:r>
              <a:rPr dirty="0" sz="800" spc="-20" i="1">
                <a:latin typeface="Arial"/>
                <a:cs typeface="Arial"/>
              </a:rPr>
              <a:t>k</a:t>
            </a:r>
            <a:r>
              <a:rPr dirty="0" sz="800" spc="-20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  <a:p>
            <a:pPr marL="1066800">
              <a:lnSpc>
                <a:spcPts val="835"/>
              </a:lnSpc>
              <a:tabLst>
                <a:tab pos="1563370" algn="l"/>
                <a:tab pos="2060575" algn="l"/>
                <a:tab pos="2934335" algn="l"/>
              </a:tabLst>
            </a:pPr>
            <a:r>
              <a:rPr dirty="0" sz="800" spc="-50">
                <a:latin typeface="Tahoma"/>
                <a:cs typeface="Tahoma"/>
              </a:rPr>
              <a:t>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>
                <a:latin typeface="Tahoma"/>
                <a:cs typeface="Tahoma"/>
              </a:rPr>
              <a:t>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>
                <a:latin typeface="Tahoma"/>
                <a:cs typeface="Tahoma"/>
              </a:rPr>
              <a:t>3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3472" sz="1200" spc="-75" i="1">
                <a:latin typeface="Arial"/>
                <a:cs typeface="Arial"/>
              </a:rPr>
              <a:t>n</a:t>
            </a:r>
            <a:endParaRPr baseline="3472"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process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repeated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until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solution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converges.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7" name="object 5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52726"/>
            <a:ext cx="65265" cy="6526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634767"/>
            <a:ext cx="65265" cy="65265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3125165"/>
            <a:ext cx="65265" cy="6526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(b)</a:t>
            </a:r>
            <a:r>
              <a:rPr dirty="0" spc="-65"/>
              <a:t> </a:t>
            </a:r>
            <a:r>
              <a:rPr dirty="0"/>
              <a:t>Direct</a:t>
            </a:r>
            <a:r>
              <a:rPr dirty="0" spc="-60"/>
              <a:t> </a:t>
            </a:r>
            <a:r>
              <a:rPr dirty="0" spc="-10"/>
              <a:t>Solution</a:t>
            </a:r>
            <a:r>
              <a:rPr dirty="0" spc="-65"/>
              <a:t> </a:t>
            </a:r>
            <a:r>
              <a:rPr dirty="0" spc="-10"/>
              <a:t>Method:</a:t>
            </a:r>
            <a:r>
              <a:rPr dirty="0" spc="60"/>
              <a:t> </a:t>
            </a:r>
            <a:r>
              <a:rPr dirty="0" spc="-40"/>
              <a:t>Gauss</a:t>
            </a:r>
            <a:r>
              <a:rPr dirty="0" spc="-60"/>
              <a:t> </a:t>
            </a:r>
            <a:r>
              <a:rPr dirty="0" spc="-10"/>
              <a:t>Elimination</a:t>
            </a:r>
            <a:r>
              <a:rPr dirty="0" spc="-65"/>
              <a:t> </a:t>
            </a:r>
            <a:r>
              <a:rPr dirty="0" spc="-10"/>
              <a:t>Method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1095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402537"/>
            <a:ext cx="3355975" cy="828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90269" marR="30480" indent="-852805">
              <a:lnSpc>
                <a:spcPct val="121500"/>
              </a:lnSpc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system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linear </a:t>
            </a:r>
            <a:r>
              <a:rPr dirty="0" sz="1100" spc="-40">
                <a:latin typeface="Tahoma"/>
                <a:cs typeface="Tahoma"/>
              </a:rPr>
              <a:t>algebraic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equations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written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5">
                <a:latin typeface="Tahoma"/>
                <a:cs typeface="Tahoma"/>
              </a:rPr>
              <a:t>as: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11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1</a:t>
            </a:r>
            <a:r>
              <a:rPr dirty="0" baseline="-10416" sz="12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12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2</a:t>
            </a:r>
            <a:r>
              <a:rPr dirty="0" baseline="-10416" sz="1200" spc="5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13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3</a:t>
            </a:r>
            <a:r>
              <a:rPr dirty="0" baseline="-10416" sz="1200" spc="4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 i="1">
                <a:latin typeface="Arial"/>
                <a:cs typeface="Arial"/>
              </a:rPr>
              <a:t>b</a:t>
            </a:r>
            <a:r>
              <a:rPr dirty="0" baseline="-10416" sz="1200" spc="-52">
                <a:latin typeface="Tahoma"/>
                <a:cs typeface="Tahoma"/>
              </a:rPr>
              <a:t>1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21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1</a:t>
            </a:r>
            <a:r>
              <a:rPr dirty="0" baseline="-10416" sz="12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22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2</a:t>
            </a:r>
            <a:r>
              <a:rPr dirty="0" baseline="-10416" sz="1200" spc="5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23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3</a:t>
            </a:r>
            <a:r>
              <a:rPr dirty="0" baseline="-10416" sz="1200" spc="4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 i="1">
                <a:latin typeface="Arial"/>
                <a:cs typeface="Arial"/>
              </a:rPr>
              <a:t>b</a:t>
            </a:r>
            <a:r>
              <a:rPr dirty="0" baseline="-10416" sz="1200" spc="-52">
                <a:latin typeface="Tahoma"/>
                <a:cs typeface="Tahoma"/>
              </a:rPr>
              <a:t>2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31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1</a:t>
            </a:r>
            <a:r>
              <a:rPr dirty="0" baseline="-10416" sz="120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32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2</a:t>
            </a:r>
            <a:r>
              <a:rPr dirty="0" baseline="-10416" sz="1200" spc="5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>
                <a:latin typeface="Tahoma"/>
                <a:cs typeface="Tahoma"/>
              </a:rPr>
              <a:t>33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0416" sz="1200" spc="-30">
                <a:latin typeface="Tahoma"/>
                <a:cs typeface="Tahoma"/>
              </a:rPr>
              <a:t>3</a:t>
            </a:r>
            <a:r>
              <a:rPr dirty="0" baseline="-10416" sz="1200" spc="4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3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 i="1">
                <a:latin typeface="Arial"/>
                <a:cs typeface="Arial"/>
              </a:rPr>
              <a:t>b</a:t>
            </a:r>
            <a:r>
              <a:rPr dirty="0" baseline="-10416" sz="1200" spc="-52">
                <a:latin typeface="Tahoma"/>
                <a:cs typeface="Tahoma"/>
              </a:rPr>
              <a:t>3</a:t>
            </a:r>
            <a:endParaRPr baseline="-10416"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3740" y="1279091"/>
            <a:ext cx="379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660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8209" y="1285923"/>
            <a:ext cx="2463800" cy="4457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r" marR="303530">
              <a:lnSpc>
                <a:spcPct val="100000"/>
              </a:lnSpc>
              <a:spcBef>
                <a:spcPts val="434"/>
              </a:spcBef>
              <a:tabLst>
                <a:tab pos="314960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baseline="-10416" sz="1200" spc="-15">
                <a:latin typeface="Tahoma"/>
                <a:cs typeface="Tahoma"/>
              </a:rPr>
              <a:t>1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baseline="-10416" sz="1200" spc="-15">
                <a:latin typeface="Tahoma"/>
                <a:cs typeface="Tahoma"/>
              </a:rPr>
              <a:t>1</a:t>
            </a:r>
            <a:r>
              <a:rPr dirty="0" baseline="-10416" sz="1200" spc="-8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baseline="-10416" sz="1200" spc="-15">
                <a:latin typeface="Tahoma"/>
                <a:cs typeface="Tahoma"/>
              </a:rPr>
              <a:t>2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baseline="-10416" sz="1200" spc="-15">
                <a:latin typeface="Tahoma"/>
                <a:cs typeface="Tahoma"/>
              </a:rPr>
              <a:t>2</a:t>
            </a:r>
            <a:r>
              <a:rPr dirty="0" baseline="-10416" sz="1200" spc="37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baseline="-10416" sz="1200" spc="-15">
                <a:latin typeface="Tahoma"/>
                <a:cs typeface="Tahoma"/>
              </a:rPr>
              <a:t>3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baseline="-10416" sz="1200" spc="-15">
                <a:latin typeface="Tahoma"/>
                <a:cs typeface="Tahoma"/>
              </a:rPr>
              <a:t>3</a:t>
            </a:r>
            <a:r>
              <a:rPr dirty="0" baseline="-10416" sz="1200" spc="37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 i="1">
                <a:latin typeface="Arial"/>
                <a:cs typeface="Arial"/>
              </a:rPr>
              <a:t>nn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18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 i="1">
                <a:latin typeface="Arial"/>
                <a:cs typeface="Arial"/>
              </a:rPr>
              <a:t>n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722" y="1079460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(7)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64677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1881224"/>
            <a:ext cx="3197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system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first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written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matrix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form: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[</a:t>
            </a:r>
            <a:r>
              <a:rPr dirty="0" sz="1100" spc="-90" i="1">
                <a:latin typeface="Arial"/>
                <a:cs typeface="Arial"/>
              </a:rPr>
              <a:t>A</a:t>
            </a:r>
            <a:r>
              <a:rPr dirty="0" sz="1100" spc="-90">
                <a:latin typeface="Tahoma"/>
                <a:cs typeface="Tahoma"/>
              </a:rPr>
              <a:t>][</a:t>
            </a:r>
            <a:r>
              <a:rPr dirty="0" sz="1100" spc="-90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120">
                <a:latin typeface="Tahoma"/>
                <a:cs typeface="Tahoma"/>
              </a:rPr>
              <a:t>]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[</a:t>
            </a:r>
            <a:r>
              <a:rPr dirty="0" sz="1100" spc="-45" i="1">
                <a:latin typeface="Arial"/>
                <a:cs typeface="Arial"/>
              </a:rPr>
              <a:t>b</a:t>
            </a:r>
            <a:r>
              <a:rPr dirty="0" sz="1100" spc="-45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15021" y="2418434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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5021" y="2584690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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5021" y="2673361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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38654" y="2116148"/>
            <a:ext cx="18732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2293" y="2008338"/>
            <a:ext cx="11931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35025" algn="l"/>
              </a:tabLst>
            </a:pPr>
            <a:r>
              <a:rPr dirty="0" baseline="-42929" sz="1650" spc="-75" i="1">
                <a:latin typeface="Arial"/>
                <a:cs typeface="Arial"/>
              </a:rPr>
              <a:t>a</a:t>
            </a:r>
            <a:r>
              <a:rPr dirty="0" baseline="-69444" sz="1200" spc="-75">
                <a:latin typeface="Tahoma"/>
                <a:cs typeface="Tahoma"/>
              </a:rPr>
              <a:t>1</a:t>
            </a:r>
            <a:r>
              <a:rPr dirty="0" baseline="-69444" sz="1200" spc="-75" i="1">
                <a:latin typeface="Arial"/>
                <a:cs typeface="Arial"/>
              </a:rPr>
              <a:t>n</a:t>
            </a:r>
            <a:r>
              <a:rPr dirty="0" baseline="-69444" sz="1200" spc="-225" i="1">
                <a:latin typeface="Arial"/>
                <a:cs typeface="Arial"/>
              </a:rPr>
              <a:t> </a:t>
            </a:r>
            <a:r>
              <a:rPr dirty="0" sz="1100" spc="-375">
                <a:latin typeface="Lucida Sans Unicode"/>
                <a:cs typeface="Lucida Sans Unicode"/>
              </a:rPr>
              <a:t></a:t>
            </a:r>
            <a:r>
              <a:rPr dirty="0" sz="1100" spc="-150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Lucida Sans Unicode"/>
                <a:cs typeface="Lucida Sans Unicode"/>
              </a:rPr>
              <a:t></a:t>
            </a:r>
            <a:r>
              <a:rPr dirty="0" baseline="-42929" sz="1650" spc="-30" i="1">
                <a:latin typeface="Arial"/>
                <a:cs typeface="Arial"/>
              </a:rPr>
              <a:t>x</a:t>
            </a:r>
            <a:r>
              <a:rPr dirty="0" baseline="-69444" sz="1200" spc="-30">
                <a:latin typeface="Tahoma"/>
                <a:cs typeface="Tahoma"/>
              </a:rPr>
              <a:t>1</a:t>
            </a:r>
            <a:r>
              <a:rPr dirty="0" sz="1100" spc="-20">
                <a:latin typeface="Lucida Sans Unicode"/>
                <a:cs typeface="Lucida Sans Unicode"/>
              </a:rPr>
              <a:t>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120">
                <a:latin typeface="Lucida Sans Unicode"/>
                <a:cs typeface="Lucida Sans Unicode"/>
              </a:rPr>
              <a:t></a:t>
            </a:r>
            <a:r>
              <a:rPr dirty="0" baseline="-42929" sz="1650" spc="-179" i="1">
                <a:latin typeface="Arial"/>
                <a:cs typeface="Arial"/>
              </a:rPr>
              <a:t>b</a:t>
            </a:r>
            <a:r>
              <a:rPr dirty="0" baseline="-69444" sz="1200" spc="-179">
                <a:latin typeface="Tahoma"/>
                <a:cs typeface="Tahoma"/>
              </a:rPr>
              <a:t>1</a:t>
            </a:r>
            <a:r>
              <a:rPr dirty="0" sz="1100" spc="-120">
                <a:latin typeface="Lucida Sans Unicode"/>
                <a:cs typeface="Lucida Sans Unicode"/>
              </a:rPr>
              <a:t>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0289" y="2308998"/>
            <a:ext cx="494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81305" algn="l"/>
              </a:tabLst>
            </a:pPr>
            <a:r>
              <a:rPr dirty="0" sz="800" spc="-25">
                <a:latin typeface="Tahoma"/>
                <a:cs typeface="Tahoma"/>
              </a:rPr>
              <a:t>21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22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9116" y="2288221"/>
            <a:ext cx="9207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35" i="1">
                <a:latin typeface="Arial"/>
                <a:cs typeface="Arial"/>
              </a:rPr>
              <a:t>a</a:t>
            </a:r>
            <a:r>
              <a:rPr dirty="0" sz="1100" spc="500" i="1">
                <a:latin typeface="Arial"/>
                <a:cs typeface="Arial"/>
              </a:rPr>
              <a:t> </a:t>
            </a:r>
            <a:r>
              <a:rPr dirty="0" sz="1100" spc="-135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0289" y="2481083"/>
            <a:ext cx="507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81305" algn="l"/>
              </a:tabLst>
            </a:pPr>
            <a:r>
              <a:rPr dirty="0" sz="800" spc="-25">
                <a:latin typeface="Tahoma"/>
                <a:cs typeface="Tahoma"/>
              </a:rPr>
              <a:t>31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32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6921" y="2136926"/>
            <a:ext cx="9912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54659" algn="l"/>
                <a:tab pos="765175" algn="l"/>
              </a:tabLst>
            </a:pPr>
            <a:r>
              <a:rPr dirty="0" baseline="50505" sz="1650" spc="-30">
                <a:latin typeface="Lucida Sans Unicode"/>
                <a:cs typeface="Lucida Sans Unicode"/>
              </a:rPr>
              <a:t></a:t>
            </a:r>
            <a:r>
              <a:rPr dirty="0" baseline="7575" sz="1650" spc="-30" i="1">
                <a:latin typeface="Arial"/>
                <a:cs typeface="Arial"/>
              </a:rPr>
              <a:t>a</a:t>
            </a:r>
            <a:r>
              <a:rPr dirty="0" sz="800" spc="-20">
                <a:latin typeface="Tahoma"/>
                <a:cs typeface="Tahoma"/>
              </a:rPr>
              <a:t>11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12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-60606" sz="1650" spc="-1005" i="1">
                <a:latin typeface="Arial"/>
                <a:cs typeface="Arial"/>
              </a:rPr>
              <a:t>a</a:t>
            </a:r>
            <a:r>
              <a:rPr dirty="0" baseline="7575" sz="1650" spc="-75" i="1">
                <a:latin typeface="Arial"/>
                <a:cs typeface="Arial"/>
              </a:rPr>
              <a:t>a</a:t>
            </a:r>
            <a:r>
              <a:rPr dirty="0" baseline="-93750" sz="1200" spc="-75">
                <a:latin typeface="Tahoma"/>
                <a:cs typeface="Tahoma"/>
              </a:rPr>
              <a:t>2</a:t>
            </a:r>
            <a:r>
              <a:rPr dirty="0" baseline="-93750" sz="1200" spc="-1402">
                <a:latin typeface="Tahoma"/>
                <a:cs typeface="Tahoma"/>
              </a:rPr>
              <a:t>3</a:t>
            </a:r>
            <a:r>
              <a:rPr dirty="0" sz="800" spc="-50">
                <a:latin typeface="Tahoma"/>
                <a:cs typeface="Tahoma"/>
              </a:rPr>
              <a:t>13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00">
              <a:latin typeface="Tahoma"/>
              <a:cs typeface="Tahoma"/>
            </a:endParaRPr>
          </a:p>
          <a:p>
            <a:pPr algn="r" marR="43180">
              <a:lnSpc>
                <a:spcPct val="100000"/>
              </a:lnSpc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33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38654" y="2460293"/>
            <a:ext cx="381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1625" algn="l"/>
              </a:tabLst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0096" y="2649993"/>
            <a:ext cx="6851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2580" algn="l"/>
                <a:tab pos="633095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0096" y="2700602"/>
            <a:ext cx="6851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2580" algn="l"/>
                <a:tab pos="633095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3254" y="2517645"/>
            <a:ext cx="238125" cy="54673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835"/>
              </a:spcBef>
            </a:pPr>
            <a:r>
              <a:rPr dirty="0" sz="1100" spc="-45">
                <a:latin typeface="Tahoma"/>
                <a:cs typeface="Tahoma"/>
              </a:rPr>
              <a:t>.</a:t>
            </a:r>
            <a:r>
              <a:rPr dirty="0" sz="1100" spc="-220">
                <a:latin typeface="Tahoma"/>
                <a:cs typeface="Tahoma"/>
              </a:rPr>
              <a:t> </a:t>
            </a:r>
            <a:r>
              <a:rPr dirty="0" baseline="-15151" sz="1650" spc="-67">
                <a:latin typeface="Tahoma"/>
                <a:cs typeface="Tahoma"/>
              </a:rPr>
              <a:t>.</a:t>
            </a:r>
            <a:r>
              <a:rPr dirty="0" baseline="-15151" sz="1650" spc="-322">
                <a:latin typeface="Tahoma"/>
                <a:cs typeface="Tahoma"/>
              </a:rPr>
              <a:t> </a:t>
            </a:r>
            <a:r>
              <a:rPr dirty="0" baseline="-30303" sz="1650" spc="-75">
                <a:latin typeface="Tahoma"/>
                <a:cs typeface="Tahoma"/>
              </a:rPr>
              <a:t>.</a:t>
            </a:r>
            <a:endParaRPr baseline="-30303" sz="16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94279" y="2518408"/>
            <a:ext cx="4711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3860" algn="l"/>
              </a:tabLst>
            </a:pPr>
            <a:r>
              <a:rPr dirty="0" sz="800" spc="-25">
                <a:latin typeface="Tahoma"/>
                <a:cs typeface="Tahoma"/>
              </a:rPr>
              <a:t>3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1988" y="2893452"/>
            <a:ext cx="8750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47980" algn="l"/>
                <a:tab pos="658495" algn="l"/>
              </a:tabLst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01417" y="2893452"/>
            <a:ext cx="254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nn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4888" y="2872675"/>
            <a:ext cx="195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baseline="-10416" sz="1200" spc="-37" i="1">
                <a:latin typeface="Arial"/>
                <a:cs typeface="Arial"/>
              </a:rPr>
              <a:t>n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78568" y="2494634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22016" y="2460293"/>
            <a:ext cx="594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09270" algn="l"/>
              </a:tabLst>
            </a:pPr>
            <a:r>
              <a:rPr dirty="0" sz="1100" spc="-50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90480" y="2518408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00401" y="2649993"/>
            <a:ext cx="9290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6555" algn="l"/>
                <a:tab pos="877569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00401" y="2700602"/>
            <a:ext cx="9290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6555" algn="l"/>
                <a:tab pos="877569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91776" y="2872675"/>
            <a:ext cx="2038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 i="1">
                <a:latin typeface="Arial"/>
                <a:cs typeface="Arial"/>
              </a:rPr>
              <a:t>n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02293" y="2308998"/>
            <a:ext cx="1193165" cy="2184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765"/>
              </a:lnSpc>
              <a:spcBef>
                <a:spcPts val="90"/>
              </a:spcBef>
              <a:tabLst>
                <a:tab pos="431800" algn="l"/>
                <a:tab pos="929005" algn="l"/>
              </a:tabLst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2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x</a:t>
            </a:r>
            <a:r>
              <a:rPr dirty="0" sz="800" spc="-25">
                <a:latin typeface="Tahoma"/>
                <a:cs typeface="Tahoma"/>
              </a:rPr>
              <a:t>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b</a:t>
            </a:r>
            <a:r>
              <a:rPr dirty="0" sz="800" spc="-25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  <a:p>
            <a:pPr marL="222250">
              <a:lnSpc>
                <a:spcPts val="765"/>
              </a:lnSpc>
              <a:tabLst>
                <a:tab pos="557530" algn="l"/>
                <a:tab pos="835025" algn="l"/>
                <a:tab pos="1062355" algn="l"/>
              </a:tabLst>
            </a:pPr>
            <a:r>
              <a:rPr dirty="0" sz="1100" spc="-375">
                <a:latin typeface="Lucida Sans Unicode"/>
                <a:cs typeface="Lucida Sans Unicode"/>
              </a:rPr>
              <a:t>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25">
                <a:latin typeface="Lucida Sans Unicode"/>
                <a:cs typeface="Lucida Sans Unicode"/>
              </a:rPr>
              <a:t>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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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12478" y="2501555"/>
            <a:ext cx="957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7345" algn="l"/>
                <a:tab pos="624840" algn="l"/>
                <a:tab pos="852169" algn="l"/>
              </a:tabLst>
            </a:pPr>
            <a:r>
              <a:rPr dirty="0" sz="1100" spc="-375">
                <a:latin typeface="Lucida Sans Unicode"/>
                <a:cs typeface="Lucida Sans Unicode"/>
              </a:rPr>
              <a:t>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25">
                <a:latin typeface="Lucida Sans Unicode"/>
                <a:cs typeface="Lucida Sans Unicode"/>
              </a:rPr>
              <a:t>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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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12478" y="2584690"/>
            <a:ext cx="957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7345" algn="l"/>
                <a:tab pos="624840" algn="l"/>
                <a:tab pos="852169" algn="l"/>
              </a:tabLst>
            </a:pPr>
            <a:r>
              <a:rPr dirty="0" sz="1100" spc="-375">
                <a:latin typeface="Lucida Sans Unicode"/>
                <a:cs typeface="Lucida Sans Unicode"/>
              </a:rPr>
              <a:t>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25">
                <a:latin typeface="Lucida Sans Unicode"/>
                <a:cs typeface="Lucida Sans Unicode"/>
              </a:rPr>
              <a:t>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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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12478" y="2673361"/>
            <a:ext cx="957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7345" algn="l"/>
                <a:tab pos="624840" algn="l"/>
                <a:tab pos="852169" algn="l"/>
              </a:tabLst>
            </a:pPr>
            <a:r>
              <a:rPr dirty="0" sz="1100" spc="-375">
                <a:latin typeface="Lucida Sans Unicode"/>
                <a:cs typeface="Lucida Sans Unicode"/>
              </a:rPr>
              <a:t>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25">
                <a:latin typeface="Lucida Sans Unicode"/>
                <a:cs typeface="Lucida Sans Unicode"/>
              </a:rPr>
              <a:t>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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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425">
                <a:latin typeface="Lucida Sans Unicode"/>
                <a:cs typeface="Lucida Sans Unicode"/>
              </a:rPr>
              <a:t>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42526" y="3248732"/>
            <a:ext cx="203200" cy="55880"/>
            <a:chOff x="3242526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0569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4252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17976" y="3247467"/>
            <a:ext cx="203200" cy="48260"/>
            <a:chOff x="3517976" y="3247467"/>
            <a:chExt cx="203200" cy="48260"/>
          </a:xfrm>
        </p:grpSpPr>
        <p:sp>
          <p:nvSpPr>
            <p:cNvPr id="9" name="object 9"/>
            <p:cNvSpPr/>
            <p:nvPr/>
          </p:nvSpPr>
          <p:spPr>
            <a:xfrm>
              <a:off x="3606877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1797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94177" y="325126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93439" y="3247467"/>
            <a:ext cx="203200" cy="58419"/>
            <a:chOff x="3793439" y="324746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69640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93439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69640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5090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Apply</a:t>
            </a:r>
            <a:r>
              <a:rPr dirty="0" spc="-25"/>
              <a:t> </a:t>
            </a:r>
            <a:r>
              <a:rPr dirty="0" spc="-60"/>
              <a:t>Gauss-</a:t>
            </a:r>
            <a:r>
              <a:rPr dirty="0" spc="-20"/>
              <a:t>Elimination</a:t>
            </a:r>
            <a:r>
              <a:rPr dirty="0" spc="-25"/>
              <a:t> </a:t>
            </a:r>
            <a:r>
              <a:rPr dirty="0" spc="-10"/>
              <a:t>Method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12661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77532" y="329208"/>
            <a:ext cx="25819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Form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augmented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matrix: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110">
                <a:latin typeface="Tahoma"/>
                <a:cs typeface="Tahoma"/>
              </a:rPr>
              <a:t>[</a:t>
            </a:r>
            <a:r>
              <a:rPr dirty="0" sz="1100" spc="-110" i="1">
                <a:latin typeface="Arial"/>
                <a:cs typeface="Arial"/>
              </a:rPr>
              <a:t>A</a:t>
            </a:r>
            <a:r>
              <a:rPr dirty="0" baseline="27777" sz="1200" spc="-165">
                <a:latin typeface="Lucida Sans Unicode"/>
                <a:cs typeface="Lucida Sans Unicode"/>
              </a:rPr>
              <a:t>∗</a:t>
            </a:r>
            <a:r>
              <a:rPr dirty="0" sz="1100" spc="-110">
                <a:latin typeface="Tahoma"/>
                <a:cs typeface="Tahoma"/>
              </a:rPr>
              <a:t>]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[</a:t>
            </a:r>
            <a:r>
              <a:rPr dirty="0" sz="1100" spc="-60" i="1">
                <a:latin typeface="Arial"/>
                <a:cs typeface="Arial"/>
              </a:rPr>
              <a:t>A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1607" y="866710"/>
            <a:ext cx="455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10">
                <a:latin typeface="Tahoma"/>
                <a:cs typeface="Tahoma"/>
              </a:rPr>
              <a:t>[</a:t>
            </a:r>
            <a:r>
              <a:rPr dirty="0" sz="1100" spc="-110" i="1">
                <a:latin typeface="Arial"/>
                <a:cs typeface="Arial"/>
              </a:rPr>
              <a:t>A</a:t>
            </a:r>
            <a:r>
              <a:rPr dirty="0" baseline="31250" sz="1200" spc="-165">
                <a:latin typeface="Lucida Sans Unicode"/>
                <a:cs typeface="Lucida Sans Unicode"/>
              </a:rPr>
              <a:t>∗</a:t>
            </a:r>
            <a:r>
              <a:rPr dirty="0" sz="1100" spc="-110">
                <a:latin typeface="Tahoma"/>
                <a:cs typeface="Tahoma"/>
              </a:rPr>
              <a:t>]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4253" y="790510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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74253" y="956766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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74253" y="1045424"/>
            <a:ext cx="1054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0">
                <a:latin typeface="Lucida Sans Unicode"/>
                <a:cs typeface="Lucida Sans Unicode"/>
              </a:rPr>
              <a:t>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61525" y="509002"/>
            <a:ext cx="2520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1</a:t>
            </a:r>
            <a:r>
              <a:rPr dirty="0" sz="800" spc="-25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68335" y="660297"/>
            <a:ext cx="92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09508" y="681074"/>
            <a:ext cx="494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81305" algn="l"/>
              </a:tabLst>
            </a:pPr>
            <a:r>
              <a:rPr dirty="0" sz="800" spc="-25">
                <a:latin typeface="Tahoma"/>
                <a:cs typeface="Tahoma"/>
              </a:rPr>
              <a:t>21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22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99942" y="660297"/>
            <a:ext cx="173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61525" y="681074"/>
            <a:ext cx="5918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99109" algn="l"/>
              </a:tabLst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2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42935" y="853146"/>
            <a:ext cx="561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47980" algn="l"/>
              </a:tabLst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31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32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36153" y="509002"/>
            <a:ext cx="9912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54659" algn="l"/>
                <a:tab pos="765175" algn="l"/>
              </a:tabLst>
            </a:pPr>
            <a:r>
              <a:rPr dirty="0" baseline="50505" sz="1650" spc="-30">
                <a:latin typeface="Lucida Sans Unicode"/>
                <a:cs typeface="Lucida Sans Unicode"/>
              </a:rPr>
              <a:t></a:t>
            </a:r>
            <a:r>
              <a:rPr dirty="0" baseline="7575" sz="1650" spc="-30" i="1">
                <a:latin typeface="Arial"/>
                <a:cs typeface="Arial"/>
              </a:rPr>
              <a:t>a</a:t>
            </a:r>
            <a:r>
              <a:rPr dirty="0" sz="800" spc="-20">
                <a:latin typeface="Tahoma"/>
                <a:cs typeface="Tahoma"/>
              </a:rPr>
              <a:t>11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12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1005" i="1">
                <a:latin typeface="Arial"/>
                <a:cs typeface="Arial"/>
              </a:rPr>
              <a:t>a</a:t>
            </a:r>
            <a:r>
              <a:rPr dirty="0" baseline="-60606" sz="1650" spc="-75" i="1">
                <a:latin typeface="Arial"/>
                <a:cs typeface="Arial"/>
              </a:rPr>
              <a:t>a</a:t>
            </a:r>
            <a:r>
              <a:rPr dirty="0" baseline="-93750" sz="1200" spc="-75">
                <a:latin typeface="Tahoma"/>
                <a:cs typeface="Tahoma"/>
              </a:rPr>
              <a:t>2</a:t>
            </a:r>
            <a:r>
              <a:rPr dirty="0" baseline="-93750" sz="1200" spc="-1402">
                <a:latin typeface="Tahoma"/>
                <a:cs typeface="Tahoma"/>
              </a:rPr>
              <a:t>3</a:t>
            </a:r>
            <a:r>
              <a:rPr dirty="0" sz="800" spc="-50">
                <a:latin typeface="Tahoma"/>
                <a:cs typeface="Tahoma"/>
              </a:rPr>
              <a:t>13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00">
              <a:latin typeface="Tahoma"/>
              <a:cs typeface="Tahoma"/>
            </a:endParaRPr>
          </a:p>
          <a:p>
            <a:pPr algn="r" marR="43180">
              <a:lnSpc>
                <a:spcPct val="100000"/>
              </a:lnSpc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33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61525" y="853146"/>
            <a:ext cx="2520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3</a:t>
            </a:r>
            <a:r>
              <a:rPr dirty="0" sz="800" spc="-25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74542" y="832369"/>
            <a:ext cx="278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3</a:t>
            </a:r>
            <a:endParaRPr baseline="-10416"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39315" y="1022056"/>
            <a:ext cx="6851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2580" algn="l"/>
                <a:tab pos="633095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39315" y="1072678"/>
            <a:ext cx="6851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2580" algn="l"/>
                <a:tab pos="633095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72486" y="488224"/>
            <a:ext cx="238125" cy="948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38100">
              <a:lnSpc>
                <a:spcPts val="1255"/>
              </a:lnSpc>
              <a:spcBef>
                <a:spcPts val="35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45720">
              <a:lnSpc>
                <a:spcPts val="1255"/>
              </a:lnSpc>
            </a:pPr>
            <a:r>
              <a:rPr dirty="0" sz="1100" spc="-45">
                <a:latin typeface="Tahoma"/>
                <a:cs typeface="Tahoma"/>
              </a:rPr>
              <a:t>.</a:t>
            </a:r>
            <a:r>
              <a:rPr dirty="0" sz="1100" spc="-220">
                <a:latin typeface="Tahoma"/>
                <a:cs typeface="Tahoma"/>
              </a:rPr>
              <a:t> </a:t>
            </a:r>
            <a:r>
              <a:rPr dirty="0" baseline="-15151" sz="1650" spc="-67">
                <a:latin typeface="Tahoma"/>
                <a:cs typeface="Tahoma"/>
              </a:rPr>
              <a:t>.</a:t>
            </a:r>
            <a:r>
              <a:rPr dirty="0" baseline="-15151" sz="1650" spc="-322">
                <a:latin typeface="Tahoma"/>
                <a:cs typeface="Tahoma"/>
              </a:rPr>
              <a:t> </a:t>
            </a:r>
            <a:r>
              <a:rPr dirty="0" baseline="-30303" sz="1650" spc="-75">
                <a:latin typeface="Tahoma"/>
                <a:cs typeface="Tahoma"/>
              </a:rPr>
              <a:t>.</a:t>
            </a:r>
            <a:endParaRPr baseline="-30303" sz="16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59633" y="1022056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7820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59633" y="1072666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7820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28508" y="1265528"/>
            <a:ext cx="1499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60680" algn="l"/>
                <a:tab pos="671195" algn="l"/>
                <a:tab pos="1270000" algn="l"/>
              </a:tabLst>
            </a:pP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3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 i="1">
                <a:latin typeface="Arial"/>
                <a:cs typeface="Arial"/>
              </a:rPr>
              <a:t>nn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72828" y="1244751"/>
            <a:ext cx="280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 i="1">
                <a:latin typeface="Arial"/>
                <a:cs typeface="Arial"/>
              </a:rPr>
              <a:t>n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74542" y="488224"/>
            <a:ext cx="3790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b</a:t>
            </a:r>
            <a:r>
              <a:rPr dirty="0" baseline="-10416" sz="1200" spc="-75">
                <a:latin typeface="Tahoma"/>
                <a:cs typeface="Tahoma"/>
              </a:rPr>
              <a:t>1</a:t>
            </a:r>
            <a:r>
              <a:rPr dirty="0" baseline="42929" sz="1650" spc="-75">
                <a:latin typeface="Lucida Sans Unicode"/>
                <a:cs typeface="Lucida Sans Unicode"/>
              </a:rPr>
              <a:t></a:t>
            </a:r>
            <a:endParaRPr baseline="42929" sz="165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10318" y="790510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10318" y="956766"/>
            <a:ext cx="1054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0"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10318" y="1045424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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49" name="object 4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5569"/>
            <a:ext cx="65265" cy="65265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02932" y="1452116"/>
            <a:ext cx="3996690" cy="34353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Apply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Forward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Elimination</a:t>
            </a:r>
            <a:r>
              <a:rPr dirty="0" sz="1100" spc="-35">
                <a:latin typeface="Tahoma"/>
                <a:cs typeface="Tahoma"/>
              </a:rPr>
              <a:t>:Convert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augmented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matrix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upper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triangular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887905"/>
            <a:ext cx="52590" cy="52590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654634" y="1803798"/>
            <a:ext cx="34334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Consider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pivoted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row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apply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row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operation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61745" y="2043496"/>
            <a:ext cx="4044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4170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80034" y="1986564"/>
            <a:ext cx="619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335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7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290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92415" y="1972642"/>
            <a:ext cx="711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37627" y="2010596"/>
            <a:ext cx="9271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04720" y="2043496"/>
            <a:ext cx="6172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4790" algn="l"/>
                <a:tab pos="556895" algn="l"/>
              </a:tabLst>
            </a:pP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23009" y="1986564"/>
            <a:ext cx="831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8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325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7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280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547810" y="1972642"/>
            <a:ext cx="711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593022" y="2010596"/>
            <a:ext cx="9271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31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54315" y="2080796"/>
            <a:ext cx="13696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205865" algn="l"/>
              </a:tabLst>
            </a:pPr>
            <a:r>
              <a:rPr dirty="0" baseline="7936" sz="1050" spc="-37" i="1">
                <a:latin typeface="Arial"/>
                <a:cs typeface="Arial"/>
              </a:rPr>
              <a:t>a</a:t>
            </a:r>
            <a:r>
              <a:rPr dirty="0" sz="500" spc="-25">
                <a:latin typeface="Tahoma"/>
                <a:cs typeface="Tahoma"/>
              </a:rPr>
              <a:t>11</a:t>
            </a:r>
            <a:r>
              <a:rPr dirty="0" sz="500">
                <a:latin typeface="Tahoma"/>
                <a:cs typeface="Tahoma"/>
              </a:rPr>
              <a:t>	</a:t>
            </a:r>
            <a:r>
              <a:rPr dirty="0" baseline="7936" sz="1050" spc="-37" i="1">
                <a:latin typeface="Arial"/>
                <a:cs typeface="Arial"/>
              </a:rPr>
              <a:t>a</a:t>
            </a:r>
            <a:r>
              <a:rPr dirty="0" sz="500" spc="-25">
                <a:latin typeface="Tahoma"/>
                <a:cs typeface="Tahoma"/>
              </a:rPr>
              <a:t>11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60103" y="2043496"/>
            <a:ext cx="6794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7660" algn="l"/>
                <a:tab pos="643890" algn="l"/>
              </a:tabLst>
            </a:pP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78391" y="1986564"/>
            <a:ext cx="9029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385" i="1">
                <a:latin typeface="Arial"/>
                <a:cs typeface="Arial"/>
              </a:rPr>
              <a:t> 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229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7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180" i="1">
                <a:latin typeface="Arial"/>
                <a:cs typeface="Arial"/>
              </a:rPr>
              <a:t> </a:t>
            </a:r>
            <a:r>
              <a:rPr dirty="0" sz="1000" spc="-6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774465" y="1972452"/>
            <a:ext cx="76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1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825341" y="2010596"/>
            <a:ext cx="812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5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749065" y="2080796"/>
            <a:ext cx="1892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936" sz="1050" spc="-37" i="1">
                <a:latin typeface="Arial"/>
                <a:cs typeface="Arial"/>
              </a:rPr>
              <a:t>a</a:t>
            </a:r>
            <a:r>
              <a:rPr dirty="0" sz="500" spc="-25">
                <a:latin typeface="Tahoma"/>
                <a:cs typeface="Tahoma"/>
              </a:rPr>
              <a:t>11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01673" y="1846115"/>
            <a:ext cx="2708275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36854" algn="l"/>
                <a:tab pos="1167765" algn="l"/>
                <a:tab pos="1392555" algn="l"/>
                <a:tab pos="2394585" algn="l"/>
                <a:tab pos="2618740" algn="l"/>
              </a:tabLst>
            </a:pP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005059" y="1986564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086771" y="204349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347061"/>
            <a:ext cx="52590" cy="52590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2177605" y="2319898"/>
            <a:ext cx="3930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2105" algn="l"/>
              </a:tabLst>
            </a:pPr>
            <a:r>
              <a:rPr dirty="0" sz="700" spc="-25" i="1">
                <a:latin typeface="Arial"/>
                <a:cs typeface="Arial"/>
              </a:rPr>
              <a:t>ij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ij</a:t>
            </a:r>
            <a:endParaRPr sz="7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0034" y="2262967"/>
            <a:ext cx="203136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After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first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elimination: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sz="1000" spc="380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sz="1000" spc="330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04553" y="2248855"/>
            <a:ext cx="76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1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855429" y="2286999"/>
            <a:ext cx="812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5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779153" y="2357198"/>
            <a:ext cx="1892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936" sz="1050" spc="-37" i="1">
                <a:latin typeface="Arial"/>
                <a:cs typeface="Arial"/>
              </a:rPr>
              <a:t>a</a:t>
            </a:r>
            <a:r>
              <a:rPr dirty="0" sz="500" spc="-25">
                <a:latin typeface="Tahoma"/>
                <a:cs typeface="Tahoma"/>
              </a:rPr>
              <a:t>11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13812" y="2122518"/>
            <a:ext cx="325755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36854" algn="l"/>
              </a:tabLst>
            </a:pP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095942" y="2319898"/>
            <a:ext cx="680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4805" algn="l"/>
                <a:tab pos="644525" algn="l"/>
              </a:tabLst>
            </a:pPr>
            <a:r>
              <a:rPr dirty="0" sz="700" spc="-25">
                <a:latin typeface="Tahoma"/>
                <a:cs typeface="Tahoma"/>
              </a:rPr>
              <a:t>1</a:t>
            </a:r>
            <a:r>
              <a:rPr dirty="0" sz="700" spc="-25" i="1">
                <a:latin typeface="Arial"/>
                <a:cs typeface="Arial"/>
              </a:rPr>
              <a:t>j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35134" y="2262967"/>
            <a:ext cx="8826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1930" algn="l"/>
              </a:tabLst>
            </a:pPr>
            <a:r>
              <a:rPr dirty="0" sz="1000" spc="-50" i="1">
                <a:latin typeface="Arial"/>
                <a:cs typeface="Arial"/>
              </a:rPr>
              <a:t>a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b</a:t>
            </a:r>
            <a:r>
              <a:rPr dirty="0" sz="1000" spc="265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5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b</a:t>
            </a:r>
            <a:r>
              <a:rPr dirty="0" sz="1000" spc="210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010812" y="2248855"/>
            <a:ext cx="76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1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061688" y="2286999"/>
            <a:ext cx="812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5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985412" y="2357198"/>
            <a:ext cx="1892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936" sz="1050" spc="-37" i="1">
                <a:latin typeface="Arial"/>
                <a:cs typeface="Arial"/>
              </a:rPr>
              <a:t>a</a:t>
            </a:r>
            <a:r>
              <a:rPr dirty="0" sz="500" spc="-25">
                <a:latin typeface="Tahoma"/>
                <a:cs typeface="Tahoma"/>
              </a:rPr>
              <a:t>11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920070" y="2122518"/>
            <a:ext cx="325755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36854" algn="l"/>
              </a:tabLst>
            </a:pP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241406" y="2262967"/>
            <a:ext cx="90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06773" y="2319898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85" name="object 8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565831"/>
            <a:ext cx="52590" cy="52590"/>
          </a:xfrm>
          <a:prstGeom prst="rect">
            <a:avLst/>
          </a:prstGeom>
        </p:spPr>
      </p:pic>
      <p:sp>
        <p:nvSpPr>
          <p:cNvPr id="86" name="object 86"/>
          <p:cNvSpPr txBox="1"/>
          <p:nvPr/>
        </p:nvSpPr>
        <p:spPr>
          <a:xfrm>
            <a:off x="680034" y="2481724"/>
            <a:ext cx="28809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Thus,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elements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below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first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pivot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become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zero.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5" name="object 1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1353146" y="289998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70">
                <a:latin typeface="Lucida Sans Unicode"/>
                <a:cs typeface="Lucida Sans Unicode"/>
              </a:rPr>
              <a:t>∗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20762" y="2919855"/>
            <a:ext cx="535305" cy="198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685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[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spc="-120">
                <a:latin typeface="Tahoma"/>
                <a:cs typeface="Tahoma"/>
              </a:rPr>
              <a:t>]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algn="r" marR="5080">
              <a:lnSpc>
                <a:spcPts val="685"/>
              </a:lnSpc>
            </a:pPr>
            <a:r>
              <a:rPr dirty="0" sz="1100" spc="-425">
                <a:latin typeface="Lucida Sans Unicode"/>
                <a:cs typeface="Lucida Sans Unicode"/>
              </a:rPr>
              <a:t>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637995" y="3015461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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12595" y="2648190"/>
            <a:ext cx="9569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36880" algn="l"/>
                <a:tab pos="744220" algn="l"/>
              </a:tabLst>
            </a:pPr>
            <a:r>
              <a:rPr dirty="0" baseline="53030" sz="1650" spc="-30">
                <a:latin typeface="Lucida Sans Unicode"/>
                <a:cs typeface="Lucida Sans Unicode"/>
              </a:rPr>
              <a:t></a:t>
            </a:r>
            <a:r>
              <a:rPr dirty="0" baseline="7575" sz="1650" spc="-30" i="1">
                <a:latin typeface="Arial"/>
                <a:cs typeface="Arial"/>
              </a:rPr>
              <a:t>a</a:t>
            </a:r>
            <a:r>
              <a:rPr dirty="0" sz="800" spc="-20">
                <a:latin typeface="Tahoma"/>
                <a:cs typeface="Tahoma"/>
              </a:rPr>
              <a:t>11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12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7575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Tahoma"/>
                <a:cs typeface="Tahoma"/>
              </a:rPr>
              <a:t>13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249879" y="2627412"/>
            <a:ext cx="64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612595" y="2760534"/>
            <a:ext cx="892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36880" algn="l"/>
                <a:tab pos="744220" algn="l"/>
              </a:tabLst>
            </a:pPr>
            <a:r>
              <a:rPr dirty="0" sz="1100" spc="-425">
                <a:latin typeface="Lucida Sans Unicode"/>
                <a:cs typeface="Lucida Sans Unicode"/>
              </a:rPr>
              <a:t>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baseline="-15151" sz="1650" spc="-37" i="1">
                <a:latin typeface="Arial"/>
                <a:cs typeface="Arial"/>
              </a:rPr>
              <a:t>a</a:t>
            </a:r>
            <a:r>
              <a:rPr dirty="0" baseline="6944" sz="1200" spc="-37">
                <a:latin typeface="Lucida Sans Unicode"/>
                <a:cs typeface="Lucida Sans Unicode"/>
              </a:rPr>
              <a:t>r</a:t>
            </a:r>
            <a:r>
              <a:rPr dirty="0" baseline="6944" sz="1200">
                <a:latin typeface="Lucida Sans Unicode"/>
                <a:cs typeface="Lucida Sans Unicode"/>
              </a:rPr>
              <a:t>	</a:t>
            </a:r>
            <a:r>
              <a:rPr dirty="0" baseline="-15151" sz="1650" spc="-37" i="1">
                <a:latin typeface="Arial"/>
                <a:cs typeface="Arial"/>
              </a:rPr>
              <a:t>a</a:t>
            </a:r>
            <a:r>
              <a:rPr dirty="0" baseline="6944" sz="1200" spc="-37">
                <a:latin typeface="Lucida Sans Unicode"/>
                <a:cs typeface="Lucida Sans Unicode"/>
              </a:rPr>
              <a:t>r</a:t>
            </a:r>
            <a:endParaRPr baseline="6944" sz="1200">
              <a:latin typeface="Lucida Sans Unicode"/>
              <a:cs typeface="Lucida Sans Unicode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103920" y="2875126"/>
            <a:ext cx="4400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9405" algn="l"/>
              </a:tabLst>
            </a:pPr>
            <a:r>
              <a:rPr dirty="0" sz="800" spc="-25">
                <a:latin typeface="Tahoma"/>
                <a:cs typeface="Tahoma"/>
              </a:rPr>
              <a:t>22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5">
                <a:latin typeface="Tahoma"/>
                <a:cs typeface="Tahoma"/>
              </a:rPr>
              <a:t>23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914053" y="2648190"/>
            <a:ext cx="252095" cy="29273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38100" marR="30480">
              <a:lnSpc>
                <a:spcPct val="60300"/>
              </a:lnSpc>
              <a:spcBef>
                <a:spcPts val="615"/>
              </a:spcBef>
            </a:pPr>
            <a:r>
              <a:rPr dirty="0" baseline="7575" sz="1650" spc="-89" i="1">
                <a:latin typeface="Arial"/>
                <a:cs typeface="Arial"/>
              </a:rPr>
              <a:t>a</a:t>
            </a:r>
            <a:r>
              <a:rPr dirty="0" sz="800" spc="-60">
                <a:latin typeface="Tahoma"/>
                <a:cs typeface="Tahoma"/>
              </a:rPr>
              <a:t>1</a:t>
            </a:r>
            <a:r>
              <a:rPr dirty="0" sz="800" spc="-60" i="1">
                <a:latin typeface="Arial"/>
                <a:cs typeface="Arial"/>
              </a:rPr>
              <a:t>n</a:t>
            </a:r>
            <a:r>
              <a:rPr dirty="0" sz="800" spc="500" i="1">
                <a:latin typeface="Arial"/>
                <a:cs typeface="Arial"/>
              </a:rPr>
              <a:t> </a:t>
            </a:r>
            <a:r>
              <a:rPr dirty="0" baseline="-20202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Lucida Sans Unicode"/>
                <a:cs typeface="Lucida Sans Unicode"/>
              </a:rPr>
              <a:t>r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490709" y="2786531"/>
            <a:ext cx="54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Lucida Sans Unicode"/>
                <a:cs typeface="Lucida Sans Unicode"/>
              </a:rPr>
              <a:t>r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486467" y="287512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785950" y="2799485"/>
            <a:ext cx="95250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011933" y="2921278"/>
            <a:ext cx="480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44805" algn="l"/>
              </a:tabLst>
            </a:pPr>
            <a:r>
              <a:rPr dirty="0" baseline="-20202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Lucida Sans Unicode"/>
                <a:cs typeface="Lucida Sans Unicode"/>
              </a:rPr>
              <a:t>r</a:t>
            </a:r>
            <a:r>
              <a:rPr dirty="0" sz="800">
                <a:latin typeface="Lucida Sans Unicode"/>
                <a:cs typeface="Lucida Sans Unicode"/>
              </a:rPr>
              <a:t>	</a:t>
            </a:r>
            <a:r>
              <a:rPr dirty="0" baseline="-20202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Lucida Sans Unicode"/>
                <a:cs typeface="Lucida Sans Unicode"/>
              </a:rPr>
              <a:t>r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103920" y="3047198"/>
            <a:ext cx="4400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9405" algn="l"/>
              </a:tabLst>
            </a:pPr>
            <a:r>
              <a:rPr dirty="0" sz="800" spc="-25">
                <a:latin typeface="Tahoma"/>
                <a:cs typeface="Tahoma"/>
              </a:rPr>
              <a:t>32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5">
                <a:latin typeface="Tahoma"/>
                <a:cs typeface="Tahoma"/>
              </a:rPr>
              <a:t>33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914053" y="2921278"/>
            <a:ext cx="173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0202" sz="1650" spc="-37" i="1">
                <a:latin typeface="Arial"/>
                <a:cs typeface="Arial"/>
              </a:rPr>
              <a:t>a</a:t>
            </a:r>
            <a:r>
              <a:rPr dirty="0" sz="800" spc="-25">
                <a:latin typeface="Lucida Sans Unicode"/>
                <a:cs typeface="Lucida Sans Unicode"/>
              </a:rPr>
              <a:t>r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006039" y="2824518"/>
            <a:ext cx="135255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100"/>
              </a:spcBef>
            </a:pPr>
            <a:r>
              <a:rPr dirty="0" sz="800" spc="-40">
                <a:latin typeface="Tahoma"/>
                <a:cs typeface="Tahoma"/>
              </a:rPr>
              <a:t>2</a:t>
            </a:r>
            <a:r>
              <a:rPr dirty="0" sz="800" spc="-40" i="1">
                <a:latin typeface="Arial"/>
                <a:cs typeface="Arial"/>
              </a:rPr>
              <a:t>n</a:t>
            </a:r>
            <a:r>
              <a:rPr dirty="0" sz="800" spc="500" i="1">
                <a:latin typeface="Arial"/>
                <a:cs typeface="Arial"/>
              </a:rPr>
              <a:t> </a:t>
            </a:r>
            <a:r>
              <a:rPr dirty="0" sz="800" spc="-40">
                <a:latin typeface="Tahoma"/>
                <a:cs typeface="Tahoma"/>
              </a:rPr>
              <a:t>3</a:t>
            </a:r>
            <a:r>
              <a:rPr dirty="0" sz="800" spc="-4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249879" y="2799485"/>
            <a:ext cx="26225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:</a:t>
            </a:r>
            <a:r>
              <a:rPr dirty="0" sz="1100" spc="110">
                <a:latin typeface="Tahoma"/>
                <a:cs typeface="Tahoma"/>
              </a:rPr>
              <a:t>  </a:t>
            </a: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:</a:t>
            </a:r>
            <a:r>
              <a:rPr dirty="0" sz="1100" spc="110">
                <a:latin typeface="Tahoma"/>
                <a:cs typeface="Tahoma"/>
              </a:rPr>
              <a:t>  </a:t>
            </a: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801342" y="3110647"/>
            <a:ext cx="64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108326" y="3161257"/>
            <a:ext cx="370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9405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801342" y="3211866"/>
            <a:ext cx="678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9405" algn="l"/>
                <a:tab pos="626110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2625902" y="2627412"/>
            <a:ext cx="238125" cy="687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38100">
              <a:lnSpc>
                <a:spcPts val="1255"/>
              </a:lnSpc>
              <a:spcBef>
                <a:spcPts val="35"/>
              </a:spcBef>
            </a:pP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45720">
              <a:lnSpc>
                <a:spcPts val="1255"/>
              </a:lnSpc>
            </a:pPr>
            <a:r>
              <a:rPr dirty="0" sz="1100" spc="-45">
                <a:latin typeface="Tahoma"/>
                <a:cs typeface="Tahoma"/>
              </a:rPr>
              <a:t>.</a:t>
            </a:r>
            <a:r>
              <a:rPr dirty="0" sz="1100" spc="-220">
                <a:latin typeface="Tahoma"/>
                <a:cs typeface="Tahoma"/>
              </a:rPr>
              <a:t> </a:t>
            </a:r>
            <a:r>
              <a:rPr dirty="0" baseline="-15151" sz="1650" spc="-67">
                <a:latin typeface="Tahoma"/>
                <a:cs typeface="Tahoma"/>
              </a:rPr>
              <a:t>.</a:t>
            </a:r>
            <a:r>
              <a:rPr dirty="0" baseline="-15151" sz="1650" spc="-322">
                <a:latin typeface="Tahoma"/>
                <a:cs typeface="Tahoma"/>
              </a:rPr>
              <a:t> </a:t>
            </a:r>
            <a:r>
              <a:rPr dirty="0" baseline="-30303" sz="1650" spc="-75">
                <a:latin typeface="Tahoma"/>
                <a:cs typeface="Tahoma"/>
              </a:rPr>
              <a:t>.</a:t>
            </a:r>
            <a:endParaRPr baseline="-30303" sz="1650">
              <a:latin typeface="Tahoma"/>
              <a:cs typeface="Tahom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012160" y="3161257"/>
            <a:ext cx="64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461486" y="3161257"/>
            <a:ext cx="64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012160" y="3211866"/>
            <a:ext cx="5137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0190" algn="l"/>
                <a:tab pos="461645" algn="l"/>
              </a:tabLst>
            </a:pPr>
            <a:r>
              <a:rPr dirty="0" sz="1100" spc="-50">
                <a:latin typeface="Tahoma"/>
                <a:cs typeface="Tahoma"/>
              </a:rPr>
              <a:t>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: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389490" y="2516681"/>
            <a:ext cx="300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42929" sz="1650" spc="-67" i="1">
                <a:latin typeface="Arial"/>
                <a:cs typeface="Arial"/>
              </a:rPr>
              <a:t>b</a:t>
            </a:r>
            <a:r>
              <a:rPr dirty="0" baseline="-72916" sz="1200" spc="-67">
                <a:latin typeface="Tahoma"/>
                <a:cs typeface="Tahoma"/>
              </a:rPr>
              <a:t>1</a:t>
            </a:r>
            <a:r>
              <a:rPr dirty="0" sz="1100" spc="-45">
                <a:latin typeface="Lucida Sans Unicode"/>
                <a:cs typeface="Lucida Sans Unicode"/>
              </a:rPr>
              <a:t>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546576" y="2760534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25"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546576" y="2843655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heavy" sz="1100" spc="-425">
                <a:uFill>
                  <a:solidFill>
                    <a:srgbClr val="D6D6EF"/>
                  </a:solidFill>
                </a:uFill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490709" y="2926789"/>
            <a:ext cx="173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spc="-157">
                <a:latin typeface="Lucida Sans Unicode"/>
                <a:cs typeface="Lucida Sans Unicode"/>
              </a:rPr>
              <a:t>r</a:t>
            </a:r>
            <a:r>
              <a:rPr dirty="0" baseline="3472" sz="1200" spc="-60">
                <a:latin typeface="Lucida Sans Unicode"/>
                <a:cs typeface="Lucida Sans Unicode"/>
              </a:rPr>
              <a:t> </a:t>
            </a:r>
            <a:r>
              <a:rPr dirty="0" sz="1100" spc="-425">
                <a:latin typeface="Lucida Sans Unicode"/>
                <a:cs typeface="Lucida Sans Unicode"/>
              </a:rPr>
              <a:t>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486467" y="3015461"/>
            <a:ext cx="177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spc="-225">
                <a:latin typeface="Tahoma"/>
                <a:cs typeface="Tahoma"/>
              </a:rPr>
              <a:t>3</a:t>
            </a:r>
            <a:r>
              <a:rPr dirty="0" sz="1100" spc="-150">
                <a:latin typeface="Lucida Sans Unicode"/>
                <a:cs typeface="Lucida Sans Unicode"/>
              </a:rPr>
              <a:t>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Apply</a:t>
            </a:r>
            <a:r>
              <a:rPr dirty="0" spc="-55"/>
              <a:t> </a:t>
            </a:r>
            <a:r>
              <a:rPr dirty="0" spc="-60"/>
              <a:t>Gauss-</a:t>
            </a:r>
            <a:r>
              <a:rPr dirty="0" spc="-20"/>
              <a:t>Elimination</a:t>
            </a:r>
            <a:r>
              <a:rPr dirty="0" spc="-50"/>
              <a:t> </a:t>
            </a:r>
            <a:r>
              <a:rPr dirty="0"/>
              <a:t>Method,</a:t>
            </a:r>
            <a:r>
              <a:rPr dirty="0" spc="-55"/>
              <a:t> </a:t>
            </a:r>
            <a:r>
              <a:rPr dirty="0" spc="-10"/>
              <a:t>Contd..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9514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346061"/>
            <a:ext cx="2802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Apply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Forward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Elimination:</a:t>
            </a:r>
            <a:r>
              <a:rPr dirty="0" sz="1100" spc="1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Contd...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666635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4634" y="582541"/>
            <a:ext cx="2346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Consider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172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pivoted </a:t>
            </a:r>
            <a:r>
              <a:rPr dirty="0" sz="1000" spc="-35">
                <a:latin typeface="Tahoma"/>
                <a:cs typeface="Tahoma"/>
              </a:rPr>
              <a:t>row,</a:t>
            </a:r>
            <a:r>
              <a:rPr dirty="0" sz="1000" spc="-20">
                <a:latin typeface="Tahoma"/>
                <a:cs typeface="Tahoma"/>
              </a:rPr>
              <a:t> i.e.,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 spc="270" i="1">
                <a:latin typeface="Calibri"/>
                <a:cs typeface="Calibri"/>
              </a:rPr>
              <a:t>&gt;</a:t>
            </a:r>
            <a:r>
              <a:rPr dirty="0" sz="1000" spc="15" i="1">
                <a:latin typeface="Calibri"/>
                <a:cs typeface="Calibri"/>
              </a:rPr>
              <a:t> </a:t>
            </a:r>
            <a:r>
              <a:rPr dirty="0" sz="1000" spc="-25">
                <a:latin typeface="Tahoma"/>
                <a:cs typeface="Tahoma"/>
              </a:rPr>
              <a:t>2.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745" y="822238"/>
            <a:ext cx="3638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8295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034" y="765294"/>
            <a:ext cx="5873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215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170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0716" y="751182"/>
            <a:ext cx="76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1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1579" y="789339"/>
            <a:ext cx="812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5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1297" y="765294"/>
            <a:ext cx="9099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400" i="1">
                <a:latin typeface="Arial"/>
                <a:cs typeface="Arial"/>
              </a:rPr>
              <a:t> 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sz="1000" spc="415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sz="1000" spc="365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94444" y="751182"/>
            <a:ext cx="76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1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321" y="789339"/>
            <a:ext cx="812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5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2616" y="859538"/>
            <a:ext cx="14478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283970" algn="l"/>
              </a:tabLst>
            </a:pPr>
            <a:r>
              <a:rPr dirty="0" baseline="7936" sz="1050" spc="-37" i="1">
                <a:latin typeface="Arial"/>
                <a:cs typeface="Arial"/>
              </a:rPr>
              <a:t>a</a:t>
            </a:r>
            <a:r>
              <a:rPr dirty="0" sz="500" spc="-25">
                <a:latin typeface="Tahoma"/>
                <a:cs typeface="Tahoma"/>
              </a:rPr>
              <a:t>22</a:t>
            </a:r>
            <a:r>
              <a:rPr dirty="0" sz="500">
                <a:latin typeface="Tahoma"/>
                <a:cs typeface="Tahoma"/>
              </a:rPr>
              <a:t>	</a:t>
            </a:r>
            <a:r>
              <a:rPr dirty="0" baseline="7936" sz="1050" spc="-37" i="1">
                <a:latin typeface="Arial"/>
                <a:cs typeface="Arial"/>
              </a:rPr>
              <a:t>a</a:t>
            </a:r>
            <a:r>
              <a:rPr dirty="0" sz="500" spc="-25">
                <a:latin typeface="Tahoma"/>
                <a:cs typeface="Tahoma"/>
              </a:rPr>
              <a:t>22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9961" y="624857"/>
            <a:ext cx="155956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36854" algn="l"/>
                <a:tab pos="1245870" algn="l"/>
                <a:tab pos="1470660" algn="l"/>
              </a:tabLst>
            </a:pP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5026" y="765294"/>
            <a:ext cx="86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3009" y="822238"/>
            <a:ext cx="13106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6705" algn="l"/>
                <a:tab pos="626110" algn="l"/>
                <a:tab pos="1224915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25" i="1">
                <a:latin typeface="Arial"/>
                <a:cs typeface="Arial"/>
              </a:rPr>
              <a:t>ij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ij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>
                <a:latin typeface="Tahoma"/>
                <a:cs typeface="Tahoma"/>
              </a:rPr>
              <a:t>2</a:t>
            </a:r>
            <a:r>
              <a:rPr dirty="0" sz="700" spc="-25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04163"/>
            <a:ext cx="52590" cy="5259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80034" y="1020056"/>
            <a:ext cx="31413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55">
                <a:latin typeface="Tahoma"/>
                <a:cs typeface="Tahoma"/>
              </a:rPr>
              <a:t> same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procedure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repeated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subsequent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pivot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rows.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327988"/>
            <a:ext cx="52590" cy="5259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54634" y="1243881"/>
            <a:ext cx="12344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k</a:t>
            </a:r>
            <a:r>
              <a:rPr dirty="0" baseline="27777" sz="1050" i="1">
                <a:latin typeface="Arial"/>
                <a:cs typeface="Arial"/>
              </a:rPr>
              <a:t>th</a:t>
            </a:r>
            <a:r>
              <a:rPr dirty="0" baseline="27777" sz="1050" spc="26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pivot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row,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4634" y="1464607"/>
            <a:ext cx="638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R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232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165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8280" y="1432702"/>
            <a:ext cx="711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23492" y="1488639"/>
            <a:ext cx="7429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ik</a:t>
            </a:r>
            <a:endParaRPr sz="5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90980" y="1572196"/>
            <a:ext cx="245110" cy="0"/>
          </a:xfrm>
          <a:custGeom>
            <a:avLst/>
            <a:gdLst/>
            <a:ahLst/>
            <a:cxnLst/>
            <a:rect l="l" t="t" r="r" b="b"/>
            <a:pathLst>
              <a:path w="245110" h="0">
                <a:moveTo>
                  <a:pt x="0" y="0"/>
                </a:moveTo>
                <a:lnTo>
                  <a:pt x="24479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352880" y="1525971"/>
            <a:ext cx="3149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7777" sz="1050" spc="-15" i="1">
                <a:latin typeface="Arial"/>
                <a:cs typeface="Arial"/>
              </a:rPr>
              <a:t>a</a:t>
            </a:r>
            <a:r>
              <a:rPr dirty="0" sz="500" spc="-10">
                <a:latin typeface="Tahoma"/>
                <a:cs typeface="Tahoma"/>
              </a:rPr>
              <a:t>(</a:t>
            </a:r>
            <a:r>
              <a:rPr dirty="0" sz="500" spc="-10" i="1">
                <a:latin typeface="Arial"/>
                <a:cs typeface="Arial"/>
              </a:rPr>
              <a:t>k</a:t>
            </a:r>
            <a:r>
              <a:rPr dirty="0" sz="500" spc="-10" i="1">
                <a:latin typeface="Verdana"/>
                <a:cs typeface="Verdana"/>
              </a:rPr>
              <a:t>−</a:t>
            </a:r>
            <a:r>
              <a:rPr dirty="0" sz="500" spc="-10">
                <a:latin typeface="Tahoma"/>
                <a:cs typeface="Tahoma"/>
              </a:rPr>
              <a:t>1)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23492" y="1628225"/>
            <a:ext cx="914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kk</a:t>
            </a:r>
            <a:endParaRPr sz="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27085" y="1464607"/>
            <a:ext cx="12369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00455" algn="l"/>
              </a:tabLst>
            </a:pPr>
            <a:r>
              <a:rPr dirty="0" sz="1000" i="1">
                <a:latin typeface="Arial"/>
                <a:cs typeface="Arial"/>
              </a:rPr>
              <a:t>R</a:t>
            </a:r>
            <a:r>
              <a:rPr dirty="0" baseline="-11904" sz="1050" i="1">
                <a:latin typeface="Arial"/>
                <a:cs typeface="Arial"/>
              </a:rPr>
              <a:t>k</a:t>
            </a:r>
            <a:r>
              <a:rPr dirty="0" baseline="-11904" sz="1050" spc="345" i="1">
                <a:latin typeface="Arial"/>
                <a:cs typeface="Arial"/>
              </a:rPr>
              <a:t> 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baseline="-23809" sz="1050" i="1">
                <a:latin typeface="Arial"/>
                <a:cs typeface="Arial"/>
              </a:rPr>
              <a:t>ij</a:t>
            </a:r>
            <a:r>
              <a:rPr dirty="0" baseline="-23809" sz="1050" spc="405" i="1">
                <a:latin typeface="Arial"/>
                <a:cs typeface="Arial"/>
              </a:rPr>
              <a:t> 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25" i="1">
                <a:latin typeface="Arial"/>
                <a:cs typeface="Arial"/>
              </a:rPr>
              <a:t>a</a:t>
            </a:r>
            <a:r>
              <a:rPr dirty="0" baseline="-23809" sz="1050" spc="-37" i="1">
                <a:latin typeface="Arial"/>
                <a:cs typeface="Arial"/>
              </a:rPr>
              <a:t>ij</a:t>
            </a:r>
            <a:r>
              <a:rPr dirty="0" baseline="-23809" sz="1050" i="1">
                <a:latin typeface="Arial"/>
                <a:cs typeface="Arial"/>
              </a:rPr>
              <a:t>	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36165" y="1436842"/>
            <a:ext cx="9842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3860" algn="l"/>
                <a:tab pos="925830" algn="l"/>
              </a:tabLst>
            </a:pPr>
            <a:r>
              <a:rPr dirty="0" sz="700" spc="-25">
                <a:latin typeface="Tahoma"/>
                <a:cs typeface="Tahoma"/>
              </a:rPr>
              <a:t>(</a:t>
            </a:r>
            <a:r>
              <a:rPr dirty="0" sz="700" spc="-25" i="1">
                <a:latin typeface="Arial"/>
                <a:cs typeface="Arial"/>
              </a:rPr>
              <a:t>k</a:t>
            </a:r>
            <a:r>
              <a:rPr dirty="0" sz="700" spc="-25">
                <a:latin typeface="Tahoma"/>
                <a:cs typeface="Tahoma"/>
              </a:rPr>
              <a:t>)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10">
                <a:latin typeface="Tahoma"/>
                <a:cs typeface="Tahoma"/>
              </a:rPr>
              <a:t>(</a:t>
            </a:r>
            <a:r>
              <a:rPr dirty="0" sz="700" spc="-10" i="1">
                <a:latin typeface="Arial"/>
                <a:cs typeface="Arial"/>
              </a:rPr>
              <a:t>k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1)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a</a:t>
            </a:r>
            <a:endParaRPr baseline="3968"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24266" y="1411690"/>
            <a:ext cx="18897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4020" algn="l"/>
              </a:tabLst>
            </a:pPr>
            <a:r>
              <a:rPr dirty="0" sz="500" spc="-10">
                <a:latin typeface="Tahoma"/>
                <a:cs typeface="Tahoma"/>
              </a:rPr>
              <a:t>(</a:t>
            </a:r>
            <a:r>
              <a:rPr dirty="0" sz="500" spc="-10" i="1">
                <a:latin typeface="Arial"/>
                <a:cs typeface="Arial"/>
              </a:rPr>
              <a:t>k</a:t>
            </a:r>
            <a:r>
              <a:rPr dirty="0" sz="500" spc="-10" i="1">
                <a:latin typeface="Verdana"/>
                <a:cs typeface="Verdana"/>
              </a:rPr>
              <a:t>−</a:t>
            </a:r>
            <a:r>
              <a:rPr dirty="0" sz="500" spc="-10">
                <a:latin typeface="Tahoma"/>
                <a:cs typeface="Tahoma"/>
              </a:rPr>
              <a:t>1)</a:t>
            </a:r>
            <a:r>
              <a:rPr dirty="0" sz="500">
                <a:latin typeface="Tahoma"/>
                <a:cs typeface="Tahoma"/>
              </a:rPr>
              <a:t>	</a:t>
            </a:r>
            <a:r>
              <a:rPr dirty="0" sz="500" spc="-20">
                <a:latin typeface="Tahoma"/>
                <a:cs typeface="Tahoma"/>
              </a:rPr>
              <a:t>(</a:t>
            </a:r>
            <a:r>
              <a:rPr dirty="0" sz="500" spc="-20" i="1">
                <a:latin typeface="Arial"/>
                <a:cs typeface="Arial"/>
              </a:rPr>
              <a:t>k</a:t>
            </a:r>
            <a:r>
              <a:rPr dirty="0" sz="500" spc="-20" i="1">
                <a:latin typeface="Verdana"/>
                <a:cs typeface="Verdana"/>
              </a:rPr>
              <a:t>−</a:t>
            </a:r>
            <a:r>
              <a:rPr dirty="0" sz="500" spc="-20">
                <a:latin typeface="Tahoma"/>
                <a:cs typeface="Tahoma"/>
              </a:rPr>
              <a:t>1)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94964" y="1488639"/>
            <a:ext cx="7429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ik</a:t>
            </a:r>
            <a:endParaRPr sz="5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62452" y="1572196"/>
            <a:ext cx="245110" cy="0"/>
          </a:xfrm>
          <a:custGeom>
            <a:avLst/>
            <a:gdLst/>
            <a:ahLst/>
            <a:cxnLst/>
            <a:rect l="l" t="t" r="r" b="b"/>
            <a:pathLst>
              <a:path w="245110" h="0">
                <a:moveTo>
                  <a:pt x="0" y="0"/>
                </a:moveTo>
                <a:lnTo>
                  <a:pt x="24479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024352" y="1525971"/>
            <a:ext cx="3149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7777" sz="1050" spc="-15" i="1">
                <a:latin typeface="Arial"/>
                <a:cs typeface="Arial"/>
              </a:rPr>
              <a:t>a</a:t>
            </a:r>
            <a:r>
              <a:rPr dirty="0" sz="500" spc="-10">
                <a:latin typeface="Tahoma"/>
                <a:cs typeface="Tahoma"/>
              </a:rPr>
              <a:t>(</a:t>
            </a:r>
            <a:r>
              <a:rPr dirty="0" sz="500" spc="-10" i="1">
                <a:latin typeface="Arial"/>
                <a:cs typeface="Arial"/>
              </a:rPr>
              <a:t>k</a:t>
            </a:r>
            <a:r>
              <a:rPr dirty="0" sz="500" spc="-10" i="1">
                <a:latin typeface="Verdana"/>
                <a:cs typeface="Verdana"/>
              </a:rPr>
              <a:t>−</a:t>
            </a:r>
            <a:r>
              <a:rPr dirty="0" sz="500" spc="-10">
                <a:latin typeface="Tahoma"/>
                <a:cs typeface="Tahoma"/>
              </a:rPr>
              <a:t>1)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94964" y="1628225"/>
            <a:ext cx="914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kk</a:t>
            </a:r>
            <a:endParaRPr sz="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69961" y="1286197"/>
            <a:ext cx="2158365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80365" algn="l"/>
                <a:tab pos="1684020" algn="l"/>
                <a:tab pos="2052320" algn="l"/>
              </a:tabLst>
            </a:pP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85997" y="1436842"/>
            <a:ext cx="2781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Tahoma"/>
                <a:cs typeface="Tahoma"/>
              </a:rPr>
              <a:t>(</a:t>
            </a:r>
            <a:r>
              <a:rPr dirty="0" sz="700" spc="-10" i="1">
                <a:latin typeface="Arial"/>
                <a:cs typeface="Arial"/>
              </a:rPr>
              <a:t>k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98558" y="1502770"/>
            <a:ext cx="20827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6666" sz="1500" spc="-37" i="1">
                <a:latin typeface="Arial"/>
                <a:cs typeface="Arial"/>
              </a:rPr>
              <a:t>a</a:t>
            </a:r>
            <a:r>
              <a:rPr dirty="0" sz="700" spc="-25" i="1">
                <a:latin typeface="Arial"/>
                <a:cs typeface="Arial"/>
              </a:rPr>
              <a:t>kj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0034" y="1613313"/>
            <a:ext cx="3652520" cy="4730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000" spc="-60">
                <a:latin typeface="Tahoma"/>
                <a:cs typeface="Tahoma"/>
              </a:rPr>
              <a:t>where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1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k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5">
                <a:latin typeface="Tahoma"/>
                <a:cs typeface="Tahoma"/>
              </a:rPr>
              <a:t>1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k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5">
                <a:latin typeface="Tahoma"/>
                <a:cs typeface="Tahoma"/>
              </a:rPr>
              <a:t>2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4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4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spc="-50" i="1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000">
                <a:latin typeface="Tahoma"/>
                <a:cs typeface="Tahoma"/>
              </a:rPr>
              <a:t>After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successive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forward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elimination,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augmented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becomes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993252"/>
            <a:ext cx="52590" cy="5259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80034" y="2060986"/>
            <a:ext cx="1287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upper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triangular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207096" y="2608722"/>
            <a:ext cx="774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10">
                <a:latin typeface="Lucida Sans Unicode"/>
                <a:cs typeface="Lucida Sans Unicode"/>
              </a:rPr>
              <a:t>∗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70520" y="232566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70520" y="240158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70520" y="2477495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86192" y="2623012"/>
            <a:ext cx="494030" cy="184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625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[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  <a:p>
            <a:pPr algn="r" marR="5080">
              <a:lnSpc>
                <a:spcPts val="625"/>
              </a:lnSpc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70520" y="2781165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70520" y="2862140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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31452" y="2216320"/>
            <a:ext cx="390525" cy="26416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8100" marR="30480">
              <a:lnSpc>
                <a:spcPct val="56999"/>
              </a:lnSpc>
              <a:spcBef>
                <a:spcPts val="610"/>
              </a:spcBef>
            </a:pPr>
            <a:r>
              <a:rPr dirty="0" baseline="8333" sz="1500" spc="-15" i="1">
                <a:latin typeface="Arial"/>
                <a:cs typeface="Arial"/>
              </a:rPr>
              <a:t>a</a:t>
            </a:r>
            <a:r>
              <a:rPr dirty="0" sz="700" spc="-10">
                <a:latin typeface="Tahoma"/>
                <a:cs typeface="Tahoma"/>
              </a:rPr>
              <a:t>1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 </a:t>
            </a:r>
            <a:r>
              <a:rPr dirty="0" baseline="-19444" sz="1500" spc="-37" i="1">
                <a:latin typeface="Arial"/>
                <a:cs typeface="Arial"/>
              </a:rPr>
              <a:t>a</a:t>
            </a:r>
            <a:r>
              <a:rPr dirty="0" sz="700" spc="-25">
                <a:latin typeface="Lucida Sans Unicode"/>
                <a:cs typeface="Lucida Sans Unicode"/>
              </a:rPr>
              <a:t>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322573" y="2216320"/>
            <a:ext cx="233045" cy="26416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8100" marR="30480">
              <a:lnSpc>
                <a:spcPct val="56999"/>
              </a:lnSpc>
              <a:spcBef>
                <a:spcPts val="610"/>
              </a:spcBef>
            </a:pPr>
            <a:r>
              <a:rPr dirty="0" baseline="8333" sz="1500" spc="-75" i="1">
                <a:latin typeface="Arial"/>
                <a:cs typeface="Arial"/>
              </a:rPr>
              <a:t>a</a:t>
            </a: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 spc="-50" i="1">
                <a:latin typeface="Arial"/>
                <a:cs typeface="Arial"/>
              </a:rPr>
              <a:t>n</a:t>
            </a:r>
            <a:r>
              <a:rPr dirty="0" sz="700" spc="500" i="1">
                <a:latin typeface="Arial"/>
                <a:cs typeface="Arial"/>
              </a:rPr>
              <a:t> </a:t>
            </a:r>
            <a:r>
              <a:rPr dirty="0" baseline="-19444" sz="1500" spc="-37" i="1">
                <a:latin typeface="Arial"/>
                <a:cs typeface="Arial"/>
              </a:rPr>
              <a:t>a</a:t>
            </a:r>
            <a:r>
              <a:rPr dirty="0" sz="700" spc="-25">
                <a:latin typeface="Lucida Sans Unicode"/>
                <a:cs typeface="Lucida Sans Unicode"/>
              </a:rPr>
              <a:t>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57510" y="2102985"/>
            <a:ext cx="3441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41666" sz="1500" i="1">
                <a:latin typeface="Arial"/>
                <a:cs typeface="Arial"/>
              </a:rPr>
              <a:t>b</a:t>
            </a:r>
            <a:r>
              <a:rPr dirty="0" baseline="-71428" sz="1050">
                <a:latin typeface="Tahoma"/>
                <a:cs typeface="Tahoma"/>
              </a:rPr>
              <a:t>1</a:t>
            </a:r>
            <a:r>
              <a:rPr dirty="0" baseline="-71428" sz="1050" spc="434">
                <a:latin typeface="Tahoma"/>
                <a:cs typeface="Tahoma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603844" y="2349175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17230" y="2303251"/>
            <a:ext cx="1676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-37" i="1">
                <a:latin typeface="Arial"/>
                <a:cs typeface="Arial"/>
              </a:rPr>
              <a:t>a</a:t>
            </a:r>
            <a:r>
              <a:rPr dirty="0" sz="700" spc="-25">
                <a:latin typeface="Lucida Sans Unicode"/>
                <a:cs typeface="Lucida Sans Unicode"/>
              </a:rPr>
              <a:t>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32420" y="2216320"/>
            <a:ext cx="916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22275" algn="l"/>
                <a:tab pos="710565" algn="l"/>
              </a:tabLst>
            </a:pPr>
            <a:r>
              <a:rPr dirty="0" baseline="50000" sz="1500" spc="-30">
                <a:latin typeface="Lucida Sans Unicode"/>
                <a:cs typeface="Lucida Sans Unicode"/>
              </a:rPr>
              <a:t></a:t>
            </a:r>
            <a:r>
              <a:rPr dirty="0" baseline="8333" sz="1500" spc="-30" i="1">
                <a:latin typeface="Arial"/>
                <a:cs typeface="Arial"/>
              </a:rPr>
              <a:t>a</a:t>
            </a:r>
            <a:r>
              <a:rPr dirty="0" sz="700" spc="-20">
                <a:latin typeface="Tahoma"/>
                <a:cs typeface="Tahoma"/>
              </a:rPr>
              <a:t>11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8333" sz="1500" spc="-37" i="1">
                <a:latin typeface="Arial"/>
                <a:cs typeface="Arial"/>
              </a:rPr>
              <a:t>a</a:t>
            </a:r>
            <a:r>
              <a:rPr dirty="0" sz="700" spc="-25">
                <a:latin typeface="Tahoma"/>
                <a:cs typeface="Tahoma"/>
              </a:rPr>
              <a:t>12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8333" sz="1500" spc="-682" i="1">
                <a:latin typeface="Arial"/>
                <a:cs typeface="Arial"/>
              </a:rPr>
              <a:t>a</a:t>
            </a:r>
            <a:r>
              <a:rPr dirty="0" baseline="-58333" sz="1500" spc="157" i="1">
                <a:latin typeface="Arial"/>
                <a:cs typeface="Arial"/>
              </a:rPr>
              <a:t>a</a:t>
            </a:r>
            <a:r>
              <a:rPr dirty="0" sz="700" spc="105">
                <a:latin typeface="Tahoma"/>
                <a:cs typeface="Tahoma"/>
              </a:rPr>
              <a:t>1</a:t>
            </a:r>
            <a:r>
              <a:rPr dirty="0" sz="700" spc="-670">
                <a:latin typeface="Tahoma"/>
                <a:cs typeface="Tahoma"/>
              </a:rPr>
              <a:t>3</a:t>
            </a:r>
            <a:r>
              <a:rPr dirty="0" baseline="-55555" sz="1050" spc="157">
                <a:latin typeface="Lucida Sans Unicode"/>
                <a:cs typeface="Lucida Sans Unicode"/>
              </a:rPr>
              <a:t>′</a:t>
            </a:r>
            <a:endParaRPr baseline="-55555" sz="105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191181" y="2419581"/>
            <a:ext cx="120014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Tahoma"/>
                <a:cs typeface="Tahoma"/>
              </a:rPr>
              <a:t>23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03857" y="2419581"/>
            <a:ext cx="419100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755"/>
              </a:lnSpc>
              <a:spcBef>
                <a:spcPts val="95"/>
              </a:spcBef>
            </a:pPr>
            <a:r>
              <a:rPr dirty="0" sz="700" spc="-25">
                <a:latin typeface="Tahoma"/>
                <a:cs typeface="Tahoma"/>
              </a:rPr>
              <a:t>22</a:t>
            </a:r>
            <a:endParaRPr sz="700">
              <a:latin typeface="Tahoma"/>
              <a:cs typeface="Tahoma"/>
            </a:endParaRPr>
          </a:p>
          <a:p>
            <a:pPr marL="12700">
              <a:lnSpc>
                <a:spcPts val="1115"/>
              </a:lnSpc>
              <a:tabLst>
                <a:tab pos="30035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08781" y="2419581"/>
            <a:ext cx="121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Tahoma"/>
                <a:cs typeface="Tahoma"/>
              </a:rPr>
              <a:t>2</a:t>
            </a:r>
            <a:r>
              <a:rPr dirty="0" sz="700" spc="-2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82923" y="2349175"/>
            <a:ext cx="90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852151" y="2341209"/>
            <a:ext cx="546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Lucida Sans Unicode"/>
                <a:cs typeface="Lucida Sans Unicode"/>
              </a:rPr>
              <a:t>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48290" y="2419581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04986" y="2459207"/>
            <a:ext cx="196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-37" i="1">
                <a:latin typeface="Arial"/>
                <a:cs typeface="Arial"/>
              </a:rPr>
              <a:t>a</a:t>
            </a:r>
            <a:r>
              <a:rPr dirty="0" sz="700" spc="-25">
                <a:latin typeface="Lucida Sans Unicode"/>
                <a:cs typeface="Lucida Sans Unicode"/>
              </a:rPr>
              <a:t>′′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191181" y="2575537"/>
            <a:ext cx="120014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Tahoma"/>
                <a:cs typeface="Tahoma"/>
              </a:rPr>
              <a:t>33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418143" y="2197346"/>
            <a:ext cx="173355" cy="485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  <a:p>
            <a:pPr marL="12700">
              <a:lnSpc>
                <a:spcPts val="1200"/>
              </a:lnSpc>
            </a:pP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31452" y="2459207"/>
            <a:ext cx="196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-37" i="1">
                <a:latin typeface="Arial"/>
                <a:cs typeface="Arial"/>
              </a:rPr>
              <a:t>a</a:t>
            </a:r>
            <a:r>
              <a:rPr dirty="0" sz="700" spc="-25">
                <a:latin typeface="Lucida Sans Unicode"/>
                <a:cs typeface="Lucida Sans Unicode"/>
              </a:rPr>
              <a:t>′′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17660" y="2369905"/>
            <a:ext cx="278765" cy="33782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700" spc="-10">
                <a:latin typeface="Tahoma"/>
                <a:cs typeface="Tahoma"/>
              </a:rPr>
              <a:t>2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00" spc="-10">
                <a:latin typeface="Tahoma"/>
                <a:cs typeface="Tahoma"/>
              </a:rPr>
              <a:t>3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22573" y="2459207"/>
            <a:ext cx="196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-37" i="1">
                <a:latin typeface="Arial"/>
                <a:cs typeface="Arial"/>
              </a:rPr>
              <a:t>a</a:t>
            </a:r>
            <a:r>
              <a:rPr dirty="0" sz="700" spc="-25">
                <a:latin typeface="Lucida Sans Unicode"/>
                <a:cs typeface="Lucida Sans Unicode"/>
              </a:rPr>
              <a:t>′′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408781" y="2575537"/>
            <a:ext cx="121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Tahoma"/>
                <a:cs typeface="Tahoma"/>
              </a:rPr>
              <a:t>3</a:t>
            </a:r>
            <a:r>
              <a:rPr dirty="0" sz="700" spc="-2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775341" y="2505131"/>
            <a:ext cx="90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44581" y="2497165"/>
            <a:ext cx="838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Lucida Sans Unicode"/>
                <a:cs typeface="Lucida Sans Unicode"/>
              </a:rPr>
              <a:t>′′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840708" y="2575537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17916" y="2641262"/>
            <a:ext cx="3486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355" algn="l"/>
              </a:tabLst>
            </a:pPr>
            <a:r>
              <a:rPr dirty="0" sz="1000" spc="-50">
                <a:latin typeface="Tahoma"/>
                <a:cs typeface="Tahoma"/>
              </a:rPr>
              <a:t>.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617916" y="2691871"/>
            <a:ext cx="6362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355" algn="l"/>
                <a:tab pos="588010" algn="l"/>
              </a:tabLst>
            </a:pPr>
            <a:r>
              <a:rPr dirty="0" sz="1000" spc="-50">
                <a:latin typeface="Tahoma"/>
                <a:cs typeface="Tahoma"/>
              </a:rPr>
              <a:t>.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.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617916" y="2742481"/>
            <a:ext cx="6362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355" algn="l"/>
                <a:tab pos="588010" algn="l"/>
              </a:tabLst>
            </a:pPr>
            <a:r>
              <a:rPr dirty="0" sz="1000" spc="-50">
                <a:latin typeface="Tahoma"/>
                <a:cs typeface="Tahoma"/>
              </a:rPr>
              <a:t>.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.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399779" y="2653911"/>
            <a:ext cx="1606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Tahoma"/>
                <a:cs typeface="Tahoma"/>
              </a:rPr>
              <a:t>.</a:t>
            </a:r>
            <a:r>
              <a:rPr dirty="0" sz="1000" spc="-200">
                <a:latin typeface="Tahoma"/>
                <a:cs typeface="Tahoma"/>
              </a:rPr>
              <a:t> </a:t>
            </a:r>
            <a:r>
              <a:rPr dirty="0" baseline="-16666" sz="1500" spc="-75">
                <a:latin typeface="Tahoma"/>
                <a:cs typeface="Tahoma"/>
              </a:rPr>
              <a:t>.</a:t>
            </a:r>
            <a:endParaRPr baseline="-16666" sz="150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523578" y="2729819"/>
            <a:ext cx="60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99498" y="2691871"/>
            <a:ext cx="60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412528" y="2691871"/>
            <a:ext cx="60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654185" y="2723508"/>
            <a:ext cx="993775" cy="50038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245"/>
              </a:spcBef>
              <a:tabLst>
                <a:tab pos="770890" algn="l"/>
              </a:tabLst>
            </a:pPr>
            <a:r>
              <a:rPr dirty="0" sz="1000" spc="-50">
                <a:latin typeface="Tahoma"/>
                <a:cs typeface="Tahoma"/>
              </a:rPr>
              <a:t>.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ts val="1125"/>
              </a:lnSpc>
              <a:spcBef>
                <a:spcPts val="145"/>
              </a:spcBef>
              <a:tabLst>
                <a:tab pos="626745" algn="l"/>
              </a:tabLst>
            </a:pPr>
            <a:r>
              <a:rPr dirty="0" baseline="8333" sz="1500" spc="-15" i="1">
                <a:latin typeface="Arial"/>
                <a:cs typeface="Arial"/>
              </a:rPr>
              <a:t>a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8333" sz="1500" spc="-15" i="1">
                <a:latin typeface="Arial"/>
                <a:cs typeface="Arial"/>
              </a:rPr>
              <a:t>a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  <a:p>
            <a:pPr marL="243840">
              <a:lnSpc>
                <a:spcPts val="1125"/>
              </a:lnSpc>
              <a:tabLst>
                <a:tab pos="70548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 i="1">
                <a:latin typeface="Arial"/>
                <a:cs typeface="Arial"/>
              </a:rPr>
              <a:t>a</a:t>
            </a:r>
            <a:r>
              <a:rPr dirty="0" baseline="-11904" sz="1050" spc="-37" i="1">
                <a:latin typeface="Arial"/>
                <a:cs typeface="Arial"/>
              </a:rPr>
              <a:t>nn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824719" y="2691871"/>
            <a:ext cx="60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824719" y="2742481"/>
            <a:ext cx="60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03844" y="2894309"/>
            <a:ext cx="98742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  <a:tabLst>
                <a:tab pos="300355" algn="l"/>
                <a:tab pos="588010" algn="l"/>
                <a:tab pos="826769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  <a:p>
            <a:pPr marL="12700">
              <a:lnSpc>
                <a:spcPts val="1200"/>
              </a:lnSpc>
              <a:tabLst>
                <a:tab pos="300355" algn="l"/>
                <a:tab pos="588010" algn="l"/>
                <a:tab pos="826769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415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718343" y="2894309"/>
            <a:ext cx="90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783710" y="2951241"/>
            <a:ext cx="201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756012" y="3046138"/>
            <a:ext cx="1905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b</a:t>
            </a:r>
            <a:r>
              <a:rPr dirty="0" baseline="-11904" sz="1050" spc="-37" i="1">
                <a:latin typeface="Arial"/>
                <a:cs typeface="Arial"/>
              </a:rPr>
              <a:t>n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966235" y="232566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966235" y="240158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966235" y="2477508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966235" y="262933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66235" y="2781165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966235" y="2862140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</a:t>
            </a:r>
            <a:endParaRPr sz="1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Apply</a:t>
            </a:r>
            <a:r>
              <a:rPr dirty="0" spc="-55"/>
              <a:t> </a:t>
            </a:r>
            <a:r>
              <a:rPr dirty="0" spc="-60"/>
              <a:t>Gauss-</a:t>
            </a:r>
            <a:r>
              <a:rPr dirty="0" spc="-20"/>
              <a:t>Elimination</a:t>
            </a:r>
            <a:r>
              <a:rPr dirty="0" spc="-50"/>
              <a:t> </a:t>
            </a:r>
            <a:r>
              <a:rPr dirty="0"/>
              <a:t>Method,</a:t>
            </a:r>
            <a:r>
              <a:rPr dirty="0" spc="-55"/>
              <a:t>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3258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620039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26625"/>
            <a:ext cx="1986914" cy="3867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II: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Backward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Substitution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60"/>
              </a:spcBef>
            </a:pPr>
            <a:r>
              <a:rPr dirty="0" sz="1000" spc="-20">
                <a:latin typeface="Tahoma"/>
                <a:cs typeface="Tahoma"/>
              </a:rPr>
              <a:t>Starting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last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equation,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9754" y="852236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6010" y="709706"/>
            <a:ext cx="553720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6550">
              <a:lnSpc>
                <a:spcPts val="935"/>
              </a:lnSpc>
              <a:spcBef>
                <a:spcPts val="95"/>
              </a:spcBef>
            </a:pPr>
            <a:r>
              <a:rPr dirty="0" u="sng" sz="1000" spc="-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0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baseline="-11904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baseline="-11904" sz="1050" spc="7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1904" sz="1050">
              <a:latin typeface="Arial"/>
              <a:cs typeface="Arial"/>
            </a:endParaRPr>
          </a:p>
          <a:p>
            <a:pPr marL="38100">
              <a:lnSpc>
                <a:spcPts val="935"/>
              </a:lnSpc>
            </a:pP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39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84638" y="901070"/>
            <a:ext cx="2343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-37" i="1">
                <a:latin typeface="Arial"/>
                <a:cs typeface="Arial"/>
              </a:rPr>
              <a:t>a</a:t>
            </a:r>
            <a:r>
              <a:rPr dirty="0" sz="700" spc="-25" i="1">
                <a:latin typeface="Arial"/>
                <a:cs typeface="Arial"/>
              </a:rPr>
              <a:t>nn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8702" y="1182080"/>
            <a:ext cx="201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4958" y="1058524"/>
            <a:ext cx="1346835" cy="244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2280">
              <a:lnSpc>
                <a:spcPts val="860"/>
              </a:lnSpc>
              <a:spcBef>
                <a:spcPts val="95"/>
              </a:spcBef>
            </a:pPr>
            <a:r>
              <a:rPr dirty="0" u="sng" baseline="8333" sz="1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8333" sz="1500" spc="-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8333" sz="1500" spc="-13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baseline="8333" sz="15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baseline="8333" sz="15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860"/>
              </a:lnSpc>
              <a:tabLst>
                <a:tab pos="313690" algn="l"/>
              </a:tabLst>
            </a:pPr>
            <a:r>
              <a:rPr dirty="0" sz="1000" spc="-50" i="1">
                <a:latin typeface="Arial"/>
                <a:cs typeface="Arial"/>
              </a:rPr>
              <a:t>x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0677" y="1211928"/>
            <a:ext cx="86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91484" y="1268872"/>
            <a:ext cx="4083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25219" y="1536169"/>
            <a:ext cx="201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1475" y="1412613"/>
            <a:ext cx="2298065" cy="244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2280">
              <a:lnSpc>
                <a:spcPts val="860"/>
              </a:lnSpc>
              <a:spcBef>
                <a:spcPts val="95"/>
              </a:spcBef>
            </a:pPr>
            <a:r>
              <a:rPr dirty="0" u="sng" baseline="8333" sz="1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8333" sz="1500" spc="-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8333" sz="1500" spc="-89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baseline="8333" sz="15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baseline="8333" sz="1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baseline="8333" sz="1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700" spc="9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8333" sz="15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dirty="0" u="sng" baseline="8333" sz="1500" spc="-9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8333" sz="15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baseline="8333" sz="15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sz="7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baseline="8333" sz="15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endParaRPr baseline="8333" sz="1500">
              <a:latin typeface="Tahoma"/>
              <a:cs typeface="Tahoma"/>
            </a:endParaRPr>
          </a:p>
          <a:p>
            <a:pPr marL="38100">
              <a:lnSpc>
                <a:spcPts val="860"/>
              </a:lnSpc>
              <a:tabLst>
                <a:tab pos="313690" algn="l"/>
              </a:tabLst>
            </a:pPr>
            <a:r>
              <a:rPr dirty="0" sz="1000" spc="-50" i="1">
                <a:latin typeface="Arial"/>
                <a:cs typeface="Arial"/>
              </a:rPr>
              <a:t>x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58935" y="1566016"/>
            <a:ext cx="86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19730" y="1622961"/>
            <a:ext cx="4083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2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907489"/>
            <a:ext cx="52590" cy="5259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4634" y="1751374"/>
            <a:ext cx="205105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46900"/>
              </a:lnSpc>
              <a:spcBef>
                <a:spcPts val="100"/>
              </a:spcBef>
            </a:pPr>
            <a:r>
              <a:rPr dirty="0" sz="1000" spc="-25">
                <a:latin typeface="Tahoma"/>
                <a:cs typeface="Tahoma"/>
              </a:rPr>
              <a:t>Continue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upward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until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7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obtained.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general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form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is: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131314"/>
            <a:ext cx="52590" cy="5259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712252" y="2578181"/>
            <a:ext cx="4349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i="1">
                <a:latin typeface="Arial"/>
                <a:cs typeface="Arial"/>
              </a:rPr>
              <a:t>x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Lucida Sans Unicode"/>
                <a:cs typeface="Lucida Sans Unicode"/>
              </a:rPr>
              <a:t>−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spc="240" i="1">
                <a:latin typeface="Arial"/>
                <a:cs typeface="Arial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=</a:t>
            </a:r>
            <a:endParaRPr baseline="8333" sz="15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11920" y="2385557"/>
            <a:ext cx="1771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5943" y="2208418"/>
            <a:ext cx="1828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33230" y="2208420"/>
            <a:ext cx="20827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795">
                <a:latin typeface="Lucida Sans Unicode"/>
                <a:cs typeface="Lucida Sans Unicode"/>
              </a:rPr>
              <a:t>Σ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46541" y="2328613"/>
            <a:ext cx="676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2415" algn="l"/>
                <a:tab pos="602615" algn="l"/>
              </a:tabLst>
            </a:pPr>
            <a:r>
              <a:rPr dirty="0" sz="1000" spc="-50" i="1">
                <a:latin typeface="Arial"/>
                <a:cs typeface="Arial"/>
              </a:rPr>
              <a:t>b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50" i="1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47886" y="2517942"/>
            <a:ext cx="1790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25" i="1">
                <a:latin typeface="Arial"/>
                <a:cs typeface="Arial"/>
              </a:rPr>
              <a:t>j</a:t>
            </a:r>
            <a:r>
              <a:rPr dirty="0" sz="700" spc="25">
                <a:latin typeface="Tahoma"/>
                <a:cs typeface="Tahoma"/>
              </a:rPr>
              <a:t>=0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56940" y="2328613"/>
            <a:ext cx="838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97873" y="2385557"/>
            <a:ext cx="5975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 i="1">
                <a:latin typeface="Arial"/>
                <a:cs typeface="Arial"/>
              </a:rPr>
              <a:t>n</a:t>
            </a:r>
            <a:r>
              <a:rPr dirty="0" sz="700" spc="45">
                <a:latin typeface="Lucida Sans Unicode"/>
                <a:cs typeface="Lucida Sans Unicode"/>
              </a:rPr>
              <a:t>−</a:t>
            </a:r>
            <a:r>
              <a:rPr dirty="0" sz="700" spc="45" i="1">
                <a:latin typeface="Arial"/>
                <a:cs typeface="Arial"/>
              </a:rPr>
              <a:t>i</a:t>
            </a:r>
            <a:r>
              <a:rPr dirty="0" sz="700" spc="45" i="1">
                <a:latin typeface="Calibri"/>
                <a:cs typeface="Calibri"/>
              </a:rPr>
              <a:t>,</a:t>
            </a:r>
            <a:r>
              <a:rPr dirty="0" sz="700" spc="45" i="1">
                <a:latin typeface="Arial"/>
                <a:cs typeface="Arial"/>
              </a:rPr>
              <a:t>n</a:t>
            </a:r>
            <a:r>
              <a:rPr dirty="0" sz="700" spc="45">
                <a:latin typeface="Lucida Sans Unicode"/>
                <a:cs typeface="Lucida Sans Unicode"/>
              </a:rPr>
              <a:t>−</a:t>
            </a:r>
            <a:r>
              <a:rPr dirty="0" sz="700" spc="45" i="1">
                <a:latin typeface="Arial"/>
                <a:cs typeface="Arial"/>
              </a:rPr>
              <a:t>j</a:t>
            </a:r>
            <a:r>
              <a:rPr dirty="0" sz="700" spc="390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59241" y="2666796"/>
            <a:ext cx="1237615" cy="0"/>
          </a:xfrm>
          <a:custGeom>
            <a:avLst/>
            <a:gdLst/>
            <a:ahLst/>
            <a:cxnLst/>
            <a:rect l="l" t="t" r="r" b="b"/>
            <a:pathLst>
              <a:path w="1237614" h="0">
                <a:moveTo>
                  <a:pt x="0" y="0"/>
                </a:moveTo>
                <a:lnTo>
                  <a:pt x="123739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556319" y="2645999"/>
            <a:ext cx="86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17114" y="2702930"/>
            <a:ext cx="3676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 i="1">
                <a:latin typeface="Arial"/>
                <a:cs typeface="Arial"/>
              </a:rPr>
              <a:t>i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n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95089" y="2559207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(8)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987459"/>
            <a:ext cx="52590" cy="5259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54634" y="2903352"/>
            <a:ext cx="290576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dirty="0" sz="1000" spc="-35">
                <a:latin typeface="Tahoma"/>
                <a:cs typeface="Tahoma"/>
              </a:rPr>
              <a:t>Therefore,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successive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backward-</a:t>
            </a:r>
            <a:r>
              <a:rPr dirty="0" sz="1000" spc="-25">
                <a:latin typeface="Tahoma"/>
                <a:cs typeface="Tahoma"/>
              </a:rPr>
              <a:t>substitution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steps.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</a:pPr>
            <a:r>
              <a:rPr dirty="0" sz="1000" i="1">
                <a:latin typeface="Arial"/>
                <a:cs typeface="Arial"/>
              </a:rPr>
              <a:t>x</a:t>
            </a:r>
            <a:r>
              <a:rPr dirty="0" baseline="-11904" sz="1050" i="1">
                <a:latin typeface="Arial"/>
                <a:cs typeface="Arial"/>
              </a:rPr>
              <a:t>n</a:t>
            </a:r>
            <a:r>
              <a:rPr dirty="0" baseline="-11904" sz="1050" spc="187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baseline="-11904" sz="1050" i="1">
                <a:latin typeface="Arial"/>
                <a:cs typeface="Arial"/>
              </a:rPr>
              <a:t>n</a:t>
            </a:r>
            <a:r>
              <a:rPr dirty="0" baseline="-11904" sz="1050">
                <a:latin typeface="Lucida Sans Unicode"/>
                <a:cs typeface="Lucida Sans Unicode"/>
              </a:rPr>
              <a:t>−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42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baseline="-11904" sz="1050" i="1">
                <a:latin typeface="Arial"/>
                <a:cs typeface="Arial"/>
              </a:rPr>
              <a:t>n</a:t>
            </a:r>
            <a:r>
              <a:rPr dirty="0" baseline="-11904" sz="1050">
                <a:latin typeface="Lucida Sans Unicode"/>
                <a:cs typeface="Lucida Sans Unicode"/>
              </a:rPr>
              <a:t>−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15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5">
                <a:latin typeface="Lucida Sans Unicode"/>
                <a:cs typeface="Lucida Sans Unicode"/>
              </a:rPr>
              <a:t>·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25" i="1">
                <a:latin typeface="Arial"/>
                <a:cs typeface="Arial"/>
              </a:rPr>
              <a:t>x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7862"/>
                </a:lnTo>
                <a:lnTo>
                  <a:pt x="4608004" y="577862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352290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 spc="-55"/>
              <a:t>Ex-</a:t>
            </a:r>
            <a:r>
              <a:rPr dirty="0"/>
              <a:t>1:</a:t>
            </a:r>
            <a:r>
              <a:rPr dirty="0" spc="10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0"/>
              <a:t> </a:t>
            </a:r>
            <a:r>
              <a:rPr dirty="0" spc="-60"/>
              <a:t>steady-</a:t>
            </a:r>
            <a:r>
              <a:rPr dirty="0" spc="-20"/>
              <a:t>state</a:t>
            </a:r>
            <a:r>
              <a:rPr dirty="0" spc="-35"/>
              <a:t> heat</a:t>
            </a:r>
            <a:r>
              <a:rPr dirty="0" spc="-30"/>
              <a:t> </a:t>
            </a:r>
            <a:r>
              <a:rPr dirty="0" spc="-35"/>
              <a:t>conduction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 spc="-40"/>
              <a:t>uniform</a:t>
            </a:r>
            <a:r>
              <a:rPr dirty="0" spc="-35"/>
              <a:t> </a:t>
            </a:r>
            <a:r>
              <a:rPr dirty="0" spc="-20"/>
              <a:t>heat </a:t>
            </a:r>
            <a:r>
              <a:rPr dirty="0" spc="-60"/>
              <a:t>source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50"/>
              <a:t>plane</a:t>
            </a:r>
            <a:r>
              <a:rPr dirty="0" spc="-20"/>
              <a:t> 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0533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0301" y="770577"/>
            <a:ext cx="1092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5">
                <a:latin typeface="Lucida Sans Unicode"/>
                <a:cs typeface="Lucida Sans Unicode"/>
              </a:rPr>
              <a:t>′′′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621879"/>
            <a:ext cx="398716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1-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steady-</a:t>
            </a:r>
            <a:r>
              <a:rPr dirty="0" sz="1100" spc="-25">
                <a:latin typeface="Tahoma"/>
                <a:cs typeface="Tahoma"/>
              </a:rPr>
              <a:t>state heat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conduction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uniform</a:t>
            </a:r>
            <a:r>
              <a:rPr dirty="0" sz="1100" spc="-25">
                <a:latin typeface="Tahoma"/>
                <a:cs typeface="Tahoma"/>
              </a:rPr>
              <a:t> heat</a:t>
            </a:r>
            <a:r>
              <a:rPr dirty="0" sz="1100" spc="-30">
                <a:latin typeface="Tahoma"/>
                <a:cs typeface="Tahoma"/>
              </a:rPr>
              <a:t> source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31775" algn="l"/>
              </a:tabLst>
            </a:pPr>
            <a:r>
              <a:rPr dirty="0" sz="1100" spc="-420" i="1">
                <a:latin typeface="Arial"/>
                <a:cs typeface="Arial"/>
              </a:rPr>
              <a:t>q</a:t>
            </a:r>
            <a:r>
              <a:rPr dirty="0" sz="1100" spc="-420">
                <a:latin typeface="Tahoma"/>
                <a:cs typeface="Tahoma"/>
              </a:rPr>
              <a:t>˙</a:t>
            </a:r>
            <a:r>
              <a:rPr dirty="0" sz="1100">
                <a:latin typeface="Tahoma"/>
                <a:cs typeface="Tahoma"/>
              </a:rPr>
              <a:t>	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plane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slab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thickness </a:t>
            </a:r>
            <a:r>
              <a:rPr dirty="0" sz="1100" spc="-25" i="1">
                <a:latin typeface="Arial"/>
                <a:cs typeface="Arial"/>
              </a:rPr>
              <a:t>L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17989" y="1105950"/>
            <a:ext cx="1317625" cy="1551940"/>
            <a:chOff x="1917989" y="1105950"/>
            <a:chExt cx="1317625" cy="1551940"/>
          </a:xfrm>
        </p:grpSpPr>
        <p:sp>
          <p:nvSpPr>
            <p:cNvPr id="8" name="object 8"/>
            <p:cNvSpPr/>
            <p:nvPr/>
          </p:nvSpPr>
          <p:spPr>
            <a:xfrm>
              <a:off x="1948433" y="1115012"/>
              <a:ext cx="0" cy="1512570"/>
            </a:xfrm>
            <a:custGeom>
              <a:avLst/>
              <a:gdLst/>
              <a:ahLst/>
              <a:cxnLst/>
              <a:rect l="l" t="t" r="r" b="b"/>
              <a:pathLst>
                <a:path w="0" h="1512570">
                  <a:moveTo>
                    <a:pt x="0" y="151202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22117" y="1110078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5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48433" y="2627033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5" h="0">
                  <a:moveTo>
                    <a:pt x="0" y="0"/>
                  </a:moveTo>
                  <a:lnTo>
                    <a:pt x="127802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06716" y="2600716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54253" y="1386828"/>
              <a:ext cx="924560" cy="0"/>
            </a:xfrm>
            <a:custGeom>
              <a:avLst/>
              <a:gdLst/>
              <a:ahLst/>
              <a:cxnLst/>
              <a:rect l="l" t="t" r="r" b="b"/>
              <a:pathLst>
                <a:path w="924560" h="0">
                  <a:moveTo>
                    <a:pt x="0" y="0"/>
                  </a:moveTo>
                  <a:lnTo>
                    <a:pt x="92436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50458" y="136658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63433" y="136658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273958" y="2506585"/>
            <a:ext cx="8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6965" y="1002917"/>
            <a:ext cx="480059" cy="364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  <a:p>
            <a:pPr marL="391795">
              <a:lnSpc>
                <a:spcPct val="100000"/>
              </a:lnSpc>
              <a:spcBef>
                <a:spcPts val="35"/>
              </a:spcBef>
            </a:pPr>
            <a:r>
              <a:rPr dirty="0" sz="1100" spc="-50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39171" y="1340029"/>
            <a:ext cx="1555115" cy="714375"/>
            <a:chOff x="1639171" y="1340029"/>
            <a:chExt cx="1555115" cy="714375"/>
          </a:xfrm>
        </p:grpSpPr>
        <p:sp>
          <p:nvSpPr>
            <p:cNvPr id="18" name="object 18"/>
            <p:cNvSpPr/>
            <p:nvPr/>
          </p:nvSpPr>
          <p:spPr>
            <a:xfrm>
              <a:off x="1644232" y="1340029"/>
              <a:ext cx="1240790" cy="697865"/>
            </a:xfrm>
            <a:custGeom>
              <a:avLst/>
              <a:gdLst/>
              <a:ahLst/>
              <a:cxnLst/>
              <a:rect l="l" t="t" r="r" b="b"/>
              <a:pathLst>
                <a:path w="1240789" h="697864">
                  <a:moveTo>
                    <a:pt x="1240204" y="117000"/>
                  </a:moveTo>
                  <a:lnTo>
                    <a:pt x="1240204" y="0"/>
                  </a:lnTo>
                </a:path>
                <a:path w="1240789" h="697864">
                  <a:moveTo>
                    <a:pt x="0" y="526501"/>
                  </a:moveTo>
                  <a:lnTo>
                    <a:pt x="284797" y="697379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98564" y="2004687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081" y="0"/>
                  </a:moveTo>
                  <a:lnTo>
                    <a:pt x="26248" y="8881"/>
                  </a:lnTo>
                  <a:lnTo>
                    <a:pt x="28244" y="19640"/>
                  </a:lnTo>
                  <a:lnTo>
                    <a:pt x="31563" y="29394"/>
                  </a:lnTo>
                  <a:lnTo>
                    <a:pt x="34697" y="35261"/>
                  </a:lnTo>
                  <a:lnTo>
                    <a:pt x="28046" y="35256"/>
                  </a:lnTo>
                  <a:lnTo>
                    <a:pt x="17877" y="36918"/>
                  </a:lnTo>
                  <a:lnTo>
                    <a:pt x="7444" y="40219"/>
                  </a:lnTo>
                  <a:lnTo>
                    <a:pt x="0" y="451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903840" y="1866531"/>
              <a:ext cx="285115" cy="171450"/>
            </a:xfrm>
            <a:custGeom>
              <a:avLst/>
              <a:gdLst/>
              <a:ahLst/>
              <a:cxnLst/>
              <a:rect l="l" t="t" r="r" b="b"/>
              <a:pathLst>
                <a:path w="285114" h="171450">
                  <a:moveTo>
                    <a:pt x="284797" y="0"/>
                  </a:moveTo>
                  <a:lnTo>
                    <a:pt x="0" y="1708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899609" y="2004687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34697" y="45133"/>
                  </a:moveTo>
                  <a:lnTo>
                    <a:pt x="27252" y="40219"/>
                  </a:lnTo>
                  <a:lnTo>
                    <a:pt x="16819" y="36918"/>
                  </a:lnTo>
                  <a:lnTo>
                    <a:pt x="6650" y="35256"/>
                  </a:lnTo>
                  <a:lnTo>
                    <a:pt x="0" y="35261"/>
                  </a:lnTo>
                  <a:lnTo>
                    <a:pt x="3133" y="29394"/>
                  </a:lnTo>
                  <a:lnTo>
                    <a:pt x="6452" y="19640"/>
                  </a:lnTo>
                  <a:lnTo>
                    <a:pt x="8448" y="8881"/>
                  </a:lnTo>
                  <a:lnTo>
                    <a:pt x="7615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80973" y="1771655"/>
            <a:ext cx="2470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-30" i="1">
                <a:latin typeface="Arial"/>
                <a:cs typeface="Arial"/>
              </a:rPr>
              <a:t>q</a:t>
            </a:r>
            <a:r>
              <a:rPr dirty="0" sz="700" spc="-20">
                <a:latin typeface="Lucida Sans Unicode"/>
                <a:cs typeface="Lucida Sans Unicode"/>
              </a:rPr>
              <a:t>′′</a:t>
            </a:r>
            <a:r>
              <a:rPr dirty="0" baseline="-19444" sz="1500" spc="-30">
                <a:latin typeface="Lucida Sans Unicode"/>
                <a:cs typeface="Lucida Sans Unicode"/>
              </a:rPr>
              <a:t>|</a:t>
            </a:r>
            <a:endParaRPr baseline="-19444" sz="15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6832" y="1874497"/>
            <a:ext cx="1974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 i="1">
                <a:latin typeface="Arial"/>
                <a:cs typeface="Arial"/>
              </a:rPr>
              <a:t>x</a:t>
            </a:r>
            <a:r>
              <a:rPr dirty="0" sz="700" spc="-130" i="1">
                <a:latin typeface="Arial"/>
                <a:cs typeface="Arial"/>
              </a:rPr>
              <a:t> </a:t>
            </a:r>
            <a:r>
              <a:rPr dirty="0" sz="700" spc="-25">
                <a:latin typeface="Tahoma"/>
                <a:cs typeface="Tahoma"/>
              </a:rPr>
              <a:t>=0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90014" y="1817565"/>
            <a:ext cx="222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20618" y="1817451"/>
            <a:ext cx="6007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7665" algn="l"/>
              </a:tabLst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|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58794" y="1874382"/>
            <a:ext cx="5137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9580" algn="l"/>
              </a:tabLst>
            </a:pPr>
            <a:r>
              <a:rPr dirty="0" sz="700" spc="-20" i="1">
                <a:latin typeface="Arial"/>
                <a:cs typeface="Arial"/>
              </a:rPr>
              <a:t>x</a:t>
            </a:r>
            <a:r>
              <a:rPr dirty="0" sz="700" spc="-130" i="1">
                <a:latin typeface="Arial"/>
                <a:cs typeface="Arial"/>
              </a:rPr>
              <a:t> </a:t>
            </a:r>
            <a:r>
              <a:rPr dirty="0" sz="700" spc="-25">
                <a:latin typeface="Tahoma"/>
                <a:cs typeface="Tahoma"/>
              </a:rPr>
              <a:t>=</a:t>
            </a:r>
            <a:r>
              <a:rPr dirty="0" sz="700" spc="-25" i="1">
                <a:latin typeface="Arial"/>
                <a:cs typeface="Arial"/>
              </a:rPr>
              <a:t>L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48433" y="1457029"/>
            <a:ext cx="936625" cy="1170305"/>
          </a:xfrm>
          <a:prstGeom prst="rect">
            <a:avLst/>
          </a:prstGeom>
          <a:ln w="10122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500">
              <a:latin typeface="Times New Roman"/>
              <a:cs typeface="Times New Roman"/>
            </a:endParaRPr>
          </a:p>
          <a:p>
            <a:pPr algn="ctr" marR="198755">
              <a:lnSpc>
                <a:spcPts val="380"/>
              </a:lnSpc>
              <a:spcBef>
                <a:spcPts val="5"/>
              </a:spcBef>
            </a:pPr>
            <a:r>
              <a:rPr dirty="0" sz="500" spc="55" i="1">
                <a:latin typeface="Verdana"/>
                <a:cs typeface="Verdana"/>
              </a:rPr>
              <a:t>'''</a:t>
            </a:r>
            <a:endParaRPr sz="500">
              <a:latin typeface="Verdana"/>
              <a:cs typeface="Verdana"/>
            </a:endParaRPr>
          </a:p>
          <a:p>
            <a:pPr marL="252095">
              <a:lnSpc>
                <a:spcPts val="980"/>
              </a:lnSpc>
              <a:tabLst>
                <a:tab pos="454025" algn="l"/>
              </a:tabLst>
            </a:pPr>
            <a:r>
              <a:rPr dirty="0" sz="1000" spc="-370" i="1">
                <a:latin typeface="Arial"/>
                <a:cs typeface="Arial"/>
              </a:rPr>
              <a:t>q</a:t>
            </a:r>
            <a:r>
              <a:rPr dirty="0" sz="1000" spc="-370">
                <a:latin typeface="Tahoma"/>
                <a:cs typeface="Tahoma"/>
              </a:rPr>
              <a:t>˙</a:t>
            </a:r>
            <a:r>
              <a:rPr dirty="0" sz="1000">
                <a:latin typeface="Tahoma"/>
                <a:cs typeface="Tahoma"/>
              </a:rPr>
              <a:t>	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0" i="1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0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dirty="0" sz="1000" i="1">
                <a:latin typeface="Arial"/>
                <a:cs typeface="Arial"/>
              </a:rPr>
              <a:t>k</a:t>
            </a:r>
            <a:r>
              <a:rPr dirty="0" sz="1000" spc="9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 i="1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4832" y="2647452"/>
            <a:ext cx="3931285" cy="4216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74625">
              <a:lnSpc>
                <a:spcPct val="100000"/>
              </a:lnSpc>
              <a:spcBef>
                <a:spcPts val="340"/>
              </a:spcBef>
              <a:tabLst>
                <a:tab pos="1107440" algn="l"/>
              </a:tabLst>
            </a:pPr>
            <a:r>
              <a:rPr dirty="0" baseline="2525" sz="1650" i="1">
                <a:latin typeface="Arial"/>
                <a:cs typeface="Arial"/>
              </a:rPr>
              <a:t>x</a:t>
            </a:r>
            <a:r>
              <a:rPr dirty="0" baseline="2525" sz="1650" spc="127" i="1">
                <a:latin typeface="Arial"/>
                <a:cs typeface="Arial"/>
              </a:rPr>
              <a:t> </a:t>
            </a:r>
            <a:r>
              <a:rPr dirty="0" baseline="2525" sz="1650">
                <a:latin typeface="Tahoma"/>
                <a:cs typeface="Tahoma"/>
              </a:rPr>
              <a:t>=</a:t>
            </a:r>
            <a:r>
              <a:rPr dirty="0" baseline="2525" sz="1650" spc="-60">
                <a:latin typeface="Tahoma"/>
                <a:cs typeface="Tahoma"/>
              </a:rPr>
              <a:t> </a:t>
            </a:r>
            <a:r>
              <a:rPr dirty="0" baseline="2525" sz="1650" spc="-75">
                <a:latin typeface="Tahoma"/>
                <a:cs typeface="Tahoma"/>
              </a:rPr>
              <a:t>0</a:t>
            </a:r>
            <a:r>
              <a:rPr dirty="0" baseline="2525" sz="1650">
                <a:latin typeface="Tahoma"/>
                <a:cs typeface="Tahoma"/>
              </a:rPr>
              <a:t>	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4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slab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subjected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physical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boundary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conditions:</a:t>
            </a:r>
            <a:r>
              <a:rPr dirty="0" sz="1100" spc="95">
                <a:latin typeface="Tahoma"/>
                <a:cs typeface="Tahoma"/>
              </a:rPr>
              <a:t> </a:t>
            </a:r>
            <a:r>
              <a:rPr dirty="0" sz="1100" spc="-65" i="1">
                <a:latin typeface="Arial"/>
                <a:cs typeface="Arial"/>
              </a:rPr>
              <a:t>q</a:t>
            </a:r>
            <a:r>
              <a:rPr dirty="0" baseline="27777" sz="1200" spc="-97">
                <a:latin typeface="Lucida Sans Unicode"/>
                <a:cs typeface="Lucida Sans Unicode"/>
              </a:rPr>
              <a:t>rr</a:t>
            </a:r>
            <a:r>
              <a:rPr dirty="0" sz="1100" spc="-65">
                <a:latin typeface="Lucida Sans Unicode"/>
                <a:cs typeface="Lucida Sans Unicode"/>
              </a:rPr>
              <a:t>|</a:t>
            </a:r>
            <a:r>
              <a:rPr dirty="0" baseline="-10416" sz="1200" spc="-97" i="1">
                <a:latin typeface="Arial"/>
                <a:cs typeface="Arial"/>
              </a:rPr>
              <a:t>x</a:t>
            </a:r>
            <a:r>
              <a:rPr dirty="0" baseline="-10416" sz="1200" spc="-225" i="1">
                <a:latin typeface="Arial"/>
                <a:cs typeface="Arial"/>
              </a:rPr>
              <a:t> 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spc="10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960674"/>
            <a:ext cx="65265" cy="6526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02932" y="3082696"/>
            <a:ext cx="977900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50" i="1">
                <a:latin typeface="Arial"/>
                <a:cs typeface="Arial"/>
              </a:rPr>
              <a:t> </a:t>
            </a:r>
            <a:r>
              <a:rPr dirty="0" sz="1100" spc="-70">
                <a:latin typeface="Lucida Sans Unicode"/>
                <a:cs typeface="Lucida Sans Unicode"/>
              </a:rPr>
              <a:t>|</a:t>
            </a:r>
            <a:r>
              <a:rPr dirty="0" baseline="-13888" sz="1200" spc="-104" i="1">
                <a:latin typeface="Arial"/>
                <a:cs typeface="Arial"/>
              </a:rPr>
              <a:t>x</a:t>
            </a:r>
            <a:r>
              <a:rPr dirty="0" baseline="-13888" sz="1200" spc="-217" i="1">
                <a:latin typeface="Arial"/>
                <a:cs typeface="Arial"/>
              </a:rPr>
              <a:t> </a:t>
            </a:r>
            <a:r>
              <a:rPr dirty="0" baseline="-13888" sz="1200">
                <a:latin typeface="Tahoma"/>
                <a:cs typeface="Tahoma"/>
              </a:rPr>
              <a:t>=</a:t>
            </a:r>
            <a:r>
              <a:rPr dirty="0" baseline="-13888" sz="1200" i="1">
                <a:latin typeface="Arial"/>
                <a:cs typeface="Arial"/>
              </a:rPr>
              <a:t>L</a:t>
            </a:r>
            <a:r>
              <a:rPr dirty="0" baseline="-13888" sz="1200" spc="232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T</a:t>
            </a:r>
            <a:r>
              <a:rPr dirty="0" baseline="-13888" sz="1200" spc="-37" i="1">
                <a:latin typeface="Arial"/>
                <a:cs typeface="Arial"/>
              </a:rPr>
              <a:t>L</a:t>
            </a:r>
            <a:endParaRPr baseline="-13888"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7862"/>
                </a:lnTo>
                <a:lnTo>
                  <a:pt x="4608004" y="577862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377055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 spc="-10"/>
              <a:t>Solution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5"/>
              <a:t> </a:t>
            </a:r>
            <a:r>
              <a:rPr dirty="0" spc="-25"/>
              <a:t>heat</a:t>
            </a:r>
            <a:r>
              <a:rPr dirty="0" spc="-45"/>
              <a:t> </a:t>
            </a:r>
            <a:r>
              <a:rPr dirty="0" spc="-35"/>
              <a:t>conduction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45"/>
              <a:t> </a:t>
            </a:r>
            <a:r>
              <a:rPr dirty="0" spc="-25"/>
              <a:t>uniform </a:t>
            </a:r>
            <a:r>
              <a:rPr dirty="0" spc="-35"/>
              <a:t>heat</a:t>
            </a:r>
            <a:r>
              <a:rPr dirty="0" spc="-50"/>
              <a:t> </a:t>
            </a:r>
            <a:r>
              <a:rPr dirty="0" spc="-10"/>
              <a:t>source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4041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56957"/>
            <a:ext cx="3103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Develop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Governing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Differential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633" y="953260"/>
            <a:ext cx="156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i="1">
                <a:latin typeface="Calibri"/>
                <a:cs typeface="Calibri"/>
              </a:rPr>
              <a:t>∂</a:t>
            </a:r>
            <a:r>
              <a:rPr dirty="0" sz="1100" spc="4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369" y="763726"/>
            <a:ext cx="788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ρ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dirty="0" u="sng" baseline="-10416" sz="12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-10416" sz="1200" spc="-20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1100" spc="-1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baseline="-37878" sz="1650" spc="-75">
                <a:latin typeface="Tahoma"/>
                <a:cs typeface="Tahoma"/>
              </a:rPr>
              <a:t>=</a:t>
            </a:r>
            <a:endParaRPr baseline="-37878" sz="16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1571" y="974826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 h="0">
                <a:moveTo>
                  <a:pt x="0" y="0"/>
                </a:moveTo>
                <a:lnTo>
                  <a:pt x="157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22945" y="974826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70582" y="974826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5" h="0">
                <a:moveTo>
                  <a:pt x="0" y="0"/>
                </a:moveTo>
                <a:lnTo>
                  <a:pt x="1601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94266" y="974826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41903" y="974826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 h="0">
                <a:moveTo>
                  <a:pt x="0" y="0"/>
                </a:moveTo>
                <a:lnTo>
                  <a:pt x="1536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59035" y="974826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88871" y="953260"/>
            <a:ext cx="2044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1790" algn="l"/>
                <a:tab pos="781050" algn="l"/>
                <a:tab pos="1122045" algn="l"/>
                <a:tab pos="1552575" algn="l"/>
                <a:tab pos="1889760" algn="l"/>
              </a:tabLst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7174" y="765288"/>
            <a:ext cx="2437765" cy="285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025"/>
              </a:lnSpc>
              <a:spcBef>
                <a:spcPts val="90"/>
              </a:spcBef>
              <a:tabLst>
                <a:tab pos="282575" algn="l"/>
                <a:tab pos="769620" algn="l"/>
                <a:tab pos="1054100" algn="l"/>
                <a:tab pos="1537970" algn="l"/>
                <a:tab pos="1818639" algn="l"/>
                <a:tab pos="2328545" algn="l"/>
              </a:tabLst>
            </a:pP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600" spc="-25">
                <a:latin typeface="Lucida Sans Unicode"/>
                <a:cs typeface="Lucida Sans Unicode"/>
              </a:rPr>
              <a:t>′′′</a:t>
            </a:r>
            <a:endParaRPr sz="600">
              <a:latin typeface="Lucida Sans Unicode"/>
              <a:cs typeface="Lucida Sans Unicode"/>
            </a:endParaRPr>
          </a:p>
          <a:p>
            <a:pPr algn="ctr" marL="31750">
              <a:lnSpc>
                <a:spcPts val="1025"/>
              </a:lnSpc>
              <a:tabLst>
                <a:tab pos="389255" algn="l"/>
                <a:tab pos="802640" algn="l"/>
                <a:tab pos="1160780" algn="l"/>
                <a:tab pos="1567815" algn="l"/>
                <a:tab pos="1925320" algn="l"/>
              </a:tabLst>
            </a:pP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9" i="1">
                <a:latin typeface="Arial"/>
                <a:cs typeface="Arial"/>
              </a:rPr>
              <a:t>q</a:t>
            </a:r>
            <a:r>
              <a:rPr dirty="0" sz="1100" spc="-409">
                <a:latin typeface="Tahoma"/>
                <a:cs typeface="Tahoma"/>
              </a:rPr>
              <a:t>˙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0224" y="1444713"/>
            <a:ext cx="257810" cy="0"/>
          </a:xfrm>
          <a:custGeom>
            <a:avLst/>
            <a:gdLst/>
            <a:ahLst/>
            <a:cxnLst/>
            <a:rect l="l" t="t" r="r" b="b"/>
            <a:pathLst>
              <a:path w="257810" h="0">
                <a:moveTo>
                  <a:pt x="0" y="0"/>
                </a:moveTo>
                <a:lnTo>
                  <a:pt x="25763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49424" y="1234388"/>
            <a:ext cx="7073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08000" algn="l"/>
              </a:tabLst>
            </a:pPr>
            <a:r>
              <a:rPr dirty="0" sz="1100" spc="-65" i="1">
                <a:latin typeface="Arial"/>
                <a:cs typeface="Arial"/>
              </a:rPr>
              <a:t>d</a:t>
            </a:r>
            <a:r>
              <a:rPr dirty="0" sz="1100" spc="-200" i="1">
                <a:latin typeface="Arial"/>
                <a:cs typeface="Arial"/>
              </a:rPr>
              <a:t> </a:t>
            </a:r>
            <a:r>
              <a:rPr dirty="0" baseline="27777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385" i="1">
                <a:latin typeface="Arial"/>
                <a:cs typeface="Arial"/>
              </a:rPr>
              <a:t>q</a:t>
            </a:r>
            <a:r>
              <a:rPr dirty="0" sz="1100" spc="-385">
                <a:latin typeface="Tahoma"/>
                <a:cs typeface="Tahoma"/>
              </a:rPr>
              <a:t>˙</a:t>
            </a:r>
            <a:r>
              <a:rPr dirty="0" sz="1100" spc="-190">
                <a:latin typeface="Tahoma"/>
                <a:cs typeface="Tahoma"/>
              </a:rPr>
              <a:t> </a:t>
            </a:r>
            <a:r>
              <a:rPr dirty="0" baseline="64814" sz="900" spc="-37">
                <a:latin typeface="Lucida Sans Unicode"/>
                <a:cs typeface="Lucida Sans Unicode"/>
              </a:rPr>
              <a:t>′′′</a:t>
            </a:r>
            <a:endParaRPr baseline="64814" sz="9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57564" y="1444713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 h="0">
                <a:moveTo>
                  <a:pt x="0" y="0"/>
                </a:moveTo>
                <a:lnTo>
                  <a:pt x="1733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86813" y="1423148"/>
            <a:ext cx="623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 i="1">
                <a:latin typeface="Arial"/>
                <a:cs typeface="Arial"/>
              </a:rPr>
              <a:t>dx</a:t>
            </a:r>
            <a:r>
              <a:rPr dirty="0" sz="1100" spc="-204" i="1">
                <a:latin typeface="Arial"/>
                <a:cs typeface="Arial"/>
              </a:rPr>
              <a:t> </a:t>
            </a:r>
            <a:r>
              <a:rPr dirty="0" baseline="20833" sz="1200">
                <a:latin typeface="Tahoma"/>
                <a:cs typeface="Tahoma"/>
              </a:rPr>
              <a:t>2</a:t>
            </a:r>
            <a:r>
              <a:rPr dirty="0" baseline="20833" sz="1200" spc="555">
                <a:latin typeface="Tahoma"/>
                <a:cs typeface="Tahoma"/>
              </a:rPr>
              <a:t> </a:t>
            </a:r>
            <a:r>
              <a:rPr dirty="0" baseline="37878" sz="1650">
                <a:latin typeface="Tahoma"/>
                <a:cs typeface="Tahoma"/>
              </a:rPr>
              <a:t>+</a:t>
            </a:r>
            <a:r>
              <a:rPr dirty="0" baseline="37878" sz="1650" spc="622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k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71838" y="1328113"/>
            <a:ext cx="241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 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79770" y="1328113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(9)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59750"/>
            <a:ext cx="65265" cy="6526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02932" y="1576297"/>
            <a:ext cx="2504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II: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Identify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 </a:t>
            </a:r>
            <a:r>
              <a:rPr dirty="0" sz="1100" spc="-30">
                <a:latin typeface="Tahoma"/>
                <a:cs typeface="Tahoma"/>
              </a:rPr>
              <a:t>Boundary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2117" y="1740146"/>
            <a:ext cx="9556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(i)</a:t>
            </a:r>
            <a:r>
              <a:rPr dirty="0" sz="1000" spc="204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7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0:</a:t>
            </a:r>
            <a:r>
              <a:rPr dirty="0" sz="1000" spc="1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q</a:t>
            </a:r>
            <a:r>
              <a:rPr dirty="0" sz="1000" spc="245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|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2481" y="1797078"/>
            <a:ext cx="1974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 i="1">
                <a:latin typeface="Arial"/>
                <a:cs typeface="Arial"/>
              </a:rPr>
              <a:t>x</a:t>
            </a:r>
            <a:r>
              <a:rPr dirty="0" sz="700" spc="-130" i="1">
                <a:latin typeface="Arial"/>
                <a:cs typeface="Arial"/>
              </a:rPr>
              <a:t> </a:t>
            </a:r>
            <a:r>
              <a:rPr dirty="0" sz="700" spc="-25">
                <a:latin typeface="Tahoma"/>
                <a:cs typeface="Tahoma"/>
              </a:rPr>
              <a:t>=0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25663" y="1740146"/>
            <a:ext cx="5867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2659" y="1732193"/>
            <a:ext cx="10744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48055" algn="l"/>
              </a:tabLst>
            </a:pPr>
            <a:r>
              <a:rPr dirty="0" sz="700" spc="-25">
                <a:latin typeface="Lucida Sans Unicode"/>
                <a:cs typeface="Lucida Sans Unicode"/>
              </a:rPr>
              <a:t>′′</a:t>
            </a:r>
            <a:r>
              <a:rPr dirty="0" sz="700">
                <a:latin typeface="Lucida Sans Unicode"/>
                <a:cs typeface="Lucida Sans Unicode"/>
              </a:rPr>
              <a:t>	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dT</a:t>
            </a:r>
            <a:endParaRPr baseline="3968" sz="1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8400" y="1708510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60879" y="1828713"/>
            <a:ext cx="3670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968" sz="1050" i="1">
                <a:latin typeface="Arial"/>
                <a:cs typeface="Arial"/>
              </a:rPr>
              <a:t>dx</a:t>
            </a:r>
            <a:r>
              <a:rPr dirty="0" baseline="3968" sz="1050" spc="622" i="1">
                <a:latin typeface="Arial"/>
                <a:cs typeface="Arial"/>
              </a:rPr>
              <a:t> </a:t>
            </a:r>
            <a:r>
              <a:rPr dirty="0" sz="700" spc="-20" i="1">
                <a:latin typeface="Arial"/>
                <a:cs typeface="Arial"/>
              </a:rPr>
              <a:t>x</a:t>
            </a:r>
            <a:r>
              <a:rPr dirty="0" sz="700" spc="-135" i="1">
                <a:latin typeface="Arial"/>
                <a:cs typeface="Arial"/>
              </a:rPr>
              <a:t> </a:t>
            </a:r>
            <a:r>
              <a:rPr dirty="0" sz="700" spc="-25">
                <a:latin typeface="Tahoma"/>
                <a:cs typeface="Tahoma"/>
              </a:rPr>
              <a:t>=0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43758" y="1740146"/>
            <a:ext cx="222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15235"/>
            <a:ext cx="65265" cy="6526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279738"/>
            <a:ext cx="52590" cy="5259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90232" y="1891975"/>
            <a:ext cx="395224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4295">
              <a:lnSpc>
                <a:spcPts val="115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(ii)</a:t>
            </a:r>
            <a:r>
              <a:rPr dirty="0" sz="1000" spc="25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10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L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5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</a:t>
            </a:r>
            <a:r>
              <a:rPr dirty="0" baseline="-11904" sz="1050" i="1">
                <a:latin typeface="Arial"/>
                <a:cs typeface="Arial"/>
              </a:rPr>
              <a:t>L</a:t>
            </a:r>
            <a:r>
              <a:rPr dirty="0" baseline="-11904" sz="1050" spc="22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L</a:t>
            </a:r>
            <a:endParaRPr baseline="-11904" sz="1050">
              <a:latin typeface="Arial"/>
              <a:cs typeface="Arial"/>
            </a:endParaRPr>
          </a:p>
          <a:p>
            <a:pPr marL="25400">
              <a:lnSpc>
                <a:spcPts val="1255"/>
              </a:lnSpc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Domain:</a:t>
            </a:r>
            <a:endParaRPr sz="1100">
              <a:latin typeface="Tahoma"/>
              <a:cs typeface="Tahoma"/>
            </a:endParaRPr>
          </a:p>
          <a:p>
            <a:pPr marL="302260">
              <a:lnSpc>
                <a:spcPts val="1190"/>
              </a:lnSpc>
            </a:pPr>
            <a:r>
              <a:rPr dirty="0" sz="1000" spc="-10">
                <a:latin typeface="Tahoma"/>
                <a:cs typeface="Tahoma"/>
              </a:rPr>
              <a:t>Divide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domain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equally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spaced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nodes,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i.e.,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15">
                <a:latin typeface="Tahoma"/>
                <a:cs typeface="Tahoma"/>
              </a:rPr>
              <a:t>1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2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3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..,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>
                <a:latin typeface="Tahoma"/>
                <a:cs typeface="Tahoma"/>
              </a:rPr>
              <a:t>.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4634" y="2347473"/>
            <a:ext cx="1261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step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length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u="sng" baseline="31746" sz="1050" spc="60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1746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u="sng" baseline="31746" sz="1050" spc="7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31746"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65592" y="2429055"/>
            <a:ext cx="2254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98726" y="2936963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30366" y="0"/>
                </a:moveTo>
                <a:lnTo>
                  <a:pt x="18546" y="2386"/>
                </a:lnTo>
                <a:lnTo>
                  <a:pt x="8894" y="8894"/>
                </a:lnTo>
                <a:lnTo>
                  <a:pt x="2386" y="18546"/>
                </a:lnTo>
                <a:lnTo>
                  <a:pt x="0" y="30366"/>
                </a:lnTo>
                <a:lnTo>
                  <a:pt x="2386" y="42186"/>
                </a:lnTo>
                <a:lnTo>
                  <a:pt x="8894" y="51839"/>
                </a:lnTo>
                <a:lnTo>
                  <a:pt x="18546" y="58346"/>
                </a:lnTo>
                <a:lnTo>
                  <a:pt x="30366" y="60733"/>
                </a:lnTo>
                <a:lnTo>
                  <a:pt x="42186" y="58346"/>
                </a:lnTo>
                <a:lnTo>
                  <a:pt x="51839" y="51839"/>
                </a:lnTo>
                <a:lnTo>
                  <a:pt x="58346" y="42186"/>
                </a:lnTo>
                <a:lnTo>
                  <a:pt x="60733" y="30366"/>
                </a:lnTo>
                <a:lnTo>
                  <a:pt x="58346" y="18546"/>
                </a:lnTo>
                <a:lnTo>
                  <a:pt x="51839" y="8894"/>
                </a:lnTo>
                <a:lnTo>
                  <a:pt x="42186" y="2386"/>
                </a:lnTo>
                <a:lnTo>
                  <a:pt x="303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321244" y="2706832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84757" y="2955752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974723" y="2936963"/>
            <a:ext cx="1788795" cy="60960"/>
          </a:xfrm>
          <a:custGeom>
            <a:avLst/>
            <a:gdLst/>
            <a:ahLst/>
            <a:cxnLst/>
            <a:rect l="l" t="t" r="r" b="b"/>
            <a:pathLst>
              <a:path w="1788795" h="60960">
                <a:moveTo>
                  <a:pt x="60744" y="30365"/>
                </a:moveTo>
                <a:lnTo>
                  <a:pt x="58356" y="18554"/>
                </a:lnTo>
                <a:lnTo>
                  <a:pt x="51841" y="8902"/>
                </a:lnTo>
                <a:lnTo>
                  <a:pt x="42189" y="2387"/>
                </a:lnTo>
                <a:lnTo>
                  <a:pt x="30378" y="0"/>
                </a:lnTo>
                <a:lnTo>
                  <a:pt x="18554" y="2387"/>
                </a:lnTo>
                <a:lnTo>
                  <a:pt x="8902" y="8902"/>
                </a:lnTo>
                <a:lnTo>
                  <a:pt x="2387" y="18554"/>
                </a:lnTo>
                <a:lnTo>
                  <a:pt x="0" y="30365"/>
                </a:lnTo>
                <a:lnTo>
                  <a:pt x="2387" y="42189"/>
                </a:lnTo>
                <a:lnTo>
                  <a:pt x="8902" y="51841"/>
                </a:lnTo>
                <a:lnTo>
                  <a:pt x="18554" y="58356"/>
                </a:lnTo>
                <a:lnTo>
                  <a:pt x="30378" y="60744"/>
                </a:lnTo>
                <a:lnTo>
                  <a:pt x="42189" y="58356"/>
                </a:lnTo>
                <a:lnTo>
                  <a:pt x="51841" y="51841"/>
                </a:lnTo>
                <a:lnTo>
                  <a:pt x="58356" y="42189"/>
                </a:lnTo>
                <a:lnTo>
                  <a:pt x="60744" y="30365"/>
                </a:lnTo>
                <a:close/>
              </a:path>
              <a:path w="1788795" h="60960">
                <a:moveTo>
                  <a:pt x="636752" y="30365"/>
                </a:moveTo>
                <a:lnTo>
                  <a:pt x="634365" y="18554"/>
                </a:lnTo>
                <a:lnTo>
                  <a:pt x="627849" y="8902"/>
                </a:lnTo>
                <a:lnTo>
                  <a:pt x="618197" y="2387"/>
                </a:lnTo>
                <a:lnTo>
                  <a:pt x="606386" y="0"/>
                </a:lnTo>
                <a:lnTo>
                  <a:pt x="594563" y="2387"/>
                </a:lnTo>
                <a:lnTo>
                  <a:pt x="584911" y="8902"/>
                </a:lnTo>
                <a:lnTo>
                  <a:pt x="578396" y="18554"/>
                </a:lnTo>
                <a:lnTo>
                  <a:pt x="576021" y="30365"/>
                </a:lnTo>
                <a:lnTo>
                  <a:pt x="578396" y="42189"/>
                </a:lnTo>
                <a:lnTo>
                  <a:pt x="584911" y="51841"/>
                </a:lnTo>
                <a:lnTo>
                  <a:pt x="594563" y="58356"/>
                </a:lnTo>
                <a:lnTo>
                  <a:pt x="606386" y="60744"/>
                </a:lnTo>
                <a:lnTo>
                  <a:pt x="618197" y="58356"/>
                </a:lnTo>
                <a:lnTo>
                  <a:pt x="627849" y="51841"/>
                </a:lnTo>
                <a:lnTo>
                  <a:pt x="634365" y="42189"/>
                </a:lnTo>
                <a:lnTo>
                  <a:pt x="636752" y="30365"/>
                </a:lnTo>
                <a:close/>
              </a:path>
              <a:path w="1788795" h="60960">
                <a:moveTo>
                  <a:pt x="1212761" y="30365"/>
                </a:moveTo>
                <a:lnTo>
                  <a:pt x="1210373" y="18554"/>
                </a:lnTo>
                <a:lnTo>
                  <a:pt x="1203858" y="8902"/>
                </a:lnTo>
                <a:lnTo>
                  <a:pt x="1194206" y="2387"/>
                </a:lnTo>
                <a:lnTo>
                  <a:pt x="1182395" y="0"/>
                </a:lnTo>
                <a:lnTo>
                  <a:pt x="1170571" y="2387"/>
                </a:lnTo>
                <a:lnTo>
                  <a:pt x="1160919" y="8902"/>
                </a:lnTo>
                <a:lnTo>
                  <a:pt x="1154417" y="18554"/>
                </a:lnTo>
                <a:lnTo>
                  <a:pt x="1152029" y="30365"/>
                </a:lnTo>
                <a:lnTo>
                  <a:pt x="1154417" y="42189"/>
                </a:lnTo>
                <a:lnTo>
                  <a:pt x="1160919" y="51841"/>
                </a:lnTo>
                <a:lnTo>
                  <a:pt x="1170571" y="58356"/>
                </a:lnTo>
                <a:lnTo>
                  <a:pt x="1182395" y="60744"/>
                </a:lnTo>
                <a:lnTo>
                  <a:pt x="1194206" y="58356"/>
                </a:lnTo>
                <a:lnTo>
                  <a:pt x="1203858" y="51841"/>
                </a:lnTo>
                <a:lnTo>
                  <a:pt x="1210373" y="42189"/>
                </a:lnTo>
                <a:lnTo>
                  <a:pt x="1212761" y="30365"/>
                </a:lnTo>
                <a:close/>
              </a:path>
              <a:path w="1788795" h="60960">
                <a:moveTo>
                  <a:pt x="1788769" y="30365"/>
                </a:moveTo>
                <a:lnTo>
                  <a:pt x="1786382" y="18554"/>
                </a:lnTo>
                <a:lnTo>
                  <a:pt x="1779879" y="8902"/>
                </a:lnTo>
                <a:lnTo>
                  <a:pt x="1770214" y="2387"/>
                </a:lnTo>
                <a:lnTo>
                  <a:pt x="1758403" y="0"/>
                </a:lnTo>
                <a:lnTo>
                  <a:pt x="1746580" y="2387"/>
                </a:lnTo>
                <a:lnTo>
                  <a:pt x="1736928" y="8902"/>
                </a:lnTo>
                <a:lnTo>
                  <a:pt x="1730425" y="18554"/>
                </a:lnTo>
                <a:lnTo>
                  <a:pt x="1728038" y="30365"/>
                </a:lnTo>
                <a:lnTo>
                  <a:pt x="1730425" y="42189"/>
                </a:lnTo>
                <a:lnTo>
                  <a:pt x="1736928" y="51841"/>
                </a:lnTo>
                <a:lnTo>
                  <a:pt x="1746580" y="58356"/>
                </a:lnTo>
                <a:lnTo>
                  <a:pt x="1758403" y="60744"/>
                </a:lnTo>
                <a:lnTo>
                  <a:pt x="1770214" y="58356"/>
                </a:lnTo>
                <a:lnTo>
                  <a:pt x="1779879" y="51841"/>
                </a:lnTo>
                <a:lnTo>
                  <a:pt x="1786382" y="42189"/>
                </a:lnTo>
                <a:lnTo>
                  <a:pt x="1788769" y="30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897252" y="2706832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73248" y="2706832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3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49257" y="2706832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4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25253" y="2706832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5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88765" y="2955752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426562" y="2938527"/>
            <a:ext cx="2309495" cy="57785"/>
            <a:chOff x="1426562" y="2938527"/>
            <a:chExt cx="2309495" cy="57785"/>
          </a:xfrm>
        </p:grpSpPr>
        <p:sp>
          <p:nvSpPr>
            <p:cNvPr id="46" name="object 46"/>
            <p:cNvSpPr/>
            <p:nvPr/>
          </p:nvSpPr>
          <p:spPr>
            <a:xfrm>
              <a:off x="1429092" y="2967329"/>
              <a:ext cx="2304415" cy="0"/>
            </a:xfrm>
            <a:custGeom>
              <a:avLst/>
              <a:gdLst/>
              <a:ahLst/>
              <a:cxnLst/>
              <a:rect l="l" t="t" r="r" b="b"/>
              <a:pathLst>
                <a:path w="2304415" h="0">
                  <a:moveTo>
                    <a:pt x="0" y="0"/>
                  </a:moveTo>
                  <a:lnTo>
                    <a:pt x="2304037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429092" y="2938527"/>
              <a:ext cx="2304415" cy="57785"/>
            </a:xfrm>
            <a:custGeom>
              <a:avLst/>
              <a:gdLst/>
              <a:ahLst/>
              <a:cxnLst/>
              <a:rect l="l" t="t" r="r" b="b"/>
              <a:pathLst>
                <a:path w="2304415" h="57785">
                  <a:moveTo>
                    <a:pt x="0" y="57603"/>
                  </a:moveTo>
                  <a:lnTo>
                    <a:pt x="0" y="0"/>
                  </a:lnTo>
                </a:path>
                <a:path w="2304415" h="57785">
                  <a:moveTo>
                    <a:pt x="576009" y="57603"/>
                  </a:moveTo>
                  <a:lnTo>
                    <a:pt x="576009" y="0"/>
                  </a:lnTo>
                </a:path>
                <a:path w="2304415" h="57785">
                  <a:moveTo>
                    <a:pt x="1152018" y="57603"/>
                  </a:moveTo>
                  <a:lnTo>
                    <a:pt x="1152018" y="0"/>
                  </a:lnTo>
                </a:path>
                <a:path w="2304415" h="57785">
                  <a:moveTo>
                    <a:pt x="1728028" y="57603"/>
                  </a:moveTo>
                  <a:lnTo>
                    <a:pt x="1728028" y="0"/>
                  </a:lnTo>
                </a:path>
                <a:path w="2304415" h="57785">
                  <a:moveTo>
                    <a:pt x="2304037" y="57603"/>
                  </a:moveTo>
                  <a:lnTo>
                    <a:pt x="230403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872551" y="2955752"/>
            <a:ext cx="252729" cy="274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>
              <a:lnSpc>
                <a:spcPts val="985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ts val="985"/>
              </a:lnSpc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50" i="1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11361" y="2955752"/>
            <a:ext cx="826769" cy="280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005"/>
              </a:lnSpc>
              <a:spcBef>
                <a:spcPts val="95"/>
              </a:spcBef>
              <a:tabLst>
                <a:tab pos="613410" algn="l"/>
              </a:tabLst>
            </a:pPr>
            <a:r>
              <a:rPr dirty="0" sz="1000" spc="-50">
                <a:latin typeface="Tahoma"/>
                <a:cs typeface="Tahoma"/>
              </a:rPr>
              <a:t>3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 marL="48260">
              <a:lnSpc>
                <a:spcPts val="1005"/>
              </a:lnSpc>
              <a:tabLst>
                <a:tab pos="269875" algn="l"/>
              </a:tabLst>
            </a:pPr>
            <a:r>
              <a:rPr dirty="0" sz="1000" spc="-50" i="1">
                <a:latin typeface="Arial"/>
                <a:cs typeface="Arial"/>
              </a:rPr>
              <a:t>i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baseline="-19444" sz="1500" spc="112">
                <a:latin typeface="Tahoma"/>
                <a:cs typeface="Tahoma"/>
              </a:rPr>
              <a:t>∆</a:t>
            </a:r>
            <a:r>
              <a:rPr dirty="0" baseline="-19444" sz="1500" spc="112" i="1">
                <a:latin typeface="Arial"/>
                <a:cs typeface="Arial"/>
              </a:rPr>
              <a:t>x</a:t>
            </a:r>
            <a:r>
              <a:rPr dirty="0" baseline="-19444" sz="1500" spc="585" i="1">
                <a:latin typeface="Arial"/>
                <a:cs typeface="Arial"/>
              </a:rPr>
              <a:t> </a:t>
            </a:r>
            <a:r>
              <a:rPr dirty="0" baseline="2777" sz="1500" i="1">
                <a:latin typeface="Arial"/>
                <a:cs typeface="Arial"/>
              </a:rPr>
              <a:t>i</a:t>
            </a:r>
            <a:r>
              <a:rPr dirty="0" baseline="2777" sz="1500" spc="82" i="1">
                <a:latin typeface="Arial"/>
                <a:cs typeface="Arial"/>
              </a:rPr>
              <a:t> </a:t>
            </a:r>
            <a:r>
              <a:rPr dirty="0" baseline="2777" sz="1500">
                <a:latin typeface="Tahoma"/>
                <a:cs typeface="Tahoma"/>
              </a:rPr>
              <a:t>+</a:t>
            </a:r>
            <a:r>
              <a:rPr dirty="0" baseline="2777" sz="1500" spc="-127">
                <a:latin typeface="Tahoma"/>
                <a:cs typeface="Tahoma"/>
              </a:rPr>
              <a:t> </a:t>
            </a:r>
            <a:r>
              <a:rPr dirty="0" baseline="2777" sz="1500" spc="-75">
                <a:latin typeface="Tahoma"/>
                <a:cs typeface="Tahoma"/>
              </a:rPr>
              <a:t>1</a:t>
            </a:r>
            <a:endParaRPr baseline="2777" sz="150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004903" y="3261669"/>
            <a:ext cx="576580" cy="45085"/>
            <a:chOff x="2004903" y="3261669"/>
            <a:chExt cx="576580" cy="45085"/>
          </a:xfrm>
        </p:grpSpPr>
        <p:sp>
          <p:nvSpPr>
            <p:cNvPr id="51" name="object 51"/>
            <p:cNvSpPr/>
            <p:nvPr/>
          </p:nvSpPr>
          <p:spPr>
            <a:xfrm>
              <a:off x="2010922" y="3284136"/>
              <a:ext cx="564515" cy="0"/>
            </a:xfrm>
            <a:custGeom>
              <a:avLst/>
              <a:gdLst/>
              <a:ahLst/>
              <a:cxnLst/>
              <a:rect l="l" t="t" r="r" b="b"/>
              <a:pathLst>
                <a:path w="564514" h="0">
                  <a:moveTo>
                    <a:pt x="0" y="0"/>
                  </a:moveTo>
                  <a:lnTo>
                    <a:pt x="56436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007126" y="326389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60108" y="326389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2192705" y="3102437"/>
            <a:ext cx="189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000041" y="3240932"/>
            <a:ext cx="1162685" cy="86995"/>
            <a:chOff x="2000041" y="3240932"/>
            <a:chExt cx="1162685" cy="86995"/>
          </a:xfrm>
        </p:grpSpPr>
        <p:sp>
          <p:nvSpPr>
            <p:cNvPr id="56" name="object 56"/>
            <p:cNvSpPr/>
            <p:nvPr/>
          </p:nvSpPr>
          <p:spPr>
            <a:xfrm>
              <a:off x="2005102" y="3240932"/>
              <a:ext cx="0" cy="86995"/>
            </a:xfrm>
            <a:custGeom>
              <a:avLst/>
              <a:gdLst/>
              <a:ahLst/>
              <a:cxnLst/>
              <a:rect l="l" t="t" r="r" b="b"/>
              <a:pathLst>
                <a:path w="0" h="86995">
                  <a:moveTo>
                    <a:pt x="0" y="8640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586931" y="3284136"/>
              <a:ext cx="564515" cy="0"/>
            </a:xfrm>
            <a:custGeom>
              <a:avLst/>
              <a:gdLst/>
              <a:ahLst/>
              <a:cxnLst/>
              <a:rect l="l" t="t" r="r" b="b"/>
              <a:pathLst>
                <a:path w="564514" h="0">
                  <a:moveTo>
                    <a:pt x="0" y="0"/>
                  </a:moveTo>
                  <a:lnTo>
                    <a:pt x="56436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583136" y="326389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136117" y="326389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581111" y="3240932"/>
              <a:ext cx="576580" cy="86995"/>
            </a:xfrm>
            <a:custGeom>
              <a:avLst/>
              <a:gdLst/>
              <a:ahLst/>
              <a:cxnLst/>
              <a:rect l="l" t="t" r="r" b="b"/>
              <a:pathLst>
                <a:path w="576580" h="86995">
                  <a:moveTo>
                    <a:pt x="0" y="86402"/>
                  </a:moveTo>
                  <a:lnTo>
                    <a:pt x="0" y="0"/>
                  </a:lnTo>
                </a:path>
                <a:path w="576580" h="86995">
                  <a:moveTo>
                    <a:pt x="576009" y="86402"/>
                  </a:moveTo>
                  <a:lnTo>
                    <a:pt x="576009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/>
          <p:cNvGrpSpPr/>
          <p:nvPr/>
        </p:nvGrpSpPr>
        <p:grpSpPr>
          <a:xfrm>
            <a:off x="1428894" y="2656858"/>
            <a:ext cx="2305050" cy="45085"/>
            <a:chOff x="1428894" y="2656858"/>
            <a:chExt cx="2305050" cy="45085"/>
          </a:xfrm>
        </p:grpSpPr>
        <p:sp>
          <p:nvSpPr>
            <p:cNvPr id="62" name="object 62"/>
            <p:cNvSpPr/>
            <p:nvPr/>
          </p:nvSpPr>
          <p:spPr>
            <a:xfrm>
              <a:off x="1434912" y="2679325"/>
              <a:ext cx="2292985" cy="0"/>
            </a:xfrm>
            <a:custGeom>
              <a:avLst/>
              <a:gdLst/>
              <a:ahLst/>
              <a:cxnLst/>
              <a:rect l="l" t="t" r="r" b="b"/>
              <a:pathLst>
                <a:path w="2292985" h="0">
                  <a:moveTo>
                    <a:pt x="0" y="0"/>
                  </a:moveTo>
                  <a:lnTo>
                    <a:pt x="229239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431117" y="2659081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712127" y="2659081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2534119" y="2497638"/>
            <a:ext cx="939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424031" y="2636126"/>
            <a:ext cx="2314575" cy="86995"/>
            <a:chOff x="1424031" y="2636126"/>
            <a:chExt cx="2314575" cy="86995"/>
          </a:xfrm>
        </p:grpSpPr>
        <p:sp>
          <p:nvSpPr>
            <p:cNvPr id="67" name="object 67"/>
            <p:cNvSpPr/>
            <p:nvPr/>
          </p:nvSpPr>
          <p:spPr>
            <a:xfrm>
              <a:off x="1429092" y="2636126"/>
              <a:ext cx="2304415" cy="86995"/>
            </a:xfrm>
            <a:custGeom>
              <a:avLst/>
              <a:gdLst/>
              <a:ahLst/>
              <a:cxnLst/>
              <a:rect l="l" t="t" r="r" b="b"/>
              <a:pathLst>
                <a:path w="2304415" h="86994">
                  <a:moveTo>
                    <a:pt x="0" y="86397"/>
                  </a:moveTo>
                  <a:lnTo>
                    <a:pt x="0" y="0"/>
                  </a:lnTo>
                </a:path>
                <a:path w="2304415" h="86994">
                  <a:moveTo>
                    <a:pt x="2304037" y="86397"/>
                  </a:moveTo>
                  <a:lnTo>
                    <a:pt x="2304037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28069" y="267426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5061"/>
                  </a:moveTo>
                  <a:lnTo>
                    <a:pt x="1482" y="1482"/>
                  </a:lnTo>
                  <a:lnTo>
                    <a:pt x="5061" y="0"/>
                  </a:lnTo>
                  <a:lnTo>
                    <a:pt x="8639" y="1482"/>
                  </a:lnTo>
                  <a:lnTo>
                    <a:pt x="10122" y="5061"/>
                  </a:lnTo>
                  <a:lnTo>
                    <a:pt x="8639" y="8639"/>
                  </a:lnTo>
                  <a:lnTo>
                    <a:pt x="5061" y="10122"/>
                  </a:lnTo>
                  <a:lnTo>
                    <a:pt x="1482" y="8639"/>
                  </a:lnTo>
                  <a:lnTo>
                    <a:pt x="0" y="5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4286097" y="3341243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F7F7F"/>
                </a:solidFill>
                <a:latin typeface="Tahoma"/>
                <a:cs typeface="Tahoma"/>
              </a:rPr>
              <a:t>16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-35">
                <a:solidFill>
                  <a:srgbClr val="7F7F7F"/>
                </a:solidFill>
                <a:latin typeface="Tahoma"/>
                <a:cs typeface="Tahoma"/>
              </a:rPr>
              <a:t>44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39838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566305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14933"/>
            <a:ext cx="3453765" cy="3448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Domain: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Central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Difference </a:t>
            </a:r>
            <a:r>
              <a:rPr dirty="0" sz="1000" spc="-45">
                <a:latin typeface="Tahoma"/>
                <a:cs typeface="Tahoma"/>
              </a:rPr>
              <a:t>Scheme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(CDS)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3422" y="823506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 h="0">
                <a:moveTo>
                  <a:pt x="0" y="0"/>
                </a:moveTo>
                <a:lnTo>
                  <a:pt x="2337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95322" y="630318"/>
            <a:ext cx="53149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935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d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60325">
              <a:lnSpc>
                <a:spcPts val="935"/>
              </a:lnSpc>
            </a:pPr>
            <a:r>
              <a:rPr dirty="0" baseline="-38888" sz="1500" spc="-75" i="1">
                <a:latin typeface="Arial"/>
                <a:cs typeface="Arial"/>
              </a:rPr>
              <a:t>dx</a:t>
            </a:r>
            <a:r>
              <a:rPr dirty="0" baseline="-38888" sz="1500" spc="-284" i="1">
                <a:latin typeface="Arial"/>
                <a:cs typeface="Arial"/>
              </a:rPr>
              <a:t> </a:t>
            </a:r>
            <a:r>
              <a:rPr dirty="0" baseline="-31746" sz="1050">
                <a:latin typeface="Tahoma"/>
                <a:cs typeface="Tahoma"/>
              </a:rPr>
              <a:t>2</a:t>
            </a:r>
            <a:r>
              <a:rPr dirty="0" baseline="-31746" sz="1050" spc="127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254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≈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0833" y="649292"/>
            <a:ext cx="10598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52">
                <a:latin typeface="Lucida Sans Unicode"/>
                <a:cs typeface="Lucida Sans Unicode"/>
              </a:rPr>
              <a:t> </a:t>
            </a:r>
            <a:r>
              <a:rPr dirty="0" baseline="8333" sz="1500">
                <a:latin typeface="Tahoma"/>
                <a:cs typeface="Tahoma"/>
              </a:rPr>
              <a:t>2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spc="240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52">
                <a:latin typeface="Tahoma"/>
                <a:cs typeface="Tahoma"/>
              </a:rPr>
              <a:t> </a:t>
            </a:r>
            <a:r>
              <a:rPr dirty="0" baseline="8333" sz="1500" spc="-30" i="1">
                <a:latin typeface="Arial"/>
                <a:cs typeface="Arial"/>
              </a:rPr>
              <a:t>T</a:t>
            </a:r>
            <a:r>
              <a:rPr dirty="0" sz="700" spc="-20" i="1">
                <a:latin typeface="Arial"/>
                <a:cs typeface="Arial"/>
              </a:rPr>
              <a:t>i</a:t>
            </a:r>
            <a:r>
              <a:rPr dirty="0" sz="700" spc="-20">
                <a:latin typeface="Lucida Sans Unicode"/>
                <a:cs typeface="Lucida Sans Unicode"/>
              </a:rPr>
              <a:t>−</a:t>
            </a:r>
            <a:r>
              <a:rPr dirty="0" sz="700" spc="-2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38933" y="823506"/>
            <a:ext cx="989965" cy="0"/>
          </a:xfrm>
          <a:custGeom>
            <a:avLst/>
            <a:gdLst/>
            <a:ahLst/>
            <a:cxnLst/>
            <a:rect l="l" t="t" r="r" b="b"/>
            <a:pathLst>
              <a:path w="989964" h="0">
                <a:moveTo>
                  <a:pt x="0" y="0"/>
                </a:moveTo>
                <a:lnTo>
                  <a:pt x="98982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632163" y="802695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32395"/>
            <a:ext cx="52590" cy="5259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220950" y="1155890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 h="0">
                <a:moveTo>
                  <a:pt x="0" y="0"/>
                </a:moveTo>
                <a:lnTo>
                  <a:pt x="1728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99284" y="1129883"/>
            <a:ext cx="3054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00" spc="-10" i="1">
                <a:latin typeface="Arial"/>
                <a:cs typeface="Arial"/>
              </a:rPr>
              <a:t>dx</a:t>
            </a:r>
            <a:r>
              <a:rPr dirty="0" sz="700" spc="-135" i="1">
                <a:latin typeface="Arial"/>
                <a:cs typeface="Arial"/>
              </a:rPr>
              <a:t> </a:t>
            </a:r>
            <a:r>
              <a:rPr dirty="0" baseline="22222" sz="750">
                <a:latin typeface="Tahoma"/>
                <a:cs typeface="Tahoma"/>
              </a:rPr>
              <a:t>2</a:t>
            </a:r>
            <a:r>
              <a:rPr dirty="0" baseline="22222" sz="750" spc="637">
                <a:latin typeface="Tahoma"/>
                <a:cs typeface="Tahoma"/>
              </a:rPr>
              <a:t> </a:t>
            </a:r>
            <a:r>
              <a:rPr dirty="0" baseline="15873" sz="1050" spc="-75" i="1">
                <a:latin typeface="Arial"/>
                <a:cs typeface="Arial"/>
              </a:rPr>
              <a:t>i</a:t>
            </a:r>
            <a:endParaRPr baseline="15873"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4634" y="1023552"/>
            <a:ext cx="3138170" cy="20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41605">
              <a:lnSpc>
                <a:spcPts val="395"/>
              </a:lnSpc>
              <a:spcBef>
                <a:spcPts val="95"/>
              </a:spcBef>
            </a:pPr>
            <a:r>
              <a:rPr dirty="0" sz="500" spc="-50"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 marL="38100">
              <a:lnSpc>
                <a:spcPts val="994"/>
              </a:lnSpc>
            </a:pPr>
            <a:r>
              <a:rPr dirty="0" sz="1000">
                <a:latin typeface="Tahoma"/>
                <a:cs typeface="Tahoma"/>
              </a:rPr>
              <a:t>By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substituting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 </a:t>
            </a:r>
            <a:r>
              <a:rPr dirty="0" sz="1000" spc="-30">
                <a:latin typeface="Tahoma"/>
                <a:cs typeface="Tahoma"/>
              </a:rPr>
              <a:t>value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100">
                <a:latin typeface="Tahoma"/>
                <a:cs typeface="Tahoma"/>
              </a:rPr>
              <a:t> </a:t>
            </a:r>
            <a:r>
              <a:rPr dirty="0" baseline="31746" sz="1050" i="1">
                <a:latin typeface="Arial"/>
                <a:cs typeface="Arial"/>
              </a:rPr>
              <a:t>d</a:t>
            </a:r>
            <a:r>
              <a:rPr dirty="0" baseline="31746" sz="1050" spc="225" i="1">
                <a:latin typeface="Arial"/>
                <a:cs typeface="Arial"/>
              </a:rPr>
              <a:t> </a:t>
            </a:r>
            <a:r>
              <a:rPr dirty="0" baseline="31746" sz="1050" spc="112" i="1">
                <a:latin typeface="Arial"/>
                <a:cs typeface="Arial"/>
              </a:rPr>
              <a:t>T</a:t>
            </a:r>
            <a:r>
              <a:rPr dirty="0" baseline="31746" sz="1050" spc="-1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sz="1000" spc="2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Equation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9.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7422" y="1396001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6105" y="1223612"/>
            <a:ext cx="1304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sng" sz="10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1904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-11904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baseline="-11904" sz="1050" spc="18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000" spc="-4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000" spc="-3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sz="10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1904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-11904" sz="1050" spc="3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dirty="0" u="sng" sz="1000" spc="-3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0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1904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-11904" sz="105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-11904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baseline="-11904" sz="1050" spc="427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+</a:t>
            </a:r>
            <a:r>
              <a:rPr dirty="0" baseline="-36111" sz="1500" spc="179">
                <a:latin typeface="Tahoma"/>
                <a:cs typeface="Tahoma"/>
              </a:rPr>
              <a:t> </a:t>
            </a:r>
            <a:r>
              <a:rPr dirty="0" sz="1000" spc="-370" i="1">
                <a:latin typeface="Arial"/>
                <a:cs typeface="Arial"/>
              </a:rPr>
              <a:t>q</a:t>
            </a:r>
            <a:r>
              <a:rPr dirty="0" sz="1000" spc="-370">
                <a:latin typeface="Tahoma"/>
                <a:cs typeface="Tahoma"/>
              </a:rPr>
              <a:t>˙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26981" y="1202775"/>
            <a:ext cx="1092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5" i="1">
                <a:latin typeface="Verdana"/>
                <a:cs typeface="Verdana"/>
              </a:rPr>
              <a:t>'''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69031" y="1416799"/>
            <a:ext cx="167005" cy="0"/>
          </a:xfrm>
          <a:custGeom>
            <a:avLst/>
            <a:gdLst/>
            <a:ahLst/>
            <a:cxnLst/>
            <a:rect l="l" t="t" r="r" b="b"/>
            <a:pathLst>
              <a:path w="167005" h="0">
                <a:moveTo>
                  <a:pt x="0" y="0"/>
                </a:moveTo>
                <a:lnTo>
                  <a:pt x="16699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003626" y="1396001"/>
            <a:ext cx="876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73653" y="1309210"/>
            <a:ext cx="222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49221" y="1735254"/>
            <a:ext cx="9232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345" algn="l"/>
                <a:tab pos="752475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4703" y="1678322"/>
            <a:ext cx="12471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2905" algn="l"/>
                <a:tab pos="1136015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sz="1000" spc="26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07461" y="1571888"/>
            <a:ext cx="1092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5" i="1">
                <a:latin typeface="Verdana"/>
                <a:cs typeface="Verdana"/>
              </a:rPr>
              <a:t>'''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16795" y="1649656"/>
            <a:ext cx="635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36811" y="1592724"/>
            <a:ext cx="546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000" spc="-34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</a:t>
            </a:r>
            <a:r>
              <a:rPr dirty="0" u="sng" sz="1000" spc="-3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˙</a:t>
            </a:r>
            <a:r>
              <a:rPr dirty="0" u="sng" sz="1000" spc="1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dirty="0" u="sng" sz="10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(∆</a:t>
            </a:r>
            <a:r>
              <a:rPr dirty="0" u="sng" sz="1000" spc="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u="sng" sz="1000" spc="-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u="sng" sz="1000" spc="5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03523" y="158477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60648" y="1765114"/>
            <a:ext cx="876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992807"/>
            <a:ext cx="52590" cy="5259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54634" y="1908700"/>
            <a:ext cx="2665095" cy="328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195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Hence,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interior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nodes,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i.e.,</a:t>
            </a:r>
            <a:r>
              <a:rPr dirty="0" sz="1000" spc="-15">
                <a:latin typeface="Tahoma"/>
                <a:cs typeface="Tahoma"/>
              </a:rPr>
              <a:t> 2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3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1210945">
              <a:lnSpc>
                <a:spcPts val="1195"/>
              </a:lnSpc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>
                <a:latin typeface="Lucida Sans Unicode"/>
                <a:cs typeface="Lucida Sans Unicode"/>
              </a:rPr>
              <a:t>−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37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3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>
                <a:latin typeface="Tahoma"/>
                <a:cs typeface="Tahoma"/>
              </a:rPr>
              <a:t>+1</a:t>
            </a:r>
            <a:r>
              <a:rPr dirty="0" baseline="-11904" sz="1050" spc="30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Su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31817" y="2060326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(10)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4634" y="2336627"/>
            <a:ext cx="14662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60">
                <a:latin typeface="Tahoma"/>
                <a:cs typeface="Tahoma"/>
              </a:rPr>
              <a:t>where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Source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terms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Su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spc="202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72144" y="2274807"/>
            <a:ext cx="1092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5" i="1">
                <a:latin typeface="Verdana"/>
                <a:cs typeface="Verdana"/>
              </a:rPr>
              <a:t>'''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26868" y="2351363"/>
            <a:ext cx="4191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 i="1">
                <a:latin typeface="Arial"/>
                <a:cs typeface="Arial"/>
              </a:rPr>
              <a:t>i</a:t>
            </a:r>
            <a:endParaRPr sz="5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19947" y="2313218"/>
            <a:ext cx="3975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90" i="1">
                <a:latin typeface="Arial"/>
                <a:cs typeface="Arial"/>
              </a:rPr>
              <a:t>q</a:t>
            </a:r>
            <a:r>
              <a:rPr dirty="0" sz="700" spc="-90">
                <a:latin typeface="Tahoma"/>
                <a:cs typeface="Tahoma"/>
              </a:rPr>
              <a:t>˙</a:t>
            </a:r>
            <a:r>
              <a:rPr dirty="0" sz="700" spc="434">
                <a:latin typeface="Tahoma"/>
                <a:cs typeface="Tahoma"/>
              </a:rPr>
              <a:t> </a:t>
            </a:r>
            <a:r>
              <a:rPr dirty="0" sz="700" spc="60">
                <a:latin typeface="Tahoma"/>
                <a:cs typeface="Tahoma"/>
              </a:rPr>
              <a:t>(∆</a:t>
            </a:r>
            <a:r>
              <a:rPr dirty="0" sz="700" spc="60" i="1">
                <a:latin typeface="Arial"/>
                <a:cs typeface="Arial"/>
              </a:rPr>
              <a:t>x</a:t>
            </a:r>
            <a:r>
              <a:rPr dirty="0" sz="700" spc="-25" i="1">
                <a:latin typeface="Arial"/>
                <a:cs typeface="Arial"/>
              </a:rPr>
              <a:t> </a:t>
            </a:r>
            <a:r>
              <a:rPr dirty="0" sz="700" spc="-5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92070" y="2300334"/>
            <a:ext cx="5905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32647" y="2444216"/>
            <a:ext cx="412115" cy="0"/>
          </a:xfrm>
          <a:custGeom>
            <a:avLst/>
            <a:gdLst/>
            <a:ahLst/>
            <a:cxnLst/>
            <a:rect l="l" t="t" r="r" b="b"/>
            <a:pathLst>
              <a:path w="412114" h="0">
                <a:moveTo>
                  <a:pt x="0" y="0"/>
                </a:moveTo>
                <a:lnTo>
                  <a:pt x="41205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299322" y="2418209"/>
            <a:ext cx="717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k</a:t>
            </a:r>
            <a:endParaRPr sz="7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585237"/>
            <a:ext cx="65265" cy="6526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402932" y="2501797"/>
            <a:ext cx="2556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Step-IV: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Boundary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82117" y="2711620"/>
            <a:ext cx="1027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(i)</a:t>
            </a:r>
            <a:r>
              <a:rPr dirty="0" sz="1000" spc="18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10">
                <a:latin typeface="Tahoma"/>
                <a:cs typeface="Tahoma"/>
              </a:rPr>
              <a:t> Node </a:t>
            </a:r>
            <a:r>
              <a:rPr dirty="0" sz="1000">
                <a:latin typeface="Tahoma"/>
                <a:cs typeface="Tahoma"/>
              </a:rPr>
              <a:t>1: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45818" y="2699755"/>
            <a:ext cx="1384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dT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5632" y="2679984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58099" y="2800187"/>
            <a:ext cx="3467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968" sz="1050" i="1">
                <a:latin typeface="Arial"/>
                <a:cs typeface="Arial"/>
              </a:rPr>
              <a:t>dx</a:t>
            </a:r>
            <a:r>
              <a:rPr dirty="0" baseline="3968" sz="1050" spc="615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659329" y="2793202"/>
            <a:ext cx="147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55">
                <a:latin typeface="Tahoma"/>
                <a:cs typeface="Tahoma"/>
              </a:rPr>
              <a:t>∆</a:t>
            </a:r>
            <a:r>
              <a:rPr dirty="0" sz="700" spc="55" i="1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95322" y="2711620"/>
            <a:ext cx="13442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75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1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k</a:t>
            </a:r>
            <a:r>
              <a:rPr dirty="0" sz="1000">
                <a:latin typeface="Tahoma"/>
                <a:cs typeface="Tahoma"/>
              </a:rPr>
              <a:t>[</a:t>
            </a:r>
            <a:r>
              <a:rPr dirty="0" u="sng" baseline="39682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baseline="39682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44444" sz="7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baseline="44444" sz="750" spc="-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39682" sz="105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39682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44444" sz="7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baseline="44444" sz="750" spc="-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39682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baseline="39682" sz="1050" spc="-112">
                <a:latin typeface="Tahoma"/>
                <a:cs typeface="Tahoma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3791" y="2791454"/>
            <a:ext cx="2267585" cy="4730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660"/>
              </a:spcBef>
            </a:pPr>
            <a:r>
              <a:rPr dirty="0" sz="1000" spc="-40">
                <a:latin typeface="Tahoma"/>
                <a:cs typeface="Tahoma"/>
              </a:rPr>
              <a:t>Hence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04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6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(ii)</a:t>
            </a:r>
            <a:r>
              <a:rPr dirty="0" sz="1000" spc="26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6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>
                <a:latin typeface="Tahoma"/>
                <a:cs typeface="Tahoma"/>
              </a:rPr>
              <a:t>=5</a:t>
            </a:r>
            <a:r>
              <a:rPr dirty="0" baseline="-11904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 i="1">
                <a:latin typeface="Arial"/>
                <a:cs typeface="Arial"/>
              </a:rPr>
              <a:t>L</a:t>
            </a:r>
            <a:r>
              <a:rPr dirty="0" baseline="-11904" sz="1050" spc="322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2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5</a:t>
            </a:r>
            <a:r>
              <a:rPr dirty="0" baseline="-11904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L</a:t>
            </a:r>
            <a:endParaRPr baseline="-11904" sz="10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4316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84809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459726"/>
            <a:ext cx="3371215" cy="147574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8100" marR="30099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using Gauss-</a:t>
            </a:r>
            <a:r>
              <a:rPr dirty="0" sz="1100" spc="-25">
                <a:latin typeface="Tahoma"/>
                <a:cs typeface="Tahoma"/>
              </a:rPr>
              <a:t>Elimination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Method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50"/>
              </a:spcBef>
            </a:pPr>
            <a:r>
              <a:rPr dirty="0" sz="1000" spc="6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equations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25">
                <a:latin typeface="Tahoma"/>
                <a:cs typeface="Tahoma"/>
              </a:rPr>
              <a:t> as:</a:t>
            </a:r>
            <a:endParaRPr sz="1000">
              <a:latin typeface="Tahoma"/>
              <a:cs typeface="Tahoma"/>
            </a:endParaRPr>
          </a:p>
          <a:p>
            <a:pPr algn="r" marR="525145">
              <a:lnSpc>
                <a:spcPct val="100000"/>
              </a:lnSpc>
              <a:spcBef>
                <a:spcPts val="360"/>
              </a:spcBef>
            </a:pP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2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21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r" marR="531495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104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3</a:t>
            </a:r>
            <a:r>
              <a:rPr dirty="0" baseline="-11904" sz="1050" spc="20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Su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  <a:p>
            <a:pPr algn="r" marR="531495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3</a:t>
            </a:r>
            <a:r>
              <a:rPr dirty="0" baseline="-11904" sz="1050" spc="104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4</a:t>
            </a:r>
            <a:r>
              <a:rPr dirty="0" baseline="-11904" sz="1050" spc="20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Su</a:t>
            </a:r>
            <a:r>
              <a:rPr dirty="0" baseline="-11904" sz="1050" spc="-37">
                <a:latin typeface="Tahoma"/>
                <a:cs typeface="Tahoma"/>
              </a:rPr>
              <a:t>3</a:t>
            </a:r>
            <a:endParaRPr baseline="-11904" sz="1050">
              <a:latin typeface="Tahoma"/>
              <a:cs typeface="Tahoma"/>
            </a:endParaRPr>
          </a:p>
          <a:p>
            <a:pPr algn="r" marR="531495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3</a:t>
            </a:r>
            <a:r>
              <a:rPr dirty="0" baseline="-11904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4</a:t>
            </a:r>
            <a:r>
              <a:rPr dirty="0" baseline="-11904" sz="1050" spc="104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5</a:t>
            </a:r>
            <a:r>
              <a:rPr dirty="0" baseline="-11904" sz="1050" spc="20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Su</a:t>
            </a:r>
            <a:r>
              <a:rPr dirty="0" baseline="-11904" sz="1050" spc="-37">
                <a:latin typeface="Tahoma"/>
                <a:cs typeface="Tahoma"/>
              </a:rPr>
              <a:t>4</a:t>
            </a:r>
            <a:endParaRPr baseline="-11904" sz="1050">
              <a:latin typeface="Tahoma"/>
              <a:cs typeface="Tahoma"/>
            </a:endParaRPr>
          </a:p>
          <a:p>
            <a:pPr algn="r" marR="531495">
              <a:lnSpc>
                <a:spcPct val="100000"/>
              </a:lnSpc>
              <a:spcBef>
                <a:spcPts val="295"/>
              </a:spcBef>
            </a:pP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5</a:t>
            </a:r>
            <a:r>
              <a:rPr dirty="0" baseline="-11904" sz="1050" spc="2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 i="1">
                <a:latin typeface="Arial"/>
                <a:cs typeface="Arial"/>
              </a:rPr>
              <a:t>T</a:t>
            </a:r>
            <a:r>
              <a:rPr dirty="0" baseline="-11904" sz="1050" spc="-52" i="1">
                <a:latin typeface="Arial"/>
                <a:cs typeface="Arial"/>
              </a:rPr>
              <a:t>L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817" y="1379618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(11)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070582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98955" y="254470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8955" y="262062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8955" y="2701600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</a:t>
            </a:r>
            <a:endParaRPr sz="1000">
              <a:latin typeface="Lucida Sans Unicode"/>
              <a:cs typeface="Lucida Sans Unicode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752447" y="2314605"/>
          <a:ext cx="878205" cy="734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540"/>
                <a:gridCol w="288290"/>
                <a:gridCol w="256539"/>
              </a:tblGrid>
              <a:tr h="139700">
                <a:tc>
                  <a:txBody>
                    <a:bodyPr/>
                    <a:lstStyle/>
                    <a:p>
                      <a:pPr algn="ctr" marR="23495">
                        <a:lnSpc>
                          <a:spcPts val="95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9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 marR="2349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 marR="2349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 marR="2349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39700">
                <a:tc>
                  <a:txBody>
                    <a:bodyPr/>
                    <a:lstStyle/>
                    <a:p>
                      <a:pPr algn="ctr" marR="23495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54634" y="1986488"/>
            <a:ext cx="3844925" cy="361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35">
                <a:latin typeface="Tahoma"/>
                <a:cs typeface="Tahoma"/>
              </a:rPr>
              <a:t> equations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first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form: </a:t>
            </a:r>
            <a:r>
              <a:rPr dirty="0" sz="1000" spc="-75">
                <a:latin typeface="Tahoma"/>
                <a:cs typeface="Tahoma"/>
              </a:rPr>
              <a:t>[</a:t>
            </a:r>
            <a:r>
              <a:rPr dirty="0" sz="1000" spc="-75" i="1">
                <a:latin typeface="Arial"/>
                <a:cs typeface="Arial"/>
              </a:rPr>
              <a:t>A</a:t>
            </a:r>
            <a:r>
              <a:rPr dirty="0" sz="1000" spc="-75">
                <a:latin typeface="Tahoma"/>
                <a:cs typeface="Tahoma"/>
              </a:rPr>
              <a:t>][</a:t>
            </a:r>
            <a:r>
              <a:rPr dirty="0" sz="1000" spc="-75" i="1">
                <a:latin typeface="Arial"/>
                <a:cs typeface="Arial"/>
              </a:rPr>
              <a:t>x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>
                <a:latin typeface="Tahoma"/>
                <a:cs typeface="Tahoma"/>
              </a:rPr>
              <a:t> = </a:t>
            </a:r>
            <a:r>
              <a:rPr dirty="0" sz="1000" spc="-25">
                <a:latin typeface="Tahoma"/>
                <a:cs typeface="Tahoma"/>
              </a:rPr>
              <a:t>[</a:t>
            </a:r>
            <a:r>
              <a:rPr dirty="0" sz="1000" spc="-25" i="1">
                <a:latin typeface="Arial"/>
                <a:cs typeface="Arial"/>
              </a:rPr>
              <a:t>b</a:t>
            </a:r>
            <a:r>
              <a:rPr dirty="0" sz="1000" spc="-25">
                <a:latin typeface="Tahoma"/>
                <a:cs typeface="Tahoma"/>
              </a:rPr>
              <a:t>]</a:t>
            </a:r>
            <a:endParaRPr sz="1000">
              <a:latin typeface="Tahoma"/>
              <a:cs typeface="Tahoma"/>
            </a:endParaRPr>
          </a:p>
          <a:p>
            <a:pPr marL="756920">
              <a:lnSpc>
                <a:spcPts val="245"/>
              </a:lnSpc>
              <a:tabLst>
                <a:tab pos="2042795" algn="l"/>
                <a:tab pos="273748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</a:t>
            </a:r>
            <a:r>
              <a:rPr dirty="0" sz="1000" spc="70">
                <a:latin typeface="Lucida Sans Unicode"/>
                <a:cs typeface="Lucida Sans Unicode"/>
              </a:rPr>
              <a:t> </a:t>
            </a:r>
            <a:r>
              <a:rPr dirty="0" baseline="-44444" sz="1500" spc="-75">
                <a:latin typeface="Tahoma"/>
                <a:cs typeface="Tahoma"/>
              </a:rPr>
              <a:t>1</a:t>
            </a:r>
            <a:r>
              <a:rPr dirty="0" baseline="-44444" sz="1500">
                <a:latin typeface="Tahoma"/>
                <a:cs typeface="Tahoma"/>
              </a:rPr>
              <a:t>	0</a:t>
            </a:r>
            <a:r>
              <a:rPr dirty="0" baseline="-44444" sz="1500" spc="30">
                <a:latin typeface="Tahoma"/>
                <a:cs typeface="Tahoma"/>
              </a:rPr>
              <a:t> </a:t>
            </a:r>
            <a:r>
              <a:rPr dirty="0" sz="1000" spc="-340">
                <a:latin typeface="Lucida Sans Unicode"/>
                <a:cs typeface="Lucida Sans Unicode"/>
              </a:rPr>
              <a:t>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</a:t>
            </a:r>
            <a:r>
              <a:rPr dirty="0" baseline="-44444" sz="1500" spc="-30" i="1">
                <a:latin typeface="Arial"/>
                <a:cs typeface="Arial"/>
              </a:rPr>
              <a:t>T</a:t>
            </a:r>
            <a:r>
              <a:rPr dirty="0" baseline="-75396" sz="1050" spc="-30">
                <a:latin typeface="Tahoma"/>
                <a:cs typeface="Tahoma"/>
              </a:rPr>
              <a:t>1</a:t>
            </a:r>
            <a:r>
              <a:rPr dirty="0" sz="1000" spc="-20">
                <a:latin typeface="Lucida Sans Unicode"/>
                <a:cs typeface="Lucida Sans Unicode"/>
              </a:rPr>
              <a:t>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40">
                <a:latin typeface="Lucida Sans Unicode"/>
                <a:cs typeface="Lucida Sans Unicode"/>
              </a:rPr>
              <a:t></a:t>
            </a:r>
            <a:r>
              <a:rPr dirty="0" sz="1000" spc="160">
                <a:latin typeface="Lucida Sans Unicode"/>
                <a:cs typeface="Lucida Sans Unicode"/>
              </a:rPr>
              <a:t> </a:t>
            </a:r>
            <a:r>
              <a:rPr dirty="0" baseline="-44444" sz="1500">
                <a:latin typeface="Tahoma"/>
                <a:cs typeface="Tahoma"/>
              </a:rPr>
              <a:t>0</a:t>
            </a:r>
            <a:r>
              <a:rPr dirty="0" baseline="-44444" sz="1500" spc="187">
                <a:latin typeface="Tahoma"/>
                <a:cs typeface="Tahoma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3309" y="2423241"/>
            <a:ext cx="18732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61594">
              <a:lnSpc>
                <a:spcPts val="1195"/>
              </a:lnSpc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61594">
              <a:lnSpc>
                <a:spcPts val="1195"/>
              </a:lnSpc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61594">
              <a:lnSpc>
                <a:spcPts val="1200"/>
              </a:lnSpc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36088" y="2726898"/>
            <a:ext cx="4629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3855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3666" y="278384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9878" y="2878726"/>
            <a:ext cx="51180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39725" algn="l"/>
              </a:tabLst>
            </a:pP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5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5305" y="2576339"/>
            <a:ext cx="9404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325" algn="l"/>
                <a:tab pos="57340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75">
                <a:latin typeface="Tahoma"/>
                <a:cs typeface="Tahoma"/>
              </a:rPr>
              <a:t>  </a:t>
            </a:r>
            <a:r>
              <a:rPr dirty="0" sz="1000" spc="-45" i="1">
                <a:latin typeface="Arial"/>
                <a:cs typeface="Arial"/>
              </a:rPr>
              <a:t>Su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73666" y="2632001"/>
            <a:ext cx="5994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8480" algn="l"/>
              </a:tabLst>
            </a:pP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64445" y="2726898"/>
            <a:ext cx="161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 i="1">
                <a:latin typeface="Arial"/>
                <a:cs typeface="Arial"/>
              </a:rPr>
              <a:t>Su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0106" y="278384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61740" y="2878726"/>
            <a:ext cx="2139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L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59940" y="2423241"/>
            <a:ext cx="1129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780"/>
              </a:lnSpc>
              <a:spcBef>
                <a:spcPts val="95"/>
              </a:spcBef>
              <a:tabLst>
                <a:tab pos="339725" algn="l"/>
                <a:tab pos="81661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r>
              <a:rPr dirty="0" baseline="-11904" sz="1050">
                <a:latin typeface="Tahoma"/>
                <a:cs typeface="Tahoma"/>
              </a:rPr>
              <a:t>	</a:t>
            </a:r>
            <a:r>
              <a:rPr dirty="0" sz="1000" spc="-25" i="1">
                <a:latin typeface="Arial"/>
                <a:cs typeface="Arial"/>
              </a:rPr>
              <a:t>Su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  <a:p>
            <a:pPr marL="150495">
              <a:lnSpc>
                <a:spcPts val="780"/>
              </a:lnSpc>
              <a:tabLst>
                <a:tab pos="479425" algn="l"/>
                <a:tab pos="732790" algn="l"/>
                <a:tab pos="1005840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97771" y="2620624"/>
            <a:ext cx="9658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1630" algn="l"/>
                <a:tab pos="594360" algn="l"/>
                <a:tab pos="868044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97771" y="2701600"/>
            <a:ext cx="9658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1630" algn="l"/>
                <a:tab pos="594360" algn="l"/>
                <a:tab pos="868044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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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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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</a:t>
            </a:r>
            <a:endParaRPr sz="1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6207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97636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378623"/>
            <a:ext cx="3100705" cy="51244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8100" marR="3048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using Gauss-</a:t>
            </a:r>
            <a:r>
              <a:rPr dirty="0" sz="1100" spc="-25">
                <a:latin typeface="Tahoma"/>
                <a:cs typeface="Tahoma"/>
              </a:rPr>
              <a:t>Elimination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Method: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augmented</a:t>
            </a:r>
            <a:r>
              <a:rPr dirty="0" sz="1000" spc="-10">
                <a:latin typeface="Tahoma"/>
                <a:cs typeface="Tahoma"/>
              </a:rPr>
              <a:t> matrix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is:</a:t>
            </a:r>
            <a:r>
              <a:rPr dirty="0" sz="1000" spc="90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[</a:t>
            </a:r>
            <a:r>
              <a:rPr dirty="0" sz="1000" spc="-85" i="1">
                <a:latin typeface="Arial"/>
                <a:cs typeface="Arial"/>
              </a:rPr>
              <a:t>A</a:t>
            </a:r>
            <a:r>
              <a:rPr dirty="0" baseline="27777" sz="1050" spc="-127">
                <a:latin typeface="Lucida Sans Unicode"/>
                <a:cs typeface="Lucida Sans Unicode"/>
              </a:rPr>
              <a:t>∗</a:t>
            </a:r>
            <a:r>
              <a:rPr dirty="0" sz="1000" spc="-85">
                <a:latin typeface="Tahoma"/>
                <a:cs typeface="Tahoma"/>
              </a:rPr>
              <a:t>]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[</a:t>
            </a:r>
            <a:r>
              <a:rPr dirty="0" sz="1000" spc="-45" i="1">
                <a:latin typeface="Arial"/>
                <a:cs typeface="Arial"/>
              </a:rPr>
              <a:t>A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b</a:t>
            </a:r>
            <a:r>
              <a:rPr dirty="0" sz="1000" spc="-25">
                <a:latin typeface="Tahoma"/>
                <a:cs typeface="Tahoma"/>
              </a:rPr>
              <a:t>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8315" y="1194094"/>
            <a:ext cx="774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10">
                <a:latin typeface="Lucida Sans Unicode"/>
                <a:cs typeface="Lucida Sans Unicode"/>
              </a:rPr>
              <a:t>∗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1726" y="117673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1726" y="1252656"/>
            <a:ext cx="97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0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1726" y="1333632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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6326" y="802226"/>
            <a:ext cx="273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40">
                <a:latin typeface="Lucida Sans Unicode"/>
                <a:cs typeface="Lucida Sans Unicode"/>
              </a:rPr>
              <a:t></a:t>
            </a:r>
            <a:r>
              <a:rPr dirty="0" sz="1000" spc="70">
                <a:latin typeface="Lucida Sans Unicode"/>
                <a:cs typeface="Lucida Sans Unicode"/>
              </a:rPr>
              <a:t> </a:t>
            </a:r>
            <a:r>
              <a:rPr dirty="0" baseline="-44444" sz="1500" spc="-75">
                <a:latin typeface="Tahoma"/>
                <a:cs typeface="Tahoma"/>
              </a:rPr>
              <a:t>1</a:t>
            </a:r>
            <a:endParaRPr baseline="-44444" sz="1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62439" y="1112217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7411" y="1208371"/>
            <a:ext cx="6070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0225" algn="l"/>
              </a:tabLst>
            </a:pPr>
            <a:r>
              <a:rPr dirty="0" sz="1000">
                <a:latin typeface="Tahoma"/>
                <a:cs typeface="Tahoma"/>
              </a:rPr>
              <a:t>[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83471" y="1207102"/>
            <a:ext cx="47942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995">
              <a:lnSpc>
                <a:spcPts val="12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Su</a:t>
            </a:r>
            <a:r>
              <a:rPr dirty="0" baseline="-11904" sz="1050" spc="-37">
                <a:latin typeface="Tahoma"/>
                <a:cs typeface="Tahoma"/>
              </a:rPr>
              <a:t>3</a:t>
            </a:r>
            <a:endParaRPr baseline="-11904" sz="105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</a:pP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 i="1">
                <a:latin typeface="Arial"/>
                <a:cs typeface="Arial"/>
              </a:rPr>
              <a:t>Su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1638" y="1415874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56079" y="903445"/>
            <a:ext cx="153225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14604">
              <a:lnSpc>
                <a:spcPts val="1200"/>
              </a:lnSpc>
              <a:spcBef>
                <a:spcPts val="95"/>
              </a:spcBef>
              <a:tabLst>
                <a:tab pos="337185" algn="l"/>
                <a:tab pos="625475" algn="l"/>
                <a:tab pos="975994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6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r" marR="5080">
              <a:lnSpc>
                <a:spcPts val="1195"/>
              </a:lnSpc>
              <a:tabLst>
                <a:tab pos="337185" algn="l"/>
                <a:tab pos="575945" algn="l"/>
                <a:tab pos="913130" algn="l"/>
                <a:tab pos="120142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60">
                <a:latin typeface="Tahoma"/>
                <a:cs typeface="Tahoma"/>
              </a:rPr>
              <a:t>2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0" i="1">
                <a:latin typeface="Arial"/>
                <a:cs typeface="Arial"/>
              </a:rPr>
              <a:t>Su</a:t>
            </a:r>
            <a:endParaRPr sz="1000">
              <a:latin typeface="Arial"/>
              <a:cs typeface="Arial"/>
            </a:endParaRPr>
          </a:p>
          <a:p>
            <a:pPr algn="r" marR="485140">
              <a:lnSpc>
                <a:spcPts val="1195"/>
              </a:lnSpc>
              <a:tabLst>
                <a:tab pos="337185" algn="l"/>
                <a:tab pos="575945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60">
                <a:latin typeface="Tahoma"/>
                <a:cs typeface="Tahoma"/>
              </a:rPr>
              <a:t>2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r" marR="534035">
              <a:lnSpc>
                <a:spcPts val="1195"/>
              </a:lnSpc>
              <a:tabLst>
                <a:tab pos="287655" algn="l"/>
                <a:tab pos="527050" algn="l"/>
                <a:tab pos="86423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 algn="r" marR="534035">
              <a:lnSpc>
                <a:spcPts val="1200"/>
              </a:lnSpc>
              <a:tabLst>
                <a:tab pos="287655" algn="l"/>
                <a:tab pos="575945" algn="l"/>
                <a:tab pos="86423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55435" y="1510771"/>
            <a:ext cx="3822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L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5016" y="80222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65016" y="117673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65016" y="1252656"/>
            <a:ext cx="97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0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65016" y="1333632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</a:t>
            </a:r>
            <a:endParaRPr sz="100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795589"/>
            <a:ext cx="52590" cy="5259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966" y="1954009"/>
            <a:ext cx="52590" cy="5259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80034" y="1690129"/>
            <a:ext cx="3761740" cy="35496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Gauss-</a:t>
            </a:r>
            <a:r>
              <a:rPr dirty="0" sz="1000" spc="-20">
                <a:latin typeface="Tahoma"/>
                <a:cs typeface="Tahoma"/>
              </a:rPr>
              <a:t>Elimination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Method: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dirty="0" sz="900" spc="-10" b="1">
                <a:latin typeface="Arial"/>
                <a:cs typeface="Arial"/>
              </a:rPr>
              <a:t>Step-</a:t>
            </a:r>
            <a:r>
              <a:rPr dirty="0" sz="900" b="1">
                <a:latin typeface="Arial"/>
                <a:cs typeface="Arial"/>
              </a:rPr>
              <a:t>I: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Apply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Forward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Elimination:</a:t>
            </a:r>
            <a:r>
              <a:rPr dirty="0" sz="900" spc="8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convert </a:t>
            </a:r>
            <a:r>
              <a:rPr dirty="0" sz="900" spc="-25">
                <a:latin typeface="Tahoma"/>
                <a:cs typeface="Tahoma"/>
              </a:rPr>
              <a:t>augmented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matrix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into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7122" y="2021733"/>
            <a:ext cx="12598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an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upper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triangular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form.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0834" y="2433261"/>
            <a:ext cx="742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Lucida Sans Unicode"/>
                <a:cs typeface="Lucida Sans Unicode"/>
              </a:rPr>
              <a:t>∗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45716" y="2562994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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45716" y="2310201"/>
            <a:ext cx="253365" cy="2051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170">
              <a:lnSpc>
                <a:spcPts val="710"/>
              </a:lnSpc>
              <a:spcBef>
                <a:spcPts val="95"/>
              </a:spcBef>
            </a:pPr>
            <a:r>
              <a:rPr dirty="0" sz="900" spc="50" i="1">
                <a:latin typeface="Arial"/>
                <a:cs typeface="Arial"/>
              </a:rPr>
              <a:t>−</a:t>
            </a:r>
            <a:r>
              <a:rPr dirty="0" sz="900" spc="5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ts val="710"/>
              </a:lnSpc>
            </a:pPr>
            <a:r>
              <a:rPr dirty="0" sz="900" spc="-340">
                <a:latin typeface="Arial MT"/>
                <a:cs typeface="Arial MT"/>
              </a:rPr>
              <a:t>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88630" y="2450015"/>
            <a:ext cx="564515" cy="201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695"/>
              </a:lnSpc>
              <a:spcBef>
                <a:spcPts val="95"/>
              </a:spcBef>
              <a:tabLst>
                <a:tab pos="492759" algn="l"/>
              </a:tabLst>
            </a:pPr>
            <a:r>
              <a:rPr dirty="0" sz="900">
                <a:latin typeface="Tahoma"/>
                <a:cs typeface="Tahoma"/>
              </a:rPr>
              <a:t>[</a:t>
            </a:r>
            <a:r>
              <a:rPr dirty="0" sz="900" i="1">
                <a:latin typeface="Arial"/>
                <a:cs typeface="Arial"/>
              </a:rPr>
              <a:t>A</a:t>
            </a:r>
            <a:r>
              <a:rPr dirty="0" sz="900" spc="110" i="1">
                <a:latin typeface="Arial"/>
                <a:cs typeface="Arial"/>
              </a:rPr>
              <a:t> </a:t>
            </a:r>
            <a:r>
              <a:rPr dirty="0" sz="900" spc="-90">
                <a:latin typeface="Tahoma"/>
                <a:cs typeface="Tahoma"/>
              </a:rPr>
              <a:t>]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15">
                <a:latin typeface="Tahoma"/>
                <a:cs typeface="Tahoma"/>
              </a:rPr>
              <a:t>=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marL="369570">
              <a:lnSpc>
                <a:spcPts val="695"/>
              </a:lnSpc>
            </a:pPr>
            <a:r>
              <a:rPr dirty="0" sz="900" spc="-340">
                <a:latin typeface="Arial MT"/>
                <a:cs typeface="Arial MT"/>
              </a:rPr>
              <a:t>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30391" y="2171021"/>
            <a:ext cx="240029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0</a:t>
            </a:r>
            <a:r>
              <a:rPr dirty="0" sz="900" spc="-50">
                <a:latin typeface="Tahoma"/>
                <a:cs typeface="Tahoma"/>
              </a:rPr>
              <a:t> </a:t>
            </a:r>
            <a:r>
              <a:rPr dirty="0" sz="900" spc="-65">
                <a:latin typeface="Tahoma"/>
                <a:cs typeface="Tahoma"/>
              </a:rPr>
              <a:t>: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69248" y="2588559"/>
            <a:ext cx="8382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28022" y="2588559"/>
            <a:ext cx="39814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75" i="1">
                <a:latin typeface="Arial"/>
                <a:cs typeface="Arial"/>
              </a:rPr>
              <a:t>−</a:t>
            </a:r>
            <a:r>
              <a:rPr dirty="0" sz="900" spc="75">
                <a:latin typeface="Tahoma"/>
                <a:cs typeface="Tahoma"/>
              </a:rPr>
              <a:t>1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65">
                <a:latin typeface="Tahoma"/>
                <a:cs typeface="Tahoma"/>
              </a:rPr>
              <a:t>: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40" i="1">
                <a:latin typeface="Arial"/>
                <a:cs typeface="Arial"/>
              </a:rPr>
              <a:t>Su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00564" y="263916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99804" y="2171021"/>
            <a:ext cx="727075" cy="71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4010" algn="l"/>
                <a:tab pos="610235" algn="l"/>
              </a:tabLst>
            </a:pPr>
            <a:r>
              <a:rPr dirty="0" sz="900" spc="50" i="1">
                <a:latin typeface="Arial"/>
                <a:cs typeface="Arial"/>
              </a:rPr>
              <a:t>−</a:t>
            </a:r>
            <a:r>
              <a:rPr dirty="0" sz="900" spc="50">
                <a:latin typeface="Tahoma"/>
                <a:cs typeface="Tahoma"/>
              </a:rPr>
              <a:t>1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marL="57785">
              <a:lnSpc>
                <a:spcPct val="100000"/>
              </a:lnSpc>
              <a:spcBef>
                <a:spcPts val="15"/>
              </a:spcBef>
              <a:tabLst>
                <a:tab pos="288290" algn="l"/>
                <a:tab pos="610235" algn="l"/>
              </a:tabLst>
            </a:pPr>
            <a:r>
              <a:rPr dirty="0" sz="900" spc="-50">
                <a:latin typeface="Tahoma"/>
                <a:cs typeface="Tahoma"/>
              </a:rPr>
              <a:t>2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50" i="1">
                <a:latin typeface="Arial"/>
                <a:cs typeface="Arial"/>
              </a:rPr>
              <a:t>−</a:t>
            </a:r>
            <a:r>
              <a:rPr dirty="0" sz="900" spc="50">
                <a:latin typeface="Tahoma"/>
                <a:cs typeface="Tahoma"/>
              </a:rPr>
              <a:t>1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334010" algn="l"/>
                <a:tab pos="564515" algn="l"/>
              </a:tabLst>
            </a:pPr>
            <a:r>
              <a:rPr dirty="0" sz="900" spc="50" i="1">
                <a:latin typeface="Arial"/>
                <a:cs typeface="Arial"/>
              </a:rPr>
              <a:t>−</a:t>
            </a:r>
            <a:r>
              <a:rPr dirty="0" sz="900" spc="50">
                <a:latin typeface="Tahoma"/>
                <a:cs typeface="Tahoma"/>
              </a:rPr>
              <a:t>1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2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50" i="1">
                <a:latin typeface="Arial"/>
                <a:cs typeface="Arial"/>
              </a:rPr>
              <a:t>−</a:t>
            </a:r>
            <a:r>
              <a:rPr dirty="0" sz="900" spc="5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 marL="57785">
              <a:lnSpc>
                <a:spcPct val="100000"/>
              </a:lnSpc>
              <a:spcBef>
                <a:spcPts val="20"/>
              </a:spcBef>
              <a:tabLst>
                <a:tab pos="288290" algn="l"/>
                <a:tab pos="610235" algn="l"/>
              </a:tabLst>
            </a:pP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50" i="1">
                <a:latin typeface="Arial"/>
                <a:cs typeface="Arial"/>
              </a:rPr>
              <a:t>−</a:t>
            </a:r>
            <a:r>
              <a:rPr dirty="0" sz="900" spc="50">
                <a:latin typeface="Tahoma"/>
                <a:cs typeface="Tahoma"/>
              </a:rPr>
              <a:t>1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 marL="57785">
              <a:lnSpc>
                <a:spcPct val="100000"/>
              </a:lnSpc>
              <a:spcBef>
                <a:spcPts val="15"/>
              </a:spcBef>
              <a:tabLst>
                <a:tab pos="334010" algn="l"/>
                <a:tab pos="610235" algn="l"/>
              </a:tabLst>
            </a:pP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69248" y="2727739"/>
            <a:ext cx="8382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69099" y="2727739"/>
            <a:ext cx="3562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1</a:t>
            </a:r>
            <a:r>
              <a:rPr dirty="0" sz="900" spc="-50">
                <a:latin typeface="Tahoma"/>
                <a:cs typeface="Tahoma"/>
              </a:rPr>
              <a:t> </a:t>
            </a:r>
            <a:r>
              <a:rPr dirty="0" sz="900" spc="-65">
                <a:latin typeface="Tahoma"/>
                <a:cs typeface="Tahoma"/>
              </a:rPr>
              <a:t>: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 i="1">
                <a:latin typeface="Arial"/>
                <a:cs typeface="Arial"/>
              </a:rPr>
              <a:t>T</a:t>
            </a:r>
            <a:r>
              <a:rPr dirty="0" baseline="-9259" sz="900" spc="-37" i="1">
                <a:latin typeface="Arial"/>
                <a:cs typeface="Arial"/>
              </a:rPr>
              <a:t>L</a:t>
            </a:r>
            <a:endParaRPr baseline="-9259"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07616" y="2084725"/>
            <a:ext cx="17684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51635" algn="l"/>
              </a:tabLst>
            </a:pPr>
            <a:r>
              <a:rPr dirty="0" sz="900" spc="-290">
                <a:latin typeface="Arial MT"/>
                <a:cs typeface="Arial MT"/>
              </a:rPr>
              <a:t></a:t>
            </a:r>
            <a:r>
              <a:rPr dirty="0" sz="900" spc="105">
                <a:latin typeface="Arial MT"/>
                <a:cs typeface="Arial MT"/>
              </a:rPr>
              <a:t> </a:t>
            </a:r>
            <a:r>
              <a:rPr dirty="0" baseline="-43209" sz="1350" spc="-75">
                <a:latin typeface="Tahoma"/>
                <a:cs typeface="Tahoma"/>
              </a:rPr>
              <a:t>1</a:t>
            </a:r>
            <a:r>
              <a:rPr dirty="0" baseline="-43209" sz="1350">
                <a:latin typeface="Tahoma"/>
                <a:cs typeface="Tahoma"/>
              </a:rPr>
              <a:t>	</a:t>
            </a:r>
            <a:r>
              <a:rPr dirty="0" sz="900" spc="-340">
                <a:latin typeface="Arial MT"/>
                <a:cs typeface="Arial MT"/>
              </a:rPr>
              <a:t>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48110" y="2322850"/>
            <a:ext cx="5283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660"/>
              </a:lnSpc>
              <a:spcBef>
                <a:spcPts val="95"/>
              </a:spcBef>
            </a:pPr>
            <a:r>
              <a:rPr dirty="0" baseline="6172" sz="1350">
                <a:latin typeface="Tahoma"/>
                <a:cs typeface="Tahoma"/>
              </a:rPr>
              <a:t>0</a:t>
            </a:r>
            <a:r>
              <a:rPr dirty="0" baseline="6172" sz="1350" spc="-75">
                <a:latin typeface="Tahoma"/>
                <a:cs typeface="Tahoma"/>
              </a:rPr>
              <a:t> </a:t>
            </a:r>
            <a:r>
              <a:rPr dirty="0" baseline="6172" sz="1350" spc="-97">
                <a:latin typeface="Tahoma"/>
                <a:cs typeface="Tahoma"/>
              </a:rPr>
              <a:t>:</a:t>
            </a:r>
            <a:r>
              <a:rPr dirty="0" baseline="6172" sz="1350" spc="-44">
                <a:latin typeface="Tahoma"/>
                <a:cs typeface="Tahoma"/>
              </a:rPr>
              <a:t> </a:t>
            </a:r>
            <a:r>
              <a:rPr dirty="0" baseline="6172" sz="1350" spc="-37" i="1">
                <a:latin typeface="Arial"/>
                <a:cs typeface="Arial"/>
              </a:rPr>
              <a:t>Su</a:t>
            </a:r>
            <a:r>
              <a:rPr dirty="0" sz="600" spc="-25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  <a:p>
            <a:pPr algn="r" marR="30480">
              <a:lnSpc>
                <a:spcPts val="660"/>
              </a:lnSpc>
            </a:pPr>
            <a:r>
              <a:rPr dirty="0" sz="900" spc="-340">
                <a:latin typeface="Arial MT"/>
                <a:cs typeface="Arial MT"/>
              </a:rPr>
              <a:t>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48152" y="2462029"/>
            <a:ext cx="528320" cy="190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650"/>
              </a:lnSpc>
              <a:spcBef>
                <a:spcPts val="95"/>
              </a:spcBef>
            </a:pPr>
            <a:r>
              <a:rPr dirty="0" baseline="6172" sz="1350">
                <a:latin typeface="Tahoma"/>
                <a:cs typeface="Tahoma"/>
              </a:rPr>
              <a:t>0</a:t>
            </a:r>
            <a:r>
              <a:rPr dirty="0" baseline="6172" sz="1350" spc="-82">
                <a:latin typeface="Tahoma"/>
                <a:cs typeface="Tahoma"/>
              </a:rPr>
              <a:t> </a:t>
            </a:r>
            <a:r>
              <a:rPr dirty="0" baseline="6172" sz="1350" spc="-89">
                <a:latin typeface="Tahoma"/>
                <a:cs typeface="Tahoma"/>
              </a:rPr>
              <a:t>:</a:t>
            </a:r>
            <a:r>
              <a:rPr dirty="0" baseline="6172" sz="1350" spc="-37">
                <a:latin typeface="Tahoma"/>
                <a:cs typeface="Tahoma"/>
              </a:rPr>
              <a:t> </a:t>
            </a:r>
            <a:r>
              <a:rPr dirty="0" baseline="6172" sz="1350" spc="-37" i="1">
                <a:latin typeface="Arial"/>
                <a:cs typeface="Arial"/>
              </a:rPr>
              <a:t>Su</a:t>
            </a:r>
            <a:r>
              <a:rPr dirty="0" sz="600" spc="-25"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  <a:p>
            <a:pPr algn="r" marR="30480">
              <a:lnSpc>
                <a:spcPts val="650"/>
              </a:lnSpc>
            </a:pPr>
            <a:r>
              <a:rPr dirty="0" sz="900" spc="-340">
                <a:latin typeface="Arial MT"/>
                <a:cs typeface="Arial MT"/>
              </a:rPr>
              <a:t>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47224" y="2562994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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7966" y="3021736"/>
            <a:ext cx="52590" cy="5259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931722" y="2935113"/>
            <a:ext cx="3319145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07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Step-</a:t>
            </a:r>
            <a:r>
              <a:rPr dirty="0" sz="900" b="1">
                <a:latin typeface="Arial"/>
                <a:cs typeface="Arial"/>
              </a:rPr>
              <a:t>II: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Apply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Backward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Substitution:</a:t>
            </a:r>
            <a:r>
              <a:rPr dirty="0" sz="900" spc="8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obtain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temperature </a:t>
            </a:r>
            <a:r>
              <a:rPr dirty="0" baseline="6172" sz="1350">
                <a:latin typeface="Tahoma"/>
                <a:cs typeface="Tahoma"/>
              </a:rPr>
              <a:t>distribution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>
                <a:latin typeface="Tahoma"/>
                <a:cs typeface="Tahoma"/>
              </a:rPr>
              <a:t>in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>
                <a:latin typeface="Tahoma"/>
                <a:cs typeface="Tahoma"/>
              </a:rPr>
              <a:t>the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 spc="-15">
                <a:latin typeface="Tahoma"/>
                <a:cs typeface="Tahoma"/>
              </a:rPr>
              <a:t>entire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 spc="-30">
                <a:latin typeface="Tahoma"/>
                <a:cs typeface="Tahoma"/>
              </a:rPr>
              <a:t>domain,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 spc="-15">
                <a:latin typeface="Tahoma"/>
                <a:cs typeface="Tahoma"/>
              </a:rPr>
              <a:t>i.e.,</a:t>
            </a:r>
            <a:r>
              <a:rPr dirty="0" baseline="6172" sz="1350" spc="22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5</a:t>
            </a:r>
            <a:r>
              <a:rPr dirty="0" baseline="6172" sz="1350">
                <a:latin typeface="Tahoma"/>
                <a:cs typeface="Tahoma"/>
              </a:rPr>
              <a:t>,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4</a:t>
            </a:r>
            <a:r>
              <a:rPr dirty="0" baseline="6172" sz="1350">
                <a:latin typeface="Tahoma"/>
                <a:cs typeface="Tahoma"/>
              </a:rPr>
              <a:t>,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3</a:t>
            </a:r>
            <a:r>
              <a:rPr dirty="0" baseline="6172" sz="1350">
                <a:latin typeface="Tahoma"/>
                <a:cs typeface="Tahoma"/>
              </a:rPr>
              <a:t>,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2</a:t>
            </a:r>
            <a:r>
              <a:rPr dirty="0" sz="600" spc="160">
                <a:latin typeface="Tahoma"/>
                <a:cs typeface="Tahoma"/>
              </a:rPr>
              <a:t> </a:t>
            </a:r>
            <a:r>
              <a:rPr dirty="0" baseline="6172" sz="1350">
                <a:latin typeface="Tahoma"/>
                <a:cs typeface="Tahoma"/>
              </a:rPr>
              <a:t>and</a:t>
            </a:r>
            <a:r>
              <a:rPr dirty="0" baseline="6172" sz="1350" spc="30">
                <a:latin typeface="Tahoma"/>
                <a:cs typeface="Tahoma"/>
              </a:rPr>
              <a:t> </a:t>
            </a:r>
            <a:r>
              <a:rPr dirty="0" baseline="6172" sz="1350" spc="-37" i="1">
                <a:latin typeface="Arial"/>
                <a:cs typeface="Arial"/>
              </a:rPr>
              <a:t>T</a:t>
            </a:r>
            <a:r>
              <a:rPr dirty="0" sz="600" spc="-25">
                <a:latin typeface="Tahoma"/>
                <a:cs typeface="Tahoma"/>
              </a:rPr>
              <a:t>1</a:t>
            </a:r>
            <a:r>
              <a:rPr dirty="0" baseline="6172" sz="1350" spc="-37">
                <a:latin typeface="Tahoma"/>
                <a:cs typeface="Tahoma"/>
              </a:rPr>
              <a:t>.</a:t>
            </a:r>
            <a:endParaRPr baseline="6172" sz="135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17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Ex-</a:t>
            </a:r>
            <a:r>
              <a:rPr dirty="0"/>
              <a:t>2:</a:t>
            </a:r>
            <a:r>
              <a:rPr dirty="0" spc="114"/>
              <a:t> </a:t>
            </a:r>
            <a:r>
              <a:rPr dirty="0" spc="-25"/>
              <a:t>2-</a:t>
            </a:r>
            <a:r>
              <a:rPr dirty="0"/>
              <a:t>D</a:t>
            </a:r>
            <a:r>
              <a:rPr dirty="0" spc="-20"/>
              <a:t> </a:t>
            </a:r>
            <a:r>
              <a:rPr dirty="0" spc="-60"/>
              <a:t>steady-</a:t>
            </a:r>
            <a:r>
              <a:rPr dirty="0" spc="-20"/>
              <a:t>state</a:t>
            </a:r>
            <a:r>
              <a:rPr dirty="0" spc="-25"/>
              <a:t> </a:t>
            </a:r>
            <a:r>
              <a:rPr dirty="0" spc="-35"/>
              <a:t>heat</a:t>
            </a:r>
            <a:r>
              <a:rPr dirty="0" spc="-20"/>
              <a:t> </a:t>
            </a:r>
            <a:r>
              <a:rPr dirty="0" spc="-35"/>
              <a:t>conduction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 spc="-50"/>
              <a:t>plane</a:t>
            </a:r>
            <a:r>
              <a:rPr dirty="0" spc="-20"/>
              <a:t> 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77418"/>
            <a:ext cx="65265" cy="652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22247" y="969663"/>
            <a:ext cx="2055495" cy="1515745"/>
            <a:chOff x="1422247" y="969663"/>
            <a:chExt cx="2055495" cy="1515745"/>
          </a:xfrm>
        </p:grpSpPr>
        <p:sp>
          <p:nvSpPr>
            <p:cNvPr id="6" name="object 6"/>
            <p:cNvSpPr/>
            <p:nvPr/>
          </p:nvSpPr>
          <p:spPr>
            <a:xfrm>
              <a:off x="1452613" y="1374668"/>
              <a:ext cx="2016125" cy="1080135"/>
            </a:xfrm>
            <a:custGeom>
              <a:avLst/>
              <a:gdLst/>
              <a:ahLst/>
              <a:cxnLst/>
              <a:rect l="l" t="t" r="r" b="b"/>
              <a:pathLst>
                <a:path w="2016125" h="1080135">
                  <a:moveTo>
                    <a:pt x="0" y="1080013"/>
                  </a:moveTo>
                  <a:lnTo>
                    <a:pt x="0" y="0"/>
                  </a:lnTo>
                  <a:lnTo>
                    <a:pt x="1620019" y="0"/>
                  </a:lnTo>
                  <a:lnTo>
                    <a:pt x="1620019" y="1080013"/>
                  </a:lnTo>
                  <a:lnTo>
                    <a:pt x="0" y="1080013"/>
                  </a:lnTo>
                  <a:close/>
                </a:path>
                <a:path w="2016125" h="1080135">
                  <a:moveTo>
                    <a:pt x="0" y="1080013"/>
                  </a:moveTo>
                  <a:lnTo>
                    <a:pt x="2016041" y="1080013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448917" y="2428364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52613" y="978646"/>
              <a:ext cx="0" cy="1476375"/>
            </a:xfrm>
            <a:custGeom>
              <a:avLst/>
              <a:gdLst/>
              <a:ahLst/>
              <a:cxnLst/>
              <a:rect l="l" t="t" r="r" b="b"/>
              <a:pathLst>
                <a:path w="0" h="1476375">
                  <a:moveTo>
                    <a:pt x="0" y="147603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26296" y="97371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5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75135" y="1380488"/>
              <a:ext cx="0" cy="1068705"/>
            </a:xfrm>
            <a:custGeom>
              <a:avLst/>
              <a:gdLst/>
              <a:ahLst/>
              <a:cxnLst/>
              <a:rect l="l" t="t" r="r" b="b"/>
              <a:pathLst>
                <a:path w="0" h="1068705">
                  <a:moveTo>
                    <a:pt x="0" y="1068373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54891" y="243367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54891" y="1376692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516147" y="2334220"/>
            <a:ext cx="8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52613" y="2634915"/>
            <a:ext cx="1620520" cy="45085"/>
            <a:chOff x="1452613" y="2634915"/>
            <a:chExt cx="1620520" cy="45085"/>
          </a:xfrm>
        </p:grpSpPr>
        <p:sp>
          <p:nvSpPr>
            <p:cNvPr id="15" name="object 15"/>
            <p:cNvSpPr/>
            <p:nvPr/>
          </p:nvSpPr>
          <p:spPr>
            <a:xfrm>
              <a:off x="1458433" y="2657183"/>
              <a:ext cx="1608455" cy="0"/>
            </a:xfrm>
            <a:custGeom>
              <a:avLst/>
              <a:gdLst/>
              <a:ahLst/>
              <a:cxnLst/>
              <a:rect l="l" t="t" r="r" b="b"/>
              <a:pathLst>
                <a:path w="1608455" h="0">
                  <a:moveTo>
                    <a:pt x="0" y="0"/>
                  </a:moveTo>
                  <a:lnTo>
                    <a:pt x="160837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54637" y="263693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51630" y="263693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67461" y="1815933"/>
            <a:ext cx="774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89" i="1">
                <a:latin typeface="Arial"/>
                <a:cs typeface="Arial"/>
              </a:rPr>
              <a:t>T</a:t>
            </a:r>
            <a:r>
              <a:rPr dirty="0" baseline="7575" sz="1650" spc="-225" i="1">
                <a:latin typeface="Arial"/>
                <a:cs typeface="Arial"/>
              </a:rPr>
              <a:t> </a:t>
            </a:r>
            <a:r>
              <a:rPr dirty="0" baseline="7575" sz="1650" spc="-104">
                <a:latin typeface="Lucida Sans Unicode"/>
                <a:cs typeface="Lucida Sans Unicode"/>
              </a:rPr>
              <a:t>|</a:t>
            </a:r>
            <a:r>
              <a:rPr dirty="0" sz="800" spc="-70" i="1">
                <a:latin typeface="Arial"/>
                <a:cs typeface="Arial"/>
              </a:rPr>
              <a:t>x</a:t>
            </a:r>
            <a:r>
              <a:rPr dirty="0" sz="800" spc="-140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=0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y</a:t>
            </a:r>
            <a:r>
              <a:rPr dirty="0" sz="800" spc="260" i="1">
                <a:latin typeface="Arial"/>
                <a:cs typeface="Arial"/>
              </a:rPr>
              <a:t> </a:t>
            </a:r>
            <a:r>
              <a:rPr dirty="0" baseline="7575" sz="1650">
                <a:latin typeface="Tahoma"/>
                <a:cs typeface="Tahoma"/>
              </a:rPr>
              <a:t>=</a:t>
            </a:r>
            <a:r>
              <a:rPr dirty="0" baseline="7575" sz="1650" spc="-15">
                <a:latin typeface="Tahoma"/>
                <a:cs typeface="Tahoma"/>
              </a:rPr>
              <a:t> </a:t>
            </a:r>
            <a:r>
              <a:rPr dirty="0" baseline="7575" sz="1650" spc="-75">
                <a:latin typeface="Tahoma"/>
                <a:cs typeface="Tahoma"/>
              </a:rPr>
              <a:t>0</a:t>
            </a:r>
            <a:endParaRPr baseline="7575" sz="16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78962" y="1816835"/>
            <a:ext cx="11455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11785" algn="l"/>
              </a:tabLst>
            </a:pPr>
            <a:r>
              <a:rPr dirty="0" baseline="2525" sz="1650" spc="-75" i="1">
                <a:latin typeface="Arial"/>
                <a:cs typeface="Arial"/>
              </a:rPr>
              <a:t>H</a:t>
            </a:r>
            <a:r>
              <a:rPr dirty="0" baseline="2525" sz="1650" i="1">
                <a:latin typeface="Arial"/>
                <a:cs typeface="Arial"/>
              </a:rPr>
              <a:t>	</a:t>
            </a:r>
            <a:r>
              <a:rPr dirty="0" baseline="10101" sz="1650" spc="89" i="1">
                <a:latin typeface="Arial"/>
                <a:cs typeface="Arial"/>
              </a:rPr>
              <a:t>T</a:t>
            </a:r>
            <a:r>
              <a:rPr dirty="0" baseline="10101" sz="1650" spc="-217" i="1">
                <a:latin typeface="Arial"/>
                <a:cs typeface="Arial"/>
              </a:rPr>
              <a:t> </a:t>
            </a:r>
            <a:r>
              <a:rPr dirty="0" baseline="10101" sz="1650" spc="-104">
                <a:latin typeface="Lucida Sans Unicode"/>
                <a:cs typeface="Lucida Sans Unicode"/>
              </a:rPr>
              <a:t>|</a:t>
            </a:r>
            <a:r>
              <a:rPr dirty="0" sz="800" spc="-70" i="1">
                <a:latin typeface="Arial"/>
                <a:cs typeface="Arial"/>
              </a:rPr>
              <a:t>x</a:t>
            </a:r>
            <a:r>
              <a:rPr dirty="0" sz="800" spc="-140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=</a:t>
            </a:r>
            <a:r>
              <a:rPr dirty="0" sz="800" i="1">
                <a:latin typeface="Arial"/>
                <a:cs typeface="Arial"/>
              </a:rPr>
              <a:t>L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y</a:t>
            </a:r>
            <a:r>
              <a:rPr dirty="0" sz="800" spc="275" i="1">
                <a:latin typeface="Arial"/>
                <a:cs typeface="Arial"/>
              </a:rPr>
              <a:t> </a:t>
            </a:r>
            <a:r>
              <a:rPr dirty="0" baseline="10101" sz="1650">
                <a:latin typeface="Tahoma"/>
                <a:cs typeface="Tahoma"/>
              </a:rPr>
              <a:t>= </a:t>
            </a:r>
            <a:r>
              <a:rPr dirty="0" baseline="10101" sz="1650" spc="-37" i="1">
                <a:latin typeface="Arial"/>
                <a:cs typeface="Arial"/>
              </a:rPr>
              <a:t>T</a:t>
            </a:r>
            <a:r>
              <a:rPr dirty="0" sz="800" spc="-25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9662" y="2442970"/>
            <a:ext cx="789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22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97633" y="2428364"/>
            <a:ext cx="1296035" cy="4159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315"/>
              </a:spcBef>
              <a:tabLst>
                <a:tab pos="920750" algn="l"/>
              </a:tabLst>
            </a:pPr>
            <a:r>
              <a:rPr dirty="0" sz="1100" spc="-50" i="1">
                <a:latin typeface="Arial"/>
                <a:cs typeface="Arial"/>
              </a:rPr>
              <a:t>L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baseline="2525" sz="1650" i="1">
                <a:latin typeface="Arial"/>
                <a:cs typeface="Arial"/>
              </a:rPr>
              <a:t>x</a:t>
            </a:r>
            <a:r>
              <a:rPr dirty="0" baseline="2525" sz="1650" spc="127" i="1">
                <a:latin typeface="Arial"/>
                <a:cs typeface="Arial"/>
              </a:rPr>
              <a:t> </a:t>
            </a:r>
            <a:r>
              <a:rPr dirty="0" baseline="2525" sz="1650">
                <a:latin typeface="Tahoma"/>
                <a:cs typeface="Tahoma"/>
              </a:rPr>
              <a:t>=</a:t>
            </a:r>
            <a:r>
              <a:rPr dirty="0" baseline="2525" sz="1650" spc="-60">
                <a:latin typeface="Tahoma"/>
                <a:cs typeface="Tahoma"/>
              </a:rPr>
              <a:t> </a:t>
            </a:r>
            <a:r>
              <a:rPr dirty="0" baseline="2525" sz="1650" spc="-75" i="1">
                <a:latin typeface="Arial"/>
                <a:cs typeface="Arial"/>
              </a:rPr>
              <a:t>L</a:t>
            </a:r>
            <a:endParaRPr baseline="2525" sz="16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19"/>
              </a:spcBef>
            </a:pPr>
            <a:r>
              <a:rPr dirty="0" baseline="7575" sz="1650" spc="89" i="1">
                <a:latin typeface="Arial"/>
                <a:cs typeface="Arial"/>
              </a:rPr>
              <a:t>T</a:t>
            </a:r>
            <a:r>
              <a:rPr dirty="0" baseline="7575" sz="1650" spc="-217" i="1">
                <a:latin typeface="Arial"/>
                <a:cs typeface="Arial"/>
              </a:rPr>
              <a:t> </a:t>
            </a:r>
            <a:r>
              <a:rPr dirty="0" baseline="7575" sz="1650" spc="-37">
                <a:latin typeface="Lucida Sans Unicode"/>
                <a:cs typeface="Lucida Sans Unicode"/>
              </a:rPr>
              <a:t>|</a:t>
            </a: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=0</a:t>
            </a:r>
            <a:r>
              <a:rPr dirty="0" sz="800" spc="145">
                <a:latin typeface="Tahoma"/>
                <a:cs typeface="Tahoma"/>
              </a:rPr>
              <a:t> </a:t>
            </a:r>
            <a:r>
              <a:rPr dirty="0" baseline="7575" sz="1650">
                <a:latin typeface="Tahoma"/>
                <a:cs typeface="Tahoma"/>
              </a:rPr>
              <a:t>=</a:t>
            </a:r>
            <a:r>
              <a:rPr dirty="0" baseline="7575" sz="1650" spc="7">
                <a:latin typeface="Tahoma"/>
                <a:cs typeface="Tahoma"/>
              </a:rPr>
              <a:t> </a:t>
            </a:r>
            <a:r>
              <a:rPr dirty="0" baseline="7575" sz="1650" spc="-75">
                <a:latin typeface="Tahoma"/>
                <a:cs typeface="Tahoma"/>
              </a:rPr>
              <a:t>0</a:t>
            </a:r>
            <a:endParaRPr baseline="7575" sz="16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7532" y="393965"/>
            <a:ext cx="4122420" cy="10807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20">
                <a:latin typeface="Tahoma"/>
                <a:cs typeface="Tahoma"/>
              </a:rPr>
              <a:t> 2-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steady-</a:t>
            </a:r>
            <a:r>
              <a:rPr dirty="0" sz="1100" spc="-25">
                <a:latin typeface="Tahoma"/>
                <a:cs typeface="Tahoma"/>
              </a:rPr>
              <a:t>state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heat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conduction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rectangular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plane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slab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dimensions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 i="1">
                <a:latin typeface="Arial"/>
                <a:cs typeface="Arial"/>
              </a:rPr>
              <a:t>L</a:t>
            </a:r>
            <a:r>
              <a:rPr dirty="0" sz="1100" spc="-65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sz="1100" spc="9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25">
                <a:latin typeface="Tahoma"/>
                <a:cs typeface="Tahoma"/>
              </a:rPr>
              <a:t> constant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thermal</a:t>
            </a:r>
            <a:r>
              <a:rPr dirty="0" sz="1100" spc="-25">
                <a:latin typeface="Tahoma"/>
                <a:cs typeface="Tahoma"/>
              </a:rPr>
              <a:t> conductivity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035050">
              <a:lnSpc>
                <a:spcPct val="100000"/>
              </a:lnSpc>
              <a:spcBef>
                <a:spcPts val="50"/>
              </a:spcBef>
            </a:pPr>
            <a:r>
              <a:rPr dirty="0" sz="1100" spc="-50" i="1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00">
              <a:latin typeface="Arial"/>
              <a:cs typeface="Arial"/>
            </a:endParaRPr>
          </a:p>
          <a:p>
            <a:pPr algn="ctr" marR="80010">
              <a:lnSpc>
                <a:spcPts val="1165"/>
              </a:lnSpc>
            </a:pPr>
            <a:r>
              <a:rPr dirty="0" baseline="10101" sz="1650" spc="89" i="1">
                <a:latin typeface="Arial"/>
                <a:cs typeface="Arial"/>
              </a:rPr>
              <a:t>T</a:t>
            </a:r>
            <a:r>
              <a:rPr dirty="0" baseline="10101" sz="1650" spc="-209" i="1">
                <a:latin typeface="Arial"/>
                <a:cs typeface="Arial"/>
              </a:rPr>
              <a:t> </a:t>
            </a:r>
            <a:r>
              <a:rPr dirty="0" baseline="10101" sz="1650" spc="-37">
                <a:latin typeface="Lucida Sans Unicode"/>
                <a:cs typeface="Lucida Sans Unicode"/>
              </a:rPr>
              <a:t>|</a:t>
            </a: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=</a:t>
            </a:r>
            <a:r>
              <a:rPr dirty="0" sz="800" i="1">
                <a:latin typeface="Arial"/>
                <a:cs typeface="Arial"/>
              </a:rPr>
              <a:t>H</a:t>
            </a:r>
            <a:r>
              <a:rPr dirty="0" sz="800" spc="265" i="1">
                <a:latin typeface="Arial"/>
                <a:cs typeface="Arial"/>
              </a:rPr>
              <a:t> </a:t>
            </a:r>
            <a:r>
              <a:rPr dirty="0" baseline="10101" sz="1650">
                <a:latin typeface="Tahoma"/>
                <a:cs typeface="Tahoma"/>
              </a:rPr>
              <a:t>=</a:t>
            </a:r>
            <a:r>
              <a:rPr dirty="0" baseline="10101" sz="1650" spc="15">
                <a:latin typeface="Tahoma"/>
                <a:cs typeface="Tahoma"/>
              </a:rPr>
              <a:t> </a:t>
            </a:r>
            <a:r>
              <a:rPr dirty="0" baseline="10101" sz="1650" spc="-37" i="1">
                <a:latin typeface="Arial"/>
                <a:cs typeface="Arial"/>
              </a:rPr>
              <a:t>T</a:t>
            </a:r>
            <a:r>
              <a:rPr dirty="0" sz="800" spc="-25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  <a:p>
            <a:pPr marL="652780">
              <a:lnSpc>
                <a:spcPts val="1165"/>
              </a:lnSpc>
            </a:pP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H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953232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77532" y="2841394"/>
            <a:ext cx="4005579" cy="41529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slab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subjected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physical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boundary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conditions:</a:t>
            </a:r>
            <a:r>
              <a:rPr dirty="0" sz="1100" spc="9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60" i="1">
                <a:latin typeface="Arial"/>
                <a:cs typeface="Arial"/>
              </a:rPr>
              <a:t> </a:t>
            </a:r>
            <a:r>
              <a:rPr dirty="0" sz="1100" spc="-70">
                <a:latin typeface="Lucida Sans Unicode"/>
                <a:cs typeface="Lucida Sans Unicode"/>
              </a:rPr>
              <a:t>|</a:t>
            </a:r>
            <a:r>
              <a:rPr dirty="0" baseline="-10416" sz="1200" spc="-104" i="1">
                <a:latin typeface="Arial"/>
                <a:cs typeface="Arial"/>
              </a:rPr>
              <a:t>x</a:t>
            </a:r>
            <a:r>
              <a:rPr dirty="0" baseline="-10416" sz="1200" spc="-225" i="1">
                <a:latin typeface="Arial"/>
                <a:cs typeface="Arial"/>
              </a:rPr>
              <a:t> 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i="1">
                <a:latin typeface="Sitka Text"/>
                <a:cs typeface="Sitka Text"/>
              </a:rPr>
              <a:t>,</a:t>
            </a:r>
            <a:r>
              <a:rPr dirty="0" baseline="-10416" sz="1200" i="1">
                <a:latin typeface="Arial"/>
                <a:cs typeface="Arial"/>
              </a:rPr>
              <a:t>y</a:t>
            </a:r>
            <a:r>
              <a:rPr dirty="0" baseline="-10416" sz="1200" spc="2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0,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10"/>
              </a:spcBef>
            </a:pPr>
            <a:r>
              <a:rPr dirty="0" baseline="10101" sz="1650" spc="89" i="1">
                <a:latin typeface="Arial"/>
                <a:cs typeface="Arial"/>
              </a:rPr>
              <a:t>T</a:t>
            </a:r>
            <a:r>
              <a:rPr dirty="0" baseline="10101" sz="1650" spc="-225" i="1">
                <a:latin typeface="Arial"/>
                <a:cs typeface="Arial"/>
              </a:rPr>
              <a:t> </a:t>
            </a:r>
            <a:r>
              <a:rPr dirty="0" baseline="10101" sz="1650" spc="-104">
                <a:latin typeface="Lucida Sans Unicode"/>
                <a:cs typeface="Lucida Sans Unicode"/>
              </a:rPr>
              <a:t>|</a:t>
            </a:r>
            <a:r>
              <a:rPr dirty="0" sz="800" spc="-70" i="1">
                <a:latin typeface="Arial"/>
                <a:cs typeface="Arial"/>
              </a:rPr>
              <a:t>x</a:t>
            </a:r>
            <a:r>
              <a:rPr dirty="0" sz="800" spc="-145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=</a:t>
            </a:r>
            <a:r>
              <a:rPr dirty="0" sz="800" i="1">
                <a:latin typeface="Arial"/>
                <a:cs typeface="Arial"/>
              </a:rPr>
              <a:t>L</a:t>
            </a:r>
            <a:r>
              <a:rPr dirty="0" sz="800" i="1">
                <a:latin typeface="Sitka Text"/>
                <a:cs typeface="Sitka Text"/>
              </a:rPr>
              <a:t>,</a:t>
            </a:r>
            <a:r>
              <a:rPr dirty="0" sz="800" i="1">
                <a:latin typeface="Arial"/>
                <a:cs typeface="Arial"/>
              </a:rPr>
              <a:t>y</a:t>
            </a:r>
            <a:r>
              <a:rPr dirty="0" sz="800" spc="260" i="1">
                <a:latin typeface="Arial"/>
                <a:cs typeface="Arial"/>
              </a:rPr>
              <a:t> </a:t>
            </a:r>
            <a:r>
              <a:rPr dirty="0" baseline="10101" sz="1650">
                <a:latin typeface="Tahoma"/>
                <a:cs typeface="Tahoma"/>
              </a:rPr>
              <a:t>=</a:t>
            </a:r>
            <a:r>
              <a:rPr dirty="0" baseline="10101" sz="1650" spc="-22">
                <a:latin typeface="Tahoma"/>
                <a:cs typeface="Tahoma"/>
              </a:rPr>
              <a:t> </a:t>
            </a:r>
            <a:r>
              <a:rPr dirty="0" baseline="10101" sz="1650" i="1">
                <a:latin typeface="Arial"/>
                <a:cs typeface="Arial"/>
              </a:rPr>
              <a:t>T</a:t>
            </a:r>
            <a:r>
              <a:rPr dirty="0" sz="800">
                <a:latin typeface="Tahoma"/>
                <a:cs typeface="Tahoma"/>
              </a:rPr>
              <a:t>1</a:t>
            </a:r>
            <a:r>
              <a:rPr dirty="0" baseline="10101" sz="1650">
                <a:latin typeface="Tahoma"/>
                <a:cs typeface="Tahoma"/>
              </a:rPr>
              <a:t>,</a:t>
            </a:r>
            <a:r>
              <a:rPr dirty="0" baseline="10101" sz="1650" spc="82">
                <a:latin typeface="Tahoma"/>
                <a:cs typeface="Tahoma"/>
              </a:rPr>
              <a:t> </a:t>
            </a:r>
            <a:r>
              <a:rPr dirty="0" baseline="10101" sz="1650" spc="89" i="1">
                <a:latin typeface="Arial"/>
                <a:cs typeface="Arial"/>
              </a:rPr>
              <a:t>T</a:t>
            </a:r>
            <a:r>
              <a:rPr dirty="0" baseline="10101" sz="1650" spc="-225" i="1">
                <a:latin typeface="Arial"/>
                <a:cs typeface="Arial"/>
              </a:rPr>
              <a:t> </a:t>
            </a:r>
            <a:r>
              <a:rPr dirty="0" baseline="10101" sz="1650" spc="-37">
                <a:latin typeface="Lucida Sans Unicode"/>
                <a:cs typeface="Lucida Sans Unicode"/>
              </a:rPr>
              <a:t>|</a:t>
            </a: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r>
              <a:rPr dirty="0" sz="800" spc="-125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=0</a:t>
            </a:r>
            <a:r>
              <a:rPr dirty="0" sz="800" spc="130">
                <a:latin typeface="Tahoma"/>
                <a:cs typeface="Tahoma"/>
              </a:rPr>
              <a:t> </a:t>
            </a:r>
            <a:r>
              <a:rPr dirty="0" baseline="10101" sz="1650">
                <a:latin typeface="Tahoma"/>
                <a:cs typeface="Tahoma"/>
              </a:rPr>
              <a:t>=</a:t>
            </a:r>
            <a:r>
              <a:rPr dirty="0" baseline="10101" sz="1650" spc="-22">
                <a:latin typeface="Tahoma"/>
                <a:cs typeface="Tahoma"/>
              </a:rPr>
              <a:t> </a:t>
            </a:r>
            <a:r>
              <a:rPr dirty="0" baseline="10101" sz="1650">
                <a:latin typeface="Tahoma"/>
                <a:cs typeface="Tahoma"/>
              </a:rPr>
              <a:t>0</a:t>
            </a:r>
            <a:r>
              <a:rPr dirty="0" baseline="10101" sz="1650" spc="67">
                <a:latin typeface="Tahoma"/>
                <a:cs typeface="Tahoma"/>
              </a:rPr>
              <a:t> </a:t>
            </a:r>
            <a:r>
              <a:rPr dirty="0" baseline="10101" sz="1650" spc="-52">
                <a:latin typeface="Tahoma"/>
                <a:cs typeface="Tahoma"/>
              </a:rPr>
              <a:t>and</a:t>
            </a:r>
            <a:r>
              <a:rPr dirty="0" baseline="10101" sz="1650" spc="82">
                <a:latin typeface="Tahoma"/>
                <a:cs typeface="Tahoma"/>
              </a:rPr>
              <a:t> </a:t>
            </a:r>
            <a:r>
              <a:rPr dirty="0" baseline="10101" sz="1650" spc="89" i="1">
                <a:latin typeface="Arial"/>
                <a:cs typeface="Arial"/>
              </a:rPr>
              <a:t>T</a:t>
            </a:r>
            <a:r>
              <a:rPr dirty="0" baseline="10101" sz="1650" spc="-225" i="1">
                <a:latin typeface="Arial"/>
                <a:cs typeface="Arial"/>
              </a:rPr>
              <a:t> </a:t>
            </a:r>
            <a:r>
              <a:rPr dirty="0" baseline="10101" sz="1650" spc="-37">
                <a:latin typeface="Lucida Sans Unicode"/>
                <a:cs typeface="Lucida Sans Unicode"/>
              </a:rPr>
              <a:t>|</a:t>
            </a:r>
            <a:r>
              <a:rPr dirty="0" sz="800" spc="-25" i="1">
                <a:latin typeface="Arial"/>
                <a:cs typeface="Arial"/>
              </a:rPr>
              <a:t>x</a:t>
            </a:r>
            <a:r>
              <a:rPr dirty="0" sz="800" spc="-25" i="1">
                <a:latin typeface="Sitka Text"/>
                <a:cs typeface="Sitka Text"/>
              </a:rPr>
              <a:t>,</a:t>
            </a:r>
            <a:r>
              <a:rPr dirty="0" sz="800" spc="-25" i="1">
                <a:latin typeface="Arial"/>
                <a:cs typeface="Arial"/>
              </a:rPr>
              <a:t>y</a:t>
            </a:r>
            <a:r>
              <a:rPr dirty="0" sz="800" spc="-125" i="1">
                <a:latin typeface="Arial"/>
                <a:cs typeface="Arial"/>
              </a:rPr>
              <a:t> </a:t>
            </a:r>
            <a:r>
              <a:rPr dirty="0" sz="800">
                <a:latin typeface="Tahoma"/>
                <a:cs typeface="Tahoma"/>
              </a:rPr>
              <a:t>=</a:t>
            </a:r>
            <a:r>
              <a:rPr dirty="0" sz="800" i="1">
                <a:latin typeface="Arial"/>
                <a:cs typeface="Arial"/>
              </a:rPr>
              <a:t>H</a:t>
            </a:r>
            <a:r>
              <a:rPr dirty="0" sz="800" spc="229" i="1">
                <a:latin typeface="Arial"/>
                <a:cs typeface="Arial"/>
              </a:rPr>
              <a:t> </a:t>
            </a:r>
            <a:r>
              <a:rPr dirty="0" baseline="10101" sz="1650">
                <a:latin typeface="Tahoma"/>
                <a:cs typeface="Tahoma"/>
              </a:rPr>
              <a:t>=</a:t>
            </a:r>
            <a:r>
              <a:rPr dirty="0" baseline="10101" sz="1650" spc="-22">
                <a:latin typeface="Tahoma"/>
                <a:cs typeface="Tahoma"/>
              </a:rPr>
              <a:t> </a:t>
            </a:r>
            <a:r>
              <a:rPr dirty="0" baseline="10101" sz="1650" spc="-37" i="1">
                <a:latin typeface="Arial"/>
                <a:cs typeface="Arial"/>
              </a:rPr>
              <a:t>T</a:t>
            </a:r>
            <a:r>
              <a:rPr dirty="0" sz="800" spc="-25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21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36181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 spc="-25"/>
              <a:t>2-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35"/>
              <a:t> </a:t>
            </a:r>
            <a:r>
              <a:rPr dirty="0" spc="-25"/>
              <a:t>heat</a:t>
            </a:r>
            <a:r>
              <a:rPr dirty="0" spc="-35"/>
              <a:t> conduction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50"/>
              <a:t>plane</a:t>
            </a:r>
            <a:r>
              <a:rPr dirty="0" spc="-40"/>
              <a:t> </a:t>
            </a:r>
            <a:r>
              <a:rPr dirty="0" spc="-20"/>
              <a:t>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8421"/>
            <a:ext cx="65265" cy="652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64042" y="675932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 h="0">
                <a:moveTo>
                  <a:pt x="0" y="0"/>
                </a:moveTo>
                <a:lnTo>
                  <a:pt x="14414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60168" y="675932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22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71598" y="675932"/>
            <a:ext cx="146685" cy="0"/>
          </a:xfrm>
          <a:custGeom>
            <a:avLst/>
            <a:gdLst/>
            <a:ahLst/>
            <a:cxnLst/>
            <a:rect l="l" t="t" r="r" b="b"/>
            <a:pathLst>
              <a:path w="146685" h="0">
                <a:moveTo>
                  <a:pt x="0" y="0"/>
                </a:moveTo>
                <a:lnTo>
                  <a:pt x="14625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69832" y="675932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22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81273" y="675932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28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73526" y="675932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22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7532" y="344968"/>
            <a:ext cx="3610610" cy="4876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205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Develop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Governing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</a:t>
            </a:r>
            <a:endParaRPr sz="1100">
              <a:latin typeface="Tahoma"/>
              <a:cs typeface="Tahoma"/>
            </a:endParaRPr>
          </a:p>
          <a:p>
            <a:pPr marL="585470">
              <a:lnSpc>
                <a:spcPts val="1085"/>
              </a:lnSpc>
            </a:pPr>
            <a:r>
              <a:rPr dirty="0" u="sng" sz="10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 </a:t>
            </a:r>
            <a:r>
              <a:rPr dirty="0" u="sng" sz="1000" spc="-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sz="1000" spc="-3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ρ</a:t>
            </a:r>
            <a:r>
              <a:rPr dirty="0" u="sng" sz="1000" spc="-3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dirty="0" u="sng" baseline="-11904" sz="1050" spc="-5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-11904" sz="1050" spc="-17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000" spc="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1000" spc="-1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=</a:t>
            </a:r>
            <a:r>
              <a:rPr dirty="0" baseline="-36111" sz="1500" spc="562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∂</a:t>
            </a:r>
            <a:r>
              <a:rPr dirty="0" sz="1000" spc="229" i="1">
                <a:latin typeface="Calibri"/>
                <a:cs typeface="Calibri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(</a:t>
            </a:r>
            <a:r>
              <a:rPr dirty="0" baseline="-36111" sz="1500" spc="-15" i="1">
                <a:latin typeface="Arial"/>
                <a:cs typeface="Arial"/>
              </a:rPr>
              <a:t>k</a:t>
            </a:r>
            <a:r>
              <a:rPr dirty="0" baseline="-36111" sz="1500" spc="-97" i="1">
                <a:latin typeface="Arial"/>
                <a:cs typeface="Arial"/>
              </a:rPr>
              <a:t> </a:t>
            </a:r>
            <a:r>
              <a:rPr dirty="0" sz="1000" spc="50" i="1">
                <a:latin typeface="Calibri"/>
                <a:cs typeface="Calibri"/>
              </a:rPr>
              <a:t>∂</a:t>
            </a:r>
            <a:r>
              <a:rPr dirty="0" sz="1000" spc="50" i="1">
                <a:latin typeface="Arial"/>
                <a:cs typeface="Arial"/>
              </a:rPr>
              <a:t>T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)</a:t>
            </a:r>
            <a:r>
              <a:rPr dirty="0" baseline="-36111" sz="1500" spc="-127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+</a:t>
            </a:r>
            <a:r>
              <a:rPr dirty="0" baseline="-36111" sz="1500" spc="494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∂</a:t>
            </a:r>
            <a:r>
              <a:rPr dirty="0" sz="1000" spc="245" i="1">
                <a:latin typeface="Calibri"/>
                <a:cs typeface="Calibri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(</a:t>
            </a:r>
            <a:r>
              <a:rPr dirty="0" baseline="-36111" sz="1500" spc="-15" i="1">
                <a:latin typeface="Arial"/>
                <a:cs typeface="Arial"/>
              </a:rPr>
              <a:t>k</a:t>
            </a:r>
            <a:r>
              <a:rPr dirty="0" baseline="-36111" sz="1500" spc="-104" i="1">
                <a:latin typeface="Arial"/>
                <a:cs typeface="Arial"/>
              </a:rPr>
              <a:t> </a:t>
            </a:r>
            <a:r>
              <a:rPr dirty="0" sz="1000" spc="50" i="1">
                <a:latin typeface="Calibri"/>
                <a:cs typeface="Calibri"/>
              </a:rPr>
              <a:t>∂</a:t>
            </a:r>
            <a:r>
              <a:rPr dirty="0" sz="1000" spc="50" i="1">
                <a:latin typeface="Arial"/>
                <a:cs typeface="Arial"/>
              </a:rPr>
              <a:t>T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)</a:t>
            </a:r>
            <a:r>
              <a:rPr dirty="0" baseline="-36111" sz="1500" spc="-127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+</a:t>
            </a:r>
            <a:r>
              <a:rPr dirty="0" baseline="-36111" sz="1500" spc="457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∂</a:t>
            </a:r>
            <a:r>
              <a:rPr dirty="0" sz="1000" spc="215" i="1">
                <a:latin typeface="Calibri"/>
                <a:cs typeface="Calibri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(</a:t>
            </a:r>
            <a:r>
              <a:rPr dirty="0" baseline="-36111" sz="1500" spc="-15" i="1">
                <a:latin typeface="Arial"/>
                <a:cs typeface="Arial"/>
              </a:rPr>
              <a:t>k</a:t>
            </a:r>
            <a:r>
              <a:rPr dirty="0" baseline="-36111" sz="1500" spc="-104" i="1">
                <a:latin typeface="Arial"/>
                <a:cs typeface="Arial"/>
              </a:rPr>
              <a:t> </a:t>
            </a:r>
            <a:r>
              <a:rPr dirty="0" sz="1000" spc="50" i="1">
                <a:latin typeface="Calibri"/>
                <a:cs typeface="Calibri"/>
              </a:rPr>
              <a:t>∂</a:t>
            </a:r>
            <a:r>
              <a:rPr dirty="0" sz="1000" spc="50" i="1">
                <a:latin typeface="Arial"/>
                <a:cs typeface="Arial"/>
              </a:rPr>
              <a:t>T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baseline="-36111" sz="1500" spc="-15">
                <a:latin typeface="Tahoma"/>
                <a:cs typeface="Tahoma"/>
              </a:rPr>
              <a:t>)</a:t>
            </a:r>
            <a:r>
              <a:rPr dirty="0" baseline="-36111" sz="1500" spc="-135">
                <a:latin typeface="Tahoma"/>
                <a:cs typeface="Tahoma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+</a:t>
            </a:r>
            <a:r>
              <a:rPr dirty="0" baseline="-36111" sz="1500" spc="-127">
                <a:latin typeface="Tahoma"/>
                <a:cs typeface="Tahoma"/>
              </a:rPr>
              <a:t> </a:t>
            </a:r>
            <a:r>
              <a:rPr dirty="0" baseline="-36111" sz="1500" spc="-517" i="1">
                <a:latin typeface="Arial"/>
                <a:cs typeface="Arial"/>
              </a:rPr>
              <a:t>q</a:t>
            </a:r>
            <a:r>
              <a:rPr dirty="0" baseline="-36111" sz="1500" spc="-517">
                <a:latin typeface="Tahoma"/>
                <a:cs typeface="Tahoma"/>
              </a:rPr>
              <a:t>˙</a:t>
            </a:r>
            <a:r>
              <a:rPr dirty="0" baseline="-36111" sz="1500" spc="-262">
                <a:latin typeface="Tahoma"/>
                <a:cs typeface="Tahoma"/>
              </a:rPr>
              <a:t> </a:t>
            </a:r>
            <a:r>
              <a:rPr dirty="0" baseline="5555" sz="750" spc="82" i="1">
                <a:latin typeface="Verdana"/>
                <a:cs typeface="Verdana"/>
              </a:rPr>
              <a:t>'''</a:t>
            </a:r>
            <a:endParaRPr baseline="5555" sz="750">
              <a:latin typeface="Verdana"/>
              <a:cs typeface="Verdana"/>
            </a:endParaRPr>
          </a:p>
          <a:p>
            <a:pPr marL="772160">
              <a:lnSpc>
                <a:spcPct val="100000"/>
              </a:lnSpc>
              <a:spcBef>
                <a:spcPts val="155"/>
              </a:spcBef>
              <a:tabLst>
                <a:tab pos="1285875" algn="l"/>
                <a:tab pos="1598930" algn="l"/>
                <a:tab pos="1993900" algn="l"/>
                <a:tab pos="2307590" algn="l"/>
                <a:tab pos="2703195" algn="l"/>
                <a:tab pos="3014345" algn="l"/>
              </a:tabLst>
            </a:pPr>
            <a:r>
              <a:rPr dirty="0" sz="1000" spc="35" i="1">
                <a:latin typeface="Calibri"/>
                <a:cs typeface="Calibri"/>
              </a:rPr>
              <a:t>∂</a:t>
            </a:r>
            <a:r>
              <a:rPr dirty="0" sz="1000" spc="3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sz="1000" spc="-25" i="1">
                <a:latin typeface="Arial"/>
                <a:cs typeface="Arial"/>
              </a:rPr>
              <a:t>x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sz="1000" spc="-25" i="1">
                <a:latin typeface="Arial"/>
                <a:cs typeface="Arial"/>
              </a:rPr>
              <a:t>x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sz="1000" spc="-25" i="1">
                <a:latin typeface="Arial"/>
                <a:cs typeface="Arial"/>
              </a:rPr>
              <a:t>y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sz="1000" spc="-25" i="1">
                <a:latin typeface="Arial"/>
                <a:cs typeface="Arial"/>
              </a:rPr>
              <a:t>y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sz="1000" spc="-25" i="1">
                <a:latin typeface="Arial"/>
                <a:cs typeface="Arial"/>
              </a:rPr>
              <a:t>z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sz="1000" spc="-25" i="1">
                <a:latin typeface="Arial"/>
                <a:cs typeface="Arial"/>
              </a:rPr>
              <a:t>z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03450" y="1021308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19070" y="1021308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77532" y="807561"/>
            <a:ext cx="3378200" cy="93662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625600">
              <a:lnSpc>
                <a:spcPct val="100000"/>
              </a:lnSpc>
              <a:spcBef>
                <a:spcPts val="254"/>
              </a:spcBef>
              <a:tabLst>
                <a:tab pos="2040889" algn="l"/>
              </a:tabLst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1642110">
              <a:lnSpc>
                <a:spcPts val="1035"/>
              </a:lnSpc>
              <a:spcBef>
                <a:spcPts val="160"/>
              </a:spcBef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baseline="23809" sz="1050">
                <a:latin typeface="Tahoma"/>
                <a:cs typeface="Tahoma"/>
              </a:rPr>
              <a:t>2</a:t>
            </a:r>
            <a:r>
              <a:rPr dirty="0" baseline="23809" sz="1050" spc="494">
                <a:latin typeface="Tahoma"/>
                <a:cs typeface="Tahoma"/>
              </a:rPr>
              <a:t> </a:t>
            </a:r>
            <a:r>
              <a:rPr dirty="0" baseline="38888" sz="1500">
                <a:latin typeface="Tahoma"/>
                <a:cs typeface="Tahoma"/>
              </a:rPr>
              <a:t>+</a:t>
            </a:r>
            <a:r>
              <a:rPr dirty="0" baseline="38888" sz="1500" spc="254">
                <a:latin typeface="Tahoma"/>
                <a:cs typeface="Tahoma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y</a:t>
            </a:r>
            <a:r>
              <a:rPr dirty="0" sz="1000" spc="-165" i="1">
                <a:latin typeface="Arial"/>
                <a:cs typeface="Arial"/>
              </a:rPr>
              <a:t> </a:t>
            </a:r>
            <a:r>
              <a:rPr dirty="0" baseline="23809" sz="1050">
                <a:latin typeface="Tahoma"/>
                <a:cs typeface="Tahoma"/>
              </a:rPr>
              <a:t>2</a:t>
            </a:r>
            <a:r>
              <a:rPr dirty="0" baseline="23809" sz="1050" spc="577">
                <a:latin typeface="Tahoma"/>
                <a:cs typeface="Tahoma"/>
              </a:rPr>
              <a:t> </a:t>
            </a:r>
            <a:r>
              <a:rPr dirty="0" baseline="38888" sz="1500">
                <a:latin typeface="Tahoma"/>
                <a:cs typeface="Tahoma"/>
              </a:rPr>
              <a:t>=</a:t>
            </a:r>
            <a:r>
              <a:rPr dirty="0" baseline="38888" sz="1500" spc="-37">
                <a:latin typeface="Tahoma"/>
                <a:cs typeface="Tahoma"/>
              </a:rPr>
              <a:t> </a:t>
            </a:r>
            <a:r>
              <a:rPr dirty="0" baseline="38888" sz="1500" spc="-75">
                <a:latin typeface="Tahoma"/>
                <a:cs typeface="Tahoma"/>
              </a:rPr>
              <a:t>0</a:t>
            </a:r>
            <a:endParaRPr baseline="38888" sz="1500">
              <a:latin typeface="Tahoma"/>
              <a:cs typeface="Tahoma"/>
            </a:endParaRPr>
          </a:p>
          <a:p>
            <a:pPr marL="38100">
              <a:lnSpc>
                <a:spcPts val="1035"/>
              </a:lnSpc>
            </a:pPr>
            <a:r>
              <a:rPr dirty="0" sz="1000" spc="-10" b="1">
                <a:latin typeface="Arial"/>
                <a:cs typeface="Arial"/>
              </a:rPr>
              <a:t>Step-</a:t>
            </a:r>
            <a:r>
              <a:rPr dirty="0" sz="1000" b="1">
                <a:latin typeface="Arial"/>
                <a:cs typeface="Arial"/>
              </a:rPr>
              <a:t>II: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35">
                <a:latin typeface="Tahoma"/>
                <a:cs typeface="Tahoma"/>
              </a:rPr>
              <a:t>Identify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Boundary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Conditions</a:t>
            </a:r>
            <a:endParaRPr sz="1000">
              <a:latin typeface="Tahoma"/>
              <a:cs typeface="Tahoma"/>
            </a:endParaRPr>
          </a:p>
          <a:p>
            <a:pPr marL="314325" indent="-197485">
              <a:lnSpc>
                <a:spcPts val="1195"/>
              </a:lnSpc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11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2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y</a:t>
            </a:r>
            <a:r>
              <a:rPr dirty="0" baseline="-11904" sz="1050" spc="34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10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L</a:t>
            </a:r>
            <a:r>
              <a:rPr dirty="0" sz="1000" spc="65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2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</a:t>
            </a:r>
            <a:r>
              <a:rPr dirty="0" baseline="-11904" sz="1050" i="1">
                <a:latin typeface="Arial"/>
                <a:cs typeface="Arial"/>
              </a:rPr>
              <a:t>L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y</a:t>
            </a:r>
            <a:r>
              <a:rPr dirty="0" baseline="-11904" sz="1050" spc="34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  <a:p>
            <a:pPr marL="314325" indent="-227329">
              <a:lnSpc>
                <a:spcPts val="1195"/>
              </a:lnSpc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y</a:t>
            </a:r>
            <a:r>
              <a:rPr dirty="0" sz="1000" spc="114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3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sz="1000" spc="-10">
                <a:latin typeface="Lucida Sans Unicode"/>
                <a:cs typeface="Lucida Sans Unicode"/>
              </a:rPr>
              <a:t>|</a:t>
            </a:r>
            <a:r>
              <a:rPr dirty="0" baseline="-11904" sz="1050" spc="-15" i="1">
                <a:latin typeface="Arial"/>
                <a:cs typeface="Arial"/>
              </a:rPr>
              <a:t>x</a:t>
            </a:r>
            <a:r>
              <a:rPr dirty="0" baseline="-11904" sz="1050" spc="-15" i="1">
                <a:latin typeface="Calibri"/>
                <a:cs typeface="Calibri"/>
              </a:rPr>
              <a:t>,</a:t>
            </a:r>
            <a:r>
              <a:rPr dirty="0" baseline="-11904" sz="1050" spc="-15" i="1">
                <a:latin typeface="Arial"/>
                <a:cs typeface="Arial"/>
              </a:rPr>
              <a:t>y</a:t>
            </a:r>
            <a:r>
              <a:rPr dirty="0" baseline="-11904" sz="1050" spc="-172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spc="17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y</a:t>
            </a:r>
            <a:r>
              <a:rPr dirty="0" sz="1000" spc="1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H</a:t>
            </a:r>
            <a:r>
              <a:rPr dirty="0" sz="1000" spc="150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3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 spc="-10">
                <a:latin typeface="Lucida Sans Unicode"/>
                <a:cs typeface="Lucida Sans Unicode"/>
              </a:rPr>
              <a:t>|</a:t>
            </a:r>
            <a:r>
              <a:rPr dirty="0" baseline="-11904" sz="1050" spc="-15" i="1">
                <a:latin typeface="Arial"/>
                <a:cs typeface="Arial"/>
              </a:rPr>
              <a:t>x</a:t>
            </a:r>
            <a:r>
              <a:rPr dirty="0" baseline="-11904" sz="1050" spc="-15" i="1">
                <a:latin typeface="Calibri"/>
                <a:cs typeface="Calibri"/>
              </a:rPr>
              <a:t>,</a:t>
            </a:r>
            <a:r>
              <a:rPr dirty="0" baseline="-11904" sz="1050" spc="-15" i="1">
                <a:latin typeface="Arial"/>
                <a:cs typeface="Arial"/>
              </a:rPr>
              <a:t>y</a:t>
            </a:r>
            <a:r>
              <a:rPr dirty="0" baseline="-11904" sz="1050" spc="-172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</a:t>
            </a:r>
            <a:r>
              <a:rPr dirty="0" baseline="-11904" sz="1050" i="1">
                <a:latin typeface="Arial"/>
                <a:cs typeface="Arial"/>
              </a:rPr>
              <a:t>H</a:t>
            </a:r>
            <a:r>
              <a:rPr dirty="0" baseline="-11904" sz="1050" spc="30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</a:pPr>
            <a:r>
              <a:rPr dirty="0" sz="1000" spc="-10" b="1">
                <a:latin typeface="Arial"/>
                <a:cs typeface="Arial"/>
              </a:rPr>
              <a:t>Step-</a:t>
            </a:r>
            <a:r>
              <a:rPr dirty="0" sz="1000" b="1">
                <a:latin typeface="Arial"/>
                <a:cs typeface="Arial"/>
              </a:rPr>
              <a:t>III: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Discretize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Computational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Domain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1773" y="913719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(12)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82763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38262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02765"/>
            <a:ext cx="52590" cy="5259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9234" y="1718658"/>
            <a:ext cx="3804920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 marR="177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Divide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domain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35">
                <a:latin typeface="Tahoma"/>
                <a:cs typeface="Tahoma"/>
              </a:rPr>
              <a:t> rectangular finite-difference </a:t>
            </a:r>
            <a:r>
              <a:rPr dirty="0" sz="1000" spc="-10">
                <a:latin typeface="Tahoma"/>
                <a:cs typeface="Tahoma"/>
              </a:rPr>
              <a:t>grids.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step </a:t>
            </a:r>
            <a:r>
              <a:rPr dirty="0" sz="1000" spc="-25">
                <a:latin typeface="Tahoma"/>
                <a:cs typeface="Tahoma"/>
              </a:rPr>
              <a:t>size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9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u="sng" baseline="31746" sz="1050" spc="6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1746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u="sng" baseline="31746" sz="1050" spc="60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baseline="31746" sz="1050" spc="-11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,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y</a:t>
            </a:r>
            <a:r>
              <a:rPr dirty="0" sz="1000" spc="11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u="sng" baseline="31746" sz="1050" spc="60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1746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</a:t>
            </a:r>
            <a:r>
              <a:rPr dirty="0" u="sng" baseline="31746" sz="1050" spc="7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31746" sz="1050">
              <a:latin typeface="Arial"/>
              <a:cs typeface="Arial"/>
            </a:endParaRPr>
          </a:p>
          <a:p>
            <a:pPr marL="654685">
              <a:lnSpc>
                <a:spcPts val="280"/>
              </a:lnSpc>
              <a:tabLst>
                <a:tab pos="1308100" algn="l"/>
              </a:tabLst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25" i="1">
                <a:latin typeface="Arial"/>
                <a:cs typeface="Arial"/>
              </a:rPr>
              <a:t>M</a:t>
            </a:r>
            <a:r>
              <a:rPr dirty="0" sz="700" spc="25">
                <a:latin typeface="Lucida Sans Unicode"/>
                <a:cs typeface="Lucida Sans Unicode"/>
              </a:rPr>
              <a:t>−</a:t>
            </a:r>
            <a:r>
              <a:rPr dirty="0" sz="700" spc="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37781" y="265380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906216" y="2238244"/>
          <a:ext cx="1386840" cy="86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00"/>
                <a:gridCol w="225425"/>
                <a:gridCol w="215900"/>
                <a:gridCol w="215900"/>
                <a:gridCol w="215900"/>
                <a:gridCol w="215900"/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baseline="8333" sz="1500" spc="67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 spc="45" i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700" spc="45" i="1">
                          <a:latin typeface="Calibri"/>
                          <a:cs typeface="Calibri"/>
                        </a:rPr>
                        <a:t>,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00" spc="25" i="1">
                          <a:latin typeface="Arial"/>
                          <a:cs typeface="Arial"/>
                        </a:rPr>
                        <a:t>j</a:t>
                      </a:r>
                      <a:r>
                        <a:rPr dirty="0" sz="700" spc="25">
                          <a:latin typeface="Tahoma"/>
                          <a:cs typeface="Tahoma"/>
                        </a:rPr>
                        <a:t>+1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647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5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spc="-37" i="1">
                          <a:latin typeface="Arial"/>
                          <a:cs typeface="Arial"/>
                        </a:rPr>
                        <a:t>i</a:t>
                      </a:r>
                      <a:endParaRPr baseline="-11904" sz="1050">
                        <a:latin typeface="Arial"/>
                        <a:cs typeface="Arial"/>
                      </a:endParaRPr>
                    </a:p>
                  </a:txBody>
                  <a:tcPr marL="0" marR="0" marB="0" marT="374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700" spc="25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700" spc="25" i="1">
                          <a:latin typeface="Arial"/>
                          <a:cs typeface="Arial"/>
                        </a:rPr>
                        <a:t>j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946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baseline="8333" sz="1500" spc="6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 spc="40" i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700" spc="40">
                          <a:latin typeface="Lucida Sans Unicode"/>
                          <a:cs typeface="Lucida Sans Unicode"/>
                        </a:rPr>
                        <a:t>−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25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700" spc="-25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700" spc="-25" i="1">
                          <a:latin typeface="Arial"/>
                          <a:cs typeface="Arial"/>
                        </a:rPr>
                        <a:t>j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25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spc="-37" i="1">
                          <a:latin typeface="Arial"/>
                          <a:cs typeface="Arial"/>
                        </a:rPr>
                        <a:t>i</a:t>
                      </a:r>
                      <a:endParaRPr baseline="-11904" sz="10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20">
                          <a:latin typeface="Tahoma"/>
                          <a:cs typeface="Tahoma"/>
                        </a:rPr>
                        <a:t>+1</a:t>
                      </a:r>
                      <a:r>
                        <a:rPr dirty="0" sz="700" spc="-2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700" spc="-20" i="1">
                          <a:latin typeface="Arial"/>
                          <a:cs typeface="Arial"/>
                        </a:rPr>
                        <a:t>j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baseline="8333" sz="1500" spc="67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 spc="45" i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700" spc="45" i="1">
                          <a:latin typeface="Calibri"/>
                          <a:cs typeface="Calibri"/>
                        </a:rPr>
                        <a:t>,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700" spc="-25" i="1">
                          <a:latin typeface="Arial"/>
                          <a:cs typeface="Arial"/>
                        </a:rPr>
                        <a:t>j</a:t>
                      </a:r>
                      <a:r>
                        <a:rPr dirty="0" sz="7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700" spc="-25">
                          <a:latin typeface="Tahoma"/>
                          <a:cs typeface="Tahoma"/>
                        </a:rPr>
                        <a:t>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622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1889767" y="308581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6"/>
                </a:lnTo>
                <a:lnTo>
                  <a:pt x="18979" y="37958"/>
                </a:lnTo>
                <a:lnTo>
                  <a:pt x="26366" y="36466"/>
                </a:lnTo>
                <a:lnTo>
                  <a:pt x="32399" y="32399"/>
                </a:lnTo>
                <a:lnTo>
                  <a:pt x="36466" y="26366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89767" y="28698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6" y="26366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89767" y="265380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6" y="26366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89767" y="243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6" y="26366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89767" y="222179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6" y="26366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05771" y="308581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6"/>
                </a:lnTo>
                <a:lnTo>
                  <a:pt x="18979" y="37958"/>
                </a:lnTo>
                <a:lnTo>
                  <a:pt x="26366" y="36466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05771" y="28698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05771" y="265380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05771" y="243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05771" y="222179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21776" y="308581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6"/>
                </a:lnTo>
                <a:lnTo>
                  <a:pt x="18979" y="37958"/>
                </a:lnTo>
                <a:lnTo>
                  <a:pt x="26367" y="36466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21776" y="28698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321776" y="265380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21776" y="243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21776" y="222179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537781" y="308581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6"/>
                </a:lnTo>
                <a:lnTo>
                  <a:pt x="18979" y="37958"/>
                </a:lnTo>
                <a:lnTo>
                  <a:pt x="26367" y="36466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37781" y="28698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537781" y="243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537781" y="222179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753786" y="308581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6"/>
                </a:lnTo>
                <a:lnTo>
                  <a:pt x="18979" y="37958"/>
                </a:lnTo>
                <a:lnTo>
                  <a:pt x="26366" y="36466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753786" y="28698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753786" y="265380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53786" y="243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753786" y="222179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969791" y="308581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6"/>
                </a:lnTo>
                <a:lnTo>
                  <a:pt x="18979" y="37958"/>
                </a:lnTo>
                <a:lnTo>
                  <a:pt x="26367" y="36466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969791" y="28698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969791" y="265380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969791" y="243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969791" y="222179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7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7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185796" y="308581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6"/>
                </a:lnTo>
                <a:lnTo>
                  <a:pt x="18979" y="37958"/>
                </a:lnTo>
                <a:lnTo>
                  <a:pt x="26366" y="36466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185795" y="2653817"/>
            <a:ext cx="38100" cy="254000"/>
          </a:xfrm>
          <a:custGeom>
            <a:avLst/>
            <a:gdLst/>
            <a:ahLst/>
            <a:cxnLst/>
            <a:rect l="l" t="t" r="r" b="b"/>
            <a:pathLst>
              <a:path w="38100" h="254000">
                <a:moveTo>
                  <a:pt x="37947" y="234975"/>
                </a:moveTo>
                <a:lnTo>
                  <a:pt x="36461" y="227596"/>
                </a:lnTo>
                <a:lnTo>
                  <a:pt x="32397" y="221564"/>
                </a:lnTo>
                <a:lnTo>
                  <a:pt x="26365" y="217487"/>
                </a:lnTo>
                <a:lnTo>
                  <a:pt x="18973" y="216001"/>
                </a:lnTo>
                <a:lnTo>
                  <a:pt x="11582" y="217487"/>
                </a:lnTo>
                <a:lnTo>
                  <a:pt x="5549" y="221564"/>
                </a:lnTo>
                <a:lnTo>
                  <a:pt x="1485" y="227596"/>
                </a:lnTo>
                <a:lnTo>
                  <a:pt x="0" y="234975"/>
                </a:lnTo>
                <a:lnTo>
                  <a:pt x="1485" y="242366"/>
                </a:lnTo>
                <a:lnTo>
                  <a:pt x="5549" y="248399"/>
                </a:lnTo>
                <a:lnTo>
                  <a:pt x="11582" y="252463"/>
                </a:lnTo>
                <a:lnTo>
                  <a:pt x="18973" y="253961"/>
                </a:lnTo>
                <a:lnTo>
                  <a:pt x="26365" y="252463"/>
                </a:lnTo>
                <a:lnTo>
                  <a:pt x="32397" y="248399"/>
                </a:lnTo>
                <a:lnTo>
                  <a:pt x="36461" y="242366"/>
                </a:lnTo>
                <a:lnTo>
                  <a:pt x="37947" y="234975"/>
                </a:lnTo>
                <a:close/>
              </a:path>
              <a:path w="38100" h="254000">
                <a:moveTo>
                  <a:pt x="37947" y="18973"/>
                </a:moveTo>
                <a:lnTo>
                  <a:pt x="36461" y="11582"/>
                </a:lnTo>
                <a:lnTo>
                  <a:pt x="32397" y="5549"/>
                </a:lnTo>
                <a:lnTo>
                  <a:pt x="26365" y="1485"/>
                </a:lnTo>
                <a:lnTo>
                  <a:pt x="18973" y="0"/>
                </a:lnTo>
                <a:lnTo>
                  <a:pt x="11582" y="1485"/>
                </a:lnTo>
                <a:lnTo>
                  <a:pt x="5549" y="5549"/>
                </a:lnTo>
                <a:lnTo>
                  <a:pt x="1485" y="11582"/>
                </a:lnTo>
                <a:lnTo>
                  <a:pt x="0" y="18973"/>
                </a:lnTo>
                <a:lnTo>
                  <a:pt x="1485" y="26365"/>
                </a:lnTo>
                <a:lnTo>
                  <a:pt x="5549" y="32397"/>
                </a:lnTo>
                <a:lnTo>
                  <a:pt x="11582" y="36461"/>
                </a:lnTo>
                <a:lnTo>
                  <a:pt x="18973" y="37947"/>
                </a:lnTo>
                <a:lnTo>
                  <a:pt x="26365" y="36461"/>
                </a:lnTo>
                <a:lnTo>
                  <a:pt x="32397" y="32397"/>
                </a:lnTo>
                <a:lnTo>
                  <a:pt x="36461" y="26365"/>
                </a:lnTo>
                <a:lnTo>
                  <a:pt x="37947" y="18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185796" y="243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185796" y="222179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1491" y="26366"/>
                </a:lnTo>
                <a:lnTo>
                  <a:pt x="5558" y="32399"/>
                </a:lnTo>
                <a:lnTo>
                  <a:pt x="11591" y="36467"/>
                </a:lnTo>
                <a:lnTo>
                  <a:pt x="18979" y="37958"/>
                </a:lnTo>
                <a:lnTo>
                  <a:pt x="26366" y="36467"/>
                </a:lnTo>
                <a:lnTo>
                  <a:pt x="32399" y="32399"/>
                </a:lnTo>
                <a:lnTo>
                  <a:pt x="36467" y="26366"/>
                </a:lnTo>
                <a:lnTo>
                  <a:pt x="37958" y="18979"/>
                </a:lnTo>
                <a:lnTo>
                  <a:pt x="36467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189937" y="2039637"/>
            <a:ext cx="7277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104" i="1">
                <a:latin typeface="Arial"/>
                <a:cs typeface="Arial"/>
              </a:rPr>
              <a:t>T</a:t>
            </a:r>
            <a:r>
              <a:rPr dirty="0" sz="700" spc="70" i="1">
                <a:latin typeface="Arial"/>
                <a:cs typeface="Arial"/>
              </a:rPr>
              <a:t>i</a:t>
            </a:r>
            <a:r>
              <a:rPr dirty="0" sz="700" spc="70" i="1">
                <a:latin typeface="Calibri"/>
                <a:cs typeface="Calibri"/>
              </a:rPr>
              <a:t>,</a:t>
            </a:r>
            <a:r>
              <a:rPr dirty="0" sz="700" spc="70" i="1">
                <a:latin typeface="Arial"/>
                <a:cs typeface="Arial"/>
              </a:rPr>
              <a:t>j</a:t>
            </a:r>
            <a:r>
              <a:rPr dirty="0" sz="700" spc="70">
                <a:latin typeface="Tahoma"/>
                <a:cs typeface="Tahoma"/>
              </a:rPr>
              <a:t>=</a:t>
            </a:r>
            <a:r>
              <a:rPr dirty="0" sz="700" spc="70" i="1">
                <a:latin typeface="Arial"/>
                <a:cs typeface="Arial"/>
              </a:rPr>
              <a:t>M</a:t>
            </a:r>
            <a:r>
              <a:rPr dirty="0" sz="700" spc="22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-15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864423" y="3093217"/>
            <a:ext cx="13849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8600" algn="l"/>
                <a:tab pos="444500" algn="l"/>
                <a:tab pos="660400" algn="l"/>
                <a:tab pos="876300" algn="l"/>
                <a:tab pos="1092200" algn="l"/>
                <a:tab pos="1308100" algn="l"/>
              </a:tabLst>
            </a:pP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2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3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5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6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78864" y="2078869"/>
            <a:ext cx="723900" cy="110553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600"/>
              </a:spcBef>
            </a:pPr>
            <a:r>
              <a:rPr dirty="0" sz="1000" spc="-5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 algn="r" marR="30480">
              <a:lnSpc>
                <a:spcPct val="100000"/>
              </a:lnSpc>
              <a:spcBef>
                <a:spcPts val="500"/>
              </a:spcBef>
            </a:pPr>
            <a:r>
              <a:rPr dirty="0" sz="1000" spc="-50"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 algn="r" marR="30480">
              <a:lnSpc>
                <a:spcPct val="100000"/>
              </a:lnSpc>
              <a:spcBef>
                <a:spcPts val="530"/>
              </a:spcBef>
            </a:pP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sz="700" spc="60" i="1">
                <a:latin typeface="Arial"/>
                <a:cs typeface="Arial"/>
              </a:rPr>
              <a:t>i</a:t>
            </a:r>
            <a:r>
              <a:rPr dirty="0" sz="700" spc="60" i="1">
                <a:latin typeface="Calibri"/>
                <a:cs typeface="Calibri"/>
              </a:rPr>
              <a:t>,</a:t>
            </a:r>
            <a:r>
              <a:rPr dirty="0" sz="700" spc="60" i="1">
                <a:latin typeface="Arial"/>
                <a:cs typeface="Arial"/>
              </a:rPr>
              <a:t>j</a:t>
            </a:r>
            <a:r>
              <a:rPr dirty="0" sz="700" spc="60">
                <a:latin typeface="Tahoma"/>
                <a:cs typeface="Tahoma"/>
              </a:rPr>
              <a:t>=1</a:t>
            </a:r>
            <a:r>
              <a:rPr dirty="0" sz="700" spc="10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-52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0</a:t>
            </a:r>
            <a:r>
              <a:rPr dirty="0" baseline="8333" sz="1500" spc="44">
                <a:latin typeface="Tahoma"/>
                <a:cs typeface="Tahoma"/>
              </a:rPr>
              <a:t> </a:t>
            </a:r>
            <a:r>
              <a:rPr dirty="0" baseline="2777" sz="1500" spc="-75">
                <a:latin typeface="Tahoma"/>
                <a:cs typeface="Tahoma"/>
              </a:rPr>
              <a:t>3</a:t>
            </a:r>
            <a:endParaRPr baseline="2777" sz="1500">
              <a:latin typeface="Tahoma"/>
              <a:cs typeface="Tahoma"/>
            </a:endParaRPr>
          </a:p>
          <a:p>
            <a:pPr algn="r" marR="30480">
              <a:lnSpc>
                <a:spcPct val="100000"/>
              </a:lnSpc>
              <a:spcBef>
                <a:spcPts val="470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 algn="r" marR="30480">
              <a:lnSpc>
                <a:spcPct val="100000"/>
              </a:lnSpc>
              <a:spcBef>
                <a:spcPts val="50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124751" y="3320132"/>
            <a:ext cx="216535" cy="45085"/>
            <a:chOff x="2124751" y="3320132"/>
            <a:chExt cx="216535" cy="45085"/>
          </a:xfrm>
        </p:grpSpPr>
        <p:sp>
          <p:nvSpPr>
            <p:cNvPr id="59" name="object 59"/>
            <p:cNvSpPr/>
            <p:nvPr/>
          </p:nvSpPr>
          <p:spPr>
            <a:xfrm>
              <a:off x="2130571" y="3342400"/>
              <a:ext cx="204470" cy="0"/>
            </a:xfrm>
            <a:custGeom>
              <a:avLst/>
              <a:gdLst/>
              <a:ahLst/>
              <a:cxnLst/>
              <a:rect l="l" t="t" r="r" b="b"/>
              <a:pathLst>
                <a:path w="204469" h="0">
                  <a:moveTo>
                    <a:pt x="0" y="0"/>
                  </a:moveTo>
                  <a:lnTo>
                    <a:pt x="204364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126775" y="332215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319753" y="332215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2106955" y="3232142"/>
            <a:ext cx="8915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3333" sz="1500" spc="112">
                <a:latin typeface="Tahoma"/>
                <a:cs typeface="Tahoma"/>
              </a:rPr>
              <a:t>∆</a:t>
            </a:r>
            <a:r>
              <a:rPr dirty="0" baseline="33333" sz="1500" spc="112" i="1">
                <a:latin typeface="Arial"/>
                <a:cs typeface="Arial"/>
              </a:rPr>
              <a:t>x</a:t>
            </a:r>
            <a:r>
              <a:rPr dirty="0" baseline="33333" sz="1500" spc="390" i="1">
                <a:latin typeface="Arial"/>
                <a:cs typeface="Arial"/>
              </a:rPr>
              <a:t> </a:t>
            </a: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baseline="8333" sz="1500" spc="-195" i="1">
                <a:latin typeface="Arial"/>
                <a:cs typeface="Arial"/>
              </a:rPr>
              <a:t> </a:t>
            </a:r>
            <a:r>
              <a:rPr dirty="0" baseline="8333" sz="1500">
                <a:latin typeface="Lucida Sans Unicode"/>
                <a:cs typeface="Lucida Sans Unicode"/>
              </a:rPr>
              <a:t>|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>
                <a:latin typeface="Tahoma"/>
                <a:cs typeface="Tahoma"/>
              </a:rPr>
              <a:t>=1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60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15">
                <a:latin typeface="Tahoma"/>
                <a:cs typeface="Tahoma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236508" y="2672785"/>
            <a:ext cx="45085" cy="216535"/>
            <a:chOff x="3236508" y="2672785"/>
            <a:chExt cx="45085" cy="216535"/>
          </a:xfrm>
        </p:grpSpPr>
        <p:sp>
          <p:nvSpPr>
            <p:cNvPr id="64" name="object 64"/>
            <p:cNvSpPr/>
            <p:nvPr/>
          </p:nvSpPr>
          <p:spPr>
            <a:xfrm>
              <a:off x="3258776" y="2678604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w="0" h="204469">
                  <a:moveTo>
                    <a:pt x="0" y="20436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238532" y="286778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238532" y="2674809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3265360" y="2578384"/>
            <a:ext cx="711835" cy="272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975"/>
              </a:lnSpc>
              <a:spcBef>
                <a:spcPts val="95"/>
              </a:spcBef>
            </a:pPr>
            <a:r>
              <a:rPr dirty="0" baseline="8333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i</a:t>
            </a:r>
            <a:r>
              <a:rPr dirty="0" sz="700" spc="65">
                <a:latin typeface="Tahoma"/>
                <a:cs typeface="Tahoma"/>
              </a:rPr>
              <a:t>=</a:t>
            </a:r>
            <a:r>
              <a:rPr dirty="0" sz="700" spc="65" i="1">
                <a:latin typeface="Arial"/>
                <a:cs typeface="Arial"/>
              </a:rPr>
              <a:t>N</a:t>
            </a:r>
            <a:r>
              <a:rPr dirty="0" sz="700" spc="65" i="1">
                <a:latin typeface="Calibri"/>
                <a:cs typeface="Calibri"/>
              </a:rPr>
              <a:t>,</a:t>
            </a:r>
            <a:r>
              <a:rPr dirty="0" sz="700" spc="65" i="1">
                <a:latin typeface="Arial"/>
                <a:cs typeface="Arial"/>
              </a:rPr>
              <a:t>j</a:t>
            </a:r>
            <a:r>
              <a:rPr dirty="0" sz="700" spc="22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-22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  <a:p>
            <a:pPr marL="38100">
              <a:lnSpc>
                <a:spcPts val="975"/>
              </a:lnSpc>
            </a:pP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21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2-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5872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657148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40760"/>
            <a:ext cx="3338195" cy="40957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Discretize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Domain,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245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central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scheme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(CDS)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76476" y="920191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68042" y="745977"/>
            <a:ext cx="1241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75" i="1">
                <a:latin typeface="Arial"/>
                <a:cs typeface="Arial"/>
              </a:rPr>
              <a:t>T</a:t>
            </a:r>
            <a:r>
              <a:rPr dirty="0" sz="700" spc="50" i="1">
                <a:latin typeface="Arial"/>
                <a:cs typeface="Arial"/>
              </a:rPr>
              <a:t>i</a:t>
            </a:r>
            <a:r>
              <a:rPr dirty="0" sz="700" spc="50">
                <a:latin typeface="Tahoma"/>
                <a:cs typeface="Tahoma"/>
              </a:rPr>
              <a:t>+1</a:t>
            </a:r>
            <a:r>
              <a:rPr dirty="0" sz="700" spc="50" i="1">
                <a:latin typeface="Calibri"/>
                <a:cs typeface="Calibri"/>
              </a:rPr>
              <a:t>,</a:t>
            </a:r>
            <a:r>
              <a:rPr dirty="0" sz="700" spc="50" i="1">
                <a:latin typeface="Arial"/>
                <a:cs typeface="Arial"/>
              </a:rPr>
              <a:t>j</a:t>
            </a:r>
            <a:r>
              <a:rPr dirty="0" sz="700" spc="220" i="1">
                <a:latin typeface="Arial"/>
                <a:cs typeface="Arial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 </a:t>
            </a:r>
            <a:r>
              <a:rPr dirty="0" baseline="8333" sz="1500">
                <a:latin typeface="Tahoma"/>
                <a:cs typeface="Tahoma"/>
              </a:rPr>
              <a:t>2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2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67">
                <a:latin typeface="Tahoma"/>
                <a:cs typeface="Tahoma"/>
              </a:rPr>
              <a:t> </a:t>
            </a:r>
            <a:r>
              <a:rPr dirty="0" baseline="8333" sz="1500" spc="-15" i="1">
                <a:latin typeface="Arial"/>
                <a:cs typeface="Arial"/>
              </a:rPr>
              <a:t>T</a:t>
            </a:r>
            <a:r>
              <a:rPr dirty="0" sz="700" spc="-10" i="1">
                <a:latin typeface="Arial"/>
                <a:cs typeface="Arial"/>
              </a:rPr>
              <a:t>i</a:t>
            </a:r>
            <a:r>
              <a:rPr dirty="0" sz="700" spc="-10">
                <a:latin typeface="Lucida Sans Unicode"/>
                <a:cs typeface="Lucida Sans Unicode"/>
              </a:rPr>
              <a:t>−</a:t>
            </a:r>
            <a:r>
              <a:rPr dirty="0" sz="700" spc="-10">
                <a:latin typeface="Tahoma"/>
                <a:cs typeface="Tahoma"/>
              </a:rPr>
              <a:t>1</a:t>
            </a:r>
            <a:r>
              <a:rPr dirty="0" sz="700" spc="-10" i="1">
                <a:latin typeface="Calibri"/>
                <a:cs typeface="Calibri"/>
              </a:rPr>
              <a:t>,</a:t>
            </a:r>
            <a:r>
              <a:rPr dirty="0" sz="700" spc="-10" i="1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6142" y="920191"/>
            <a:ext cx="1179830" cy="0"/>
          </a:xfrm>
          <a:custGeom>
            <a:avLst/>
            <a:gdLst/>
            <a:ahLst/>
            <a:cxnLst/>
            <a:rect l="l" t="t" r="r" b="b"/>
            <a:pathLst>
              <a:path w="1179829" h="0">
                <a:moveTo>
                  <a:pt x="0" y="0"/>
                </a:moveTo>
                <a:lnTo>
                  <a:pt x="117956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76476" y="1279931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738376" y="706431"/>
            <a:ext cx="455930" cy="7302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160"/>
              </a:spcBef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baseline="23809" sz="1050">
                <a:latin typeface="Tahoma"/>
                <a:cs typeface="Tahoma"/>
              </a:rPr>
              <a:t>2</a:t>
            </a:r>
            <a:r>
              <a:rPr dirty="0" baseline="23809" sz="1050" spc="547">
                <a:latin typeface="Tahoma"/>
                <a:cs typeface="Tahoma"/>
              </a:rPr>
              <a:t> </a:t>
            </a:r>
            <a:r>
              <a:rPr dirty="0" baseline="38888" sz="1500" spc="-75">
                <a:latin typeface="Lucida Sans Unicode"/>
                <a:cs typeface="Lucida Sans Unicode"/>
              </a:rPr>
              <a:t>≈</a:t>
            </a:r>
            <a:endParaRPr baseline="38888" sz="15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53340">
              <a:lnSpc>
                <a:spcPct val="100000"/>
              </a:lnSpc>
              <a:spcBef>
                <a:spcPts val="155"/>
              </a:spcBef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y</a:t>
            </a:r>
            <a:r>
              <a:rPr dirty="0" sz="1000" spc="-170" i="1">
                <a:latin typeface="Arial"/>
                <a:cs typeface="Arial"/>
              </a:rPr>
              <a:t> </a:t>
            </a:r>
            <a:r>
              <a:rPr dirty="0" baseline="23809" sz="1050">
                <a:latin typeface="Tahoma"/>
                <a:cs typeface="Tahoma"/>
              </a:rPr>
              <a:t>2</a:t>
            </a:r>
            <a:r>
              <a:rPr dirty="0" baseline="23809" sz="1050" spc="532">
                <a:latin typeface="Tahoma"/>
                <a:cs typeface="Tahoma"/>
              </a:rPr>
              <a:t> </a:t>
            </a:r>
            <a:r>
              <a:rPr dirty="0" baseline="38888" sz="1500" spc="-75">
                <a:latin typeface="Lucida Sans Unicode"/>
                <a:cs typeface="Lucida Sans Unicode"/>
              </a:rPr>
              <a:t>≈</a:t>
            </a:r>
            <a:endParaRPr baseline="38888" sz="15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8042" y="844874"/>
            <a:ext cx="1249680" cy="4381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sz="700" spc="60" i="1">
                <a:latin typeface="Arial"/>
                <a:cs typeface="Arial"/>
              </a:rPr>
              <a:t>i</a:t>
            </a:r>
            <a:r>
              <a:rPr dirty="0" sz="700" spc="60" i="1">
                <a:latin typeface="Calibri"/>
                <a:cs typeface="Calibri"/>
              </a:rPr>
              <a:t>,</a:t>
            </a:r>
            <a:r>
              <a:rPr dirty="0" sz="700" spc="60" i="1">
                <a:latin typeface="Arial"/>
                <a:cs typeface="Arial"/>
              </a:rPr>
              <a:t>j</a:t>
            </a:r>
            <a:r>
              <a:rPr dirty="0" sz="700" spc="60">
                <a:latin typeface="Tahoma"/>
                <a:cs typeface="Tahoma"/>
              </a:rPr>
              <a:t>+1</a:t>
            </a:r>
            <a:r>
              <a:rPr dirty="0" sz="700" spc="114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 </a:t>
            </a:r>
            <a:r>
              <a:rPr dirty="0" baseline="8333" sz="1500">
                <a:latin typeface="Tahoma"/>
                <a:cs typeface="Tahoma"/>
              </a:rPr>
              <a:t>2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29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60">
                <a:latin typeface="Tahoma"/>
                <a:cs typeface="Tahoma"/>
              </a:rPr>
              <a:t> </a:t>
            </a:r>
            <a:r>
              <a:rPr dirty="0" baseline="8333" sz="1500" spc="67" i="1">
                <a:latin typeface="Arial"/>
                <a:cs typeface="Arial"/>
              </a:rPr>
              <a:t>T</a:t>
            </a:r>
            <a:r>
              <a:rPr dirty="0" sz="700" spc="45" i="1">
                <a:latin typeface="Arial"/>
                <a:cs typeface="Arial"/>
              </a:rPr>
              <a:t>i</a:t>
            </a:r>
            <a:r>
              <a:rPr dirty="0" sz="700" spc="45" i="1">
                <a:latin typeface="Calibri"/>
                <a:cs typeface="Calibri"/>
              </a:rPr>
              <a:t>,</a:t>
            </a:r>
            <a:r>
              <a:rPr dirty="0" sz="700" spc="45" i="1">
                <a:latin typeface="Arial"/>
                <a:cs typeface="Arial"/>
              </a:rPr>
              <a:t>j</a:t>
            </a:r>
            <a:r>
              <a:rPr dirty="0" sz="700" spc="45">
                <a:latin typeface="Lucida Sans Unicode"/>
                <a:cs typeface="Lucida Sans Unicode"/>
              </a:rPr>
              <a:t>−</a:t>
            </a:r>
            <a:r>
              <a:rPr dirty="0" sz="700" spc="4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06142" y="1279931"/>
            <a:ext cx="1179830" cy="0"/>
          </a:xfrm>
          <a:custGeom>
            <a:avLst/>
            <a:gdLst/>
            <a:ahLst/>
            <a:cxnLst/>
            <a:rect l="l" t="t" r="r" b="b"/>
            <a:pathLst>
              <a:path w="1179829" h="0">
                <a:moveTo>
                  <a:pt x="0" y="0"/>
                </a:moveTo>
                <a:lnTo>
                  <a:pt x="117956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93187" y="1259133"/>
            <a:ext cx="3994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y</a:t>
            </a:r>
            <a:r>
              <a:rPr dirty="0" sz="1000" spc="-16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21955"/>
            <a:ext cx="52590" cy="5259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80034" y="1437848"/>
            <a:ext cx="26898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Substituting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central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expressions</a:t>
            </a:r>
            <a:r>
              <a:rPr dirty="0" sz="1000" spc="-20">
                <a:latin typeface="Tahoma"/>
                <a:cs typeface="Tahoma"/>
              </a:rPr>
              <a:t> into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4950" y="1623573"/>
            <a:ext cx="28676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sng" baseline="8333" sz="1500" spc="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700" spc="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 spc="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spc="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dirty="0" u="sng" sz="700" spc="22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8333" sz="1500" spc="-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 </a:t>
            </a:r>
            <a:r>
              <a:rPr dirty="0" u="sng" baseline="8333" sz="15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baseline="8333" sz="1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dirty="0" u="sng" sz="700" spc="22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8333" sz="15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dirty="0" u="sng" baseline="8333" sz="1500" spc="-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8333" sz="1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dirty="0" sz="700" spc="380" i="1">
                <a:latin typeface="Arial"/>
                <a:cs typeface="Arial"/>
              </a:rPr>
              <a:t> </a:t>
            </a:r>
            <a:r>
              <a:rPr dirty="0" baseline="-27777" sz="1500">
                <a:latin typeface="Tahoma"/>
                <a:cs typeface="Tahoma"/>
              </a:rPr>
              <a:t>+</a:t>
            </a:r>
            <a:r>
              <a:rPr dirty="0" baseline="-27777" sz="1500" spc="165">
                <a:latin typeface="Tahoma"/>
                <a:cs typeface="Tahoma"/>
              </a:rPr>
              <a:t> </a:t>
            </a:r>
            <a:r>
              <a:rPr dirty="0" u="sng" baseline="8333" sz="1500" spc="8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700" spc="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6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spc="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 spc="1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8333" sz="1500" spc="-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8333" sz="1500" spc="-67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baseline="8333" sz="15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baseline="8333" sz="1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dirty="0" u="sng" sz="700" spc="23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8333" sz="15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dirty="0" u="sng" baseline="8333" sz="1500" spc="-6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baseline="8333" sz="1500" spc="8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700" spc="5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5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dirty="0" u="sng" sz="700" spc="5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sz="700" spc="345">
                <a:latin typeface="Tahoma"/>
                <a:cs typeface="Tahoma"/>
              </a:rPr>
              <a:t> </a:t>
            </a:r>
            <a:r>
              <a:rPr dirty="0" baseline="-27777" sz="1500">
                <a:latin typeface="Tahoma"/>
                <a:cs typeface="Tahoma"/>
              </a:rPr>
              <a:t>=</a:t>
            </a:r>
            <a:r>
              <a:rPr dirty="0" baseline="-27777" sz="1500" spc="52">
                <a:latin typeface="Tahoma"/>
                <a:cs typeface="Tahoma"/>
              </a:rPr>
              <a:t> </a:t>
            </a:r>
            <a:r>
              <a:rPr dirty="0" baseline="-27777" sz="1500" spc="-75">
                <a:latin typeface="Tahoma"/>
                <a:cs typeface="Tahoma"/>
              </a:rPr>
              <a:t>0</a:t>
            </a:r>
            <a:endParaRPr baseline="-27777" sz="15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070862"/>
            <a:ext cx="52590" cy="5259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41934" y="1719040"/>
            <a:ext cx="2714625" cy="445134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977265">
              <a:lnSpc>
                <a:spcPct val="100000"/>
              </a:lnSpc>
              <a:spcBef>
                <a:spcPts val="550"/>
              </a:spcBef>
              <a:tabLst>
                <a:tab pos="2340610" algn="l"/>
              </a:tabLst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r>
              <a:rPr dirty="0" baseline="23809" sz="1050">
                <a:latin typeface="Tahoma"/>
                <a:cs typeface="Tahoma"/>
              </a:rPr>
              <a:t>	</a:t>
            </a: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y</a:t>
            </a:r>
            <a:r>
              <a:rPr dirty="0" sz="1000" spc="-165" i="1">
                <a:latin typeface="Arial"/>
                <a:cs typeface="Arial"/>
              </a:rPr>
              <a:t> </a:t>
            </a:r>
            <a:r>
              <a:rPr dirty="0" sz="1000" spc="-35">
                <a:latin typeface="Tahoma"/>
                <a:cs typeface="Tahoma"/>
              </a:rPr>
              <a:t>)</a:t>
            </a:r>
            <a:r>
              <a:rPr dirty="0" baseline="23809" sz="1050" spc="-52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455"/>
              </a:spcBef>
            </a:pPr>
            <a:r>
              <a:rPr dirty="0" sz="1000">
                <a:latin typeface="Tahoma"/>
                <a:cs typeface="Tahoma"/>
              </a:rPr>
              <a:t>For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square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grid,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x</a:t>
            </a:r>
            <a:r>
              <a:rPr dirty="0" sz="1000" spc="7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∆</a:t>
            </a:r>
            <a:r>
              <a:rPr dirty="0" sz="1000" spc="75" i="1">
                <a:latin typeface="Arial"/>
                <a:cs typeface="Arial"/>
              </a:rPr>
              <a:t>y</a:t>
            </a:r>
            <a:r>
              <a:rPr dirty="0" sz="1000" spc="8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150">
                <a:latin typeface="Tahoma"/>
                <a:cs typeface="Tahoma"/>
              </a:rPr>
              <a:t>∆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457780"/>
            <a:ext cx="52590" cy="5259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77532" y="2104549"/>
            <a:ext cx="3749040" cy="115189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032510">
              <a:lnSpc>
                <a:spcPct val="100000"/>
              </a:lnSpc>
              <a:spcBef>
                <a:spcPts val="555"/>
              </a:spcBef>
            </a:pP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>
                <a:latin typeface="Lucida Sans Unicode"/>
                <a:cs typeface="Lucida Sans Unicode"/>
              </a:rPr>
              <a:t>−</a:t>
            </a:r>
            <a:r>
              <a:rPr dirty="0" sz="700">
                <a:latin typeface="Tahoma"/>
                <a:cs typeface="Tahoma"/>
              </a:rPr>
              <a:t>1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29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60">
                <a:latin typeface="Tahoma"/>
                <a:cs typeface="Tahoma"/>
              </a:rPr>
              <a:t> </a:t>
            </a:r>
            <a:r>
              <a:rPr dirty="0" baseline="8333" sz="1500" spc="75" i="1">
                <a:latin typeface="Arial"/>
                <a:cs typeface="Arial"/>
              </a:rPr>
              <a:t>T</a:t>
            </a:r>
            <a:r>
              <a:rPr dirty="0" sz="700" spc="50" i="1">
                <a:latin typeface="Arial"/>
                <a:cs typeface="Arial"/>
              </a:rPr>
              <a:t>i</a:t>
            </a:r>
            <a:r>
              <a:rPr dirty="0" sz="700" spc="50">
                <a:latin typeface="Tahoma"/>
                <a:cs typeface="Tahoma"/>
              </a:rPr>
              <a:t>+1</a:t>
            </a:r>
            <a:r>
              <a:rPr dirty="0" sz="700" spc="50" i="1">
                <a:latin typeface="Calibri"/>
                <a:cs typeface="Calibri"/>
              </a:rPr>
              <a:t>,</a:t>
            </a:r>
            <a:r>
              <a:rPr dirty="0" sz="700" spc="50" i="1">
                <a:latin typeface="Arial"/>
                <a:cs typeface="Arial"/>
              </a:rPr>
              <a:t>j</a:t>
            </a:r>
            <a:r>
              <a:rPr dirty="0" sz="700" spc="23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60">
                <a:latin typeface="Tahoma"/>
                <a:cs typeface="Tahoma"/>
              </a:rPr>
              <a:t> </a:t>
            </a:r>
            <a:r>
              <a:rPr dirty="0" baseline="8333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i</a:t>
            </a:r>
            <a:r>
              <a:rPr dirty="0" sz="700" spc="55" i="1">
                <a:latin typeface="Calibri"/>
                <a:cs typeface="Calibri"/>
              </a:rPr>
              <a:t>,</a:t>
            </a:r>
            <a:r>
              <a:rPr dirty="0" sz="700" spc="55" i="1">
                <a:latin typeface="Arial"/>
                <a:cs typeface="Arial"/>
              </a:rPr>
              <a:t>j</a:t>
            </a:r>
            <a:r>
              <a:rPr dirty="0" sz="700" spc="55">
                <a:latin typeface="Lucida Sans Unicode"/>
                <a:cs typeface="Lucida Sans Unicode"/>
              </a:rPr>
              <a:t>−</a:t>
            </a:r>
            <a:r>
              <a:rPr dirty="0" sz="700" spc="55">
                <a:latin typeface="Tahoma"/>
                <a:cs typeface="Tahoma"/>
              </a:rPr>
              <a:t>1</a:t>
            </a:r>
            <a:r>
              <a:rPr dirty="0" sz="700" spc="12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60">
                <a:latin typeface="Tahoma"/>
                <a:cs typeface="Tahoma"/>
              </a:rPr>
              <a:t> </a:t>
            </a: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sz="700" spc="60" i="1">
                <a:latin typeface="Arial"/>
                <a:cs typeface="Arial"/>
              </a:rPr>
              <a:t>i</a:t>
            </a:r>
            <a:r>
              <a:rPr dirty="0" sz="700" spc="60" i="1">
                <a:latin typeface="Calibri"/>
                <a:cs typeface="Calibri"/>
              </a:rPr>
              <a:t>,</a:t>
            </a:r>
            <a:r>
              <a:rPr dirty="0" sz="700" spc="60" i="1">
                <a:latin typeface="Arial"/>
                <a:cs typeface="Arial"/>
              </a:rPr>
              <a:t>j</a:t>
            </a:r>
            <a:r>
              <a:rPr dirty="0" sz="700" spc="6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30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52">
                <a:latin typeface="Tahoma"/>
                <a:cs typeface="Tahoma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459"/>
              </a:spcBef>
            </a:pP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interior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grids,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9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1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1,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j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M</a:t>
            </a:r>
            <a:r>
              <a:rPr dirty="0" sz="1000" spc="1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983615">
              <a:lnSpc>
                <a:spcPct val="100000"/>
              </a:lnSpc>
              <a:spcBef>
                <a:spcPts val="190"/>
              </a:spcBef>
            </a:pPr>
            <a:r>
              <a:rPr dirty="0" baseline="8333" sz="1500">
                <a:latin typeface="Lucida Sans Unicode"/>
                <a:cs typeface="Lucida Sans Unicode"/>
              </a:rPr>
              <a:t>−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>
                <a:latin typeface="Lucida Sans Unicode"/>
                <a:cs typeface="Lucida Sans Unicode"/>
              </a:rPr>
              <a:t>−</a:t>
            </a:r>
            <a:r>
              <a:rPr dirty="0" sz="700">
                <a:latin typeface="Tahoma"/>
                <a:cs typeface="Tahoma"/>
              </a:rPr>
              <a:t>1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20" i="1">
                <a:latin typeface="Arial"/>
                <a:cs typeface="Arial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75">
                <a:latin typeface="Lucida Sans Unicode"/>
                <a:cs typeface="Lucida Sans Unicode"/>
              </a:rPr>
              <a:t> </a:t>
            </a:r>
            <a:r>
              <a:rPr dirty="0" baseline="8333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i</a:t>
            </a:r>
            <a:r>
              <a:rPr dirty="0" sz="700" spc="55" i="1">
                <a:latin typeface="Calibri"/>
                <a:cs typeface="Calibri"/>
              </a:rPr>
              <a:t>,</a:t>
            </a:r>
            <a:r>
              <a:rPr dirty="0" sz="700" spc="55" i="1">
                <a:latin typeface="Arial"/>
                <a:cs typeface="Arial"/>
              </a:rPr>
              <a:t>j</a:t>
            </a:r>
            <a:r>
              <a:rPr dirty="0" sz="700" spc="55">
                <a:latin typeface="Lucida Sans Unicode"/>
                <a:cs typeface="Lucida Sans Unicode"/>
              </a:rPr>
              <a:t>−</a:t>
            </a:r>
            <a:r>
              <a:rPr dirty="0" sz="700" spc="55">
                <a:latin typeface="Tahoma"/>
                <a:cs typeface="Tahoma"/>
              </a:rPr>
              <a:t>1</a:t>
            </a:r>
            <a:r>
              <a:rPr dirty="0" sz="700" spc="11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67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i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j</a:t>
            </a:r>
            <a:r>
              <a:rPr dirty="0" sz="700" spc="220" i="1">
                <a:latin typeface="Arial"/>
                <a:cs typeface="Arial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67">
                <a:latin typeface="Lucida Sans Unicode"/>
                <a:cs typeface="Lucida Sans Unicode"/>
              </a:rPr>
              <a:t> </a:t>
            </a:r>
            <a:r>
              <a:rPr dirty="0" baseline="8333" sz="1500" spc="75" i="1">
                <a:latin typeface="Arial"/>
                <a:cs typeface="Arial"/>
              </a:rPr>
              <a:t>T</a:t>
            </a:r>
            <a:r>
              <a:rPr dirty="0" sz="700" spc="50" i="1">
                <a:latin typeface="Arial"/>
                <a:cs typeface="Arial"/>
              </a:rPr>
              <a:t>i</a:t>
            </a:r>
            <a:r>
              <a:rPr dirty="0" sz="700" spc="50">
                <a:latin typeface="Tahoma"/>
                <a:cs typeface="Tahoma"/>
              </a:rPr>
              <a:t>+1</a:t>
            </a:r>
            <a:r>
              <a:rPr dirty="0" sz="700" spc="50" i="1">
                <a:latin typeface="Calibri"/>
                <a:cs typeface="Calibri"/>
              </a:rPr>
              <a:t>,</a:t>
            </a:r>
            <a:r>
              <a:rPr dirty="0" sz="700" spc="50" i="1">
                <a:latin typeface="Arial"/>
                <a:cs typeface="Arial"/>
              </a:rPr>
              <a:t>j</a:t>
            </a:r>
            <a:r>
              <a:rPr dirty="0" sz="700" spc="220" i="1">
                <a:latin typeface="Arial"/>
                <a:cs typeface="Arial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67">
                <a:latin typeface="Lucida Sans Unicode"/>
                <a:cs typeface="Lucida Sans Unicode"/>
              </a:rPr>
              <a:t> </a:t>
            </a: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sz="700" spc="60" i="1">
                <a:latin typeface="Arial"/>
                <a:cs typeface="Arial"/>
              </a:rPr>
              <a:t>i</a:t>
            </a:r>
            <a:r>
              <a:rPr dirty="0" sz="700" spc="60" i="1">
                <a:latin typeface="Calibri"/>
                <a:cs typeface="Calibri"/>
              </a:rPr>
              <a:t>,</a:t>
            </a:r>
            <a:r>
              <a:rPr dirty="0" sz="700" spc="60" i="1">
                <a:latin typeface="Arial"/>
                <a:cs typeface="Arial"/>
              </a:rPr>
              <a:t>j</a:t>
            </a:r>
            <a:r>
              <a:rPr dirty="0" sz="700" spc="60">
                <a:latin typeface="Tahoma"/>
                <a:cs typeface="Tahoma"/>
              </a:rPr>
              <a:t>+1</a:t>
            </a:r>
            <a:r>
              <a:rPr dirty="0" sz="700" spc="17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44">
                <a:latin typeface="Tahoma"/>
                <a:cs typeface="Tahoma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1100" b="1">
                <a:latin typeface="Arial"/>
                <a:cs typeface="Arial"/>
              </a:rPr>
              <a:t>Step-IV: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Descrtized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Boundary </a:t>
            </a:r>
            <a:r>
              <a:rPr dirty="0" sz="1100" spc="-10">
                <a:latin typeface="Tahoma"/>
                <a:cs typeface="Tahoma"/>
              </a:rPr>
              <a:t>Conditions</a:t>
            </a:r>
            <a:endParaRPr sz="1100">
              <a:latin typeface="Tahoma"/>
              <a:cs typeface="Tahoma"/>
            </a:endParaRPr>
          </a:p>
          <a:p>
            <a:pPr marL="314325" indent="-197485"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grid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114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j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6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2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j</a:t>
            </a:r>
            <a:r>
              <a:rPr dirty="0" baseline="-11904" sz="1050" spc="33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grid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1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j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55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2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baseline="-11904" sz="1050" spc="89" i="1">
                <a:latin typeface="Arial"/>
                <a:cs typeface="Arial"/>
              </a:rPr>
              <a:t>N</a:t>
            </a:r>
            <a:r>
              <a:rPr dirty="0" baseline="-11904" sz="1050" spc="89" i="1">
                <a:latin typeface="Calibri"/>
                <a:cs typeface="Calibri"/>
              </a:rPr>
              <a:t>,</a:t>
            </a:r>
            <a:r>
              <a:rPr dirty="0" baseline="-11904" sz="1050" spc="89" i="1">
                <a:latin typeface="Arial"/>
                <a:cs typeface="Arial"/>
              </a:rPr>
              <a:t>j</a:t>
            </a:r>
            <a:r>
              <a:rPr dirty="0" baseline="-11904" sz="1050" spc="33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  <a:p>
            <a:pPr marL="314325" indent="-227329">
              <a:lnSpc>
                <a:spcPct val="100000"/>
              </a:lnSpc>
              <a:spcBef>
                <a:spcPts val="280"/>
              </a:spcBef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grid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j</a:t>
            </a:r>
            <a:r>
              <a:rPr dirty="0" sz="1000" spc="10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1:</a:t>
            </a:r>
            <a:r>
              <a:rPr dirty="0" sz="1000" spc="15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3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 i="1">
                <a:latin typeface="Arial"/>
                <a:cs typeface="Arial"/>
              </a:rPr>
              <a:t>i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79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grid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5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j</a:t>
            </a:r>
            <a:r>
              <a:rPr dirty="0" sz="1000" spc="10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M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5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25">
                <a:latin typeface="Lucida Sans Unicode"/>
                <a:cs typeface="Lucida Sans Unicode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-11904" sz="1050" spc="97" i="1">
                <a:latin typeface="Arial"/>
                <a:cs typeface="Arial"/>
              </a:rPr>
              <a:t>i</a:t>
            </a:r>
            <a:r>
              <a:rPr dirty="0" baseline="-11904" sz="1050" spc="97" i="1">
                <a:latin typeface="Calibri"/>
                <a:cs typeface="Calibri"/>
              </a:rPr>
              <a:t>,</a:t>
            </a:r>
            <a:r>
              <a:rPr dirty="0" baseline="-11904" sz="1050" spc="97" i="1">
                <a:latin typeface="Arial"/>
                <a:cs typeface="Arial"/>
              </a:rPr>
              <a:t>M</a:t>
            </a:r>
            <a:r>
              <a:rPr dirty="0" baseline="-11904" sz="1050" spc="30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31826" y="2531140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(13)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804642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21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2-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3516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76808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028636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4832" y="451712"/>
            <a:ext cx="4023995" cy="97091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50800" marR="4318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 </a:t>
            </a:r>
            <a:r>
              <a:rPr dirty="0" sz="1100" spc="-25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(FDEs)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using </a:t>
            </a:r>
            <a:r>
              <a:rPr dirty="0" sz="1100" spc="-45">
                <a:latin typeface="Tahoma"/>
                <a:cs typeface="Tahoma"/>
              </a:rPr>
              <a:t>Gauss-</a:t>
            </a:r>
            <a:r>
              <a:rPr dirty="0" sz="1100" spc="-10">
                <a:latin typeface="Tahoma"/>
                <a:cs typeface="Tahoma"/>
              </a:rPr>
              <a:t>Elimination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Method</a:t>
            </a:r>
            <a:endParaRPr sz="1100">
              <a:latin typeface="Tahoma"/>
              <a:cs typeface="Tahoma"/>
            </a:endParaRPr>
          </a:p>
          <a:p>
            <a:pPr marL="327660" marR="817880">
              <a:lnSpc>
                <a:spcPct val="100000"/>
              </a:lnSpc>
              <a:spcBef>
                <a:spcPts val="150"/>
              </a:spcBef>
              <a:tabLst>
                <a:tab pos="2403475" algn="l"/>
              </a:tabLst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equations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as: </a:t>
            </a: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first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interior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row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11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i="1">
                <a:latin typeface="Calibri"/>
                <a:cs typeface="Calibri"/>
              </a:rPr>
              <a:t>	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25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833880">
              <a:lnSpc>
                <a:spcPct val="100000"/>
              </a:lnSpc>
              <a:spcBef>
                <a:spcPts val="1160"/>
              </a:spcBef>
            </a:pP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0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9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9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16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15">
                <a:latin typeface="Tahoma"/>
                <a:cs typeface="Tahoma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1576" y="1396993"/>
            <a:ext cx="1800225" cy="5949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395"/>
              </a:spcBef>
            </a:pPr>
            <a:r>
              <a:rPr dirty="0" baseline="8333" sz="1500">
                <a:latin typeface="Lucida Sans Unicode"/>
                <a:cs typeface="Lucida Sans Unicode"/>
              </a:rPr>
              <a:t>−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89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2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4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9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16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22">
                <a:latin typeface="Tahoma"/>
                <a:cs typeface="Tahoma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  <a:p>
            <a:pPr algn="r" marR="30480">
              <a:lnSpc>
                <a:spcPct val="100000"/>
              </a:lnSpc>
              <a:spcBef>
                <a:spcPts val="295"/>
              </a:spcBef>
            </a:pPr>
            <a:r>
              <a:rPr dirty="0" baseline="8333" sz="1500">
                <a:latin typeface="Lucida Sans Unicode"/>
                <a:cs typeface="Lucida Sans Unicode"/>
              </a:rPr>
              <a:t>−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89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4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2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5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9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4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16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22">
                <a:latin typeface="Tahoma"/>
                <a:cs typeface="Tahoma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  <a:p>
            <a:pPr algn="r" marR="36830">
              <a:lnSpc>
                <a:spcPct val="100000"/>
              </a:lnSpc>
              <a:spcBef>
                <a:spcPts val="290"/>
              </a:spcBef>
            </a:pPr>
            <a:r>
              <a:rPr dirty="0" baseline="8333" sz="1500">
                <a:latin typeface="Lucida Sans Unicode"/>
                <a:cs typeface="Lucida Sans Unicode"/>
              </a:rPr>
              <a:t>−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4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82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5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0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2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5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15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15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1817" y="1512130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(14)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144217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67334" y="2060110"/>
            <a:ext cx="2868930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second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interior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row,</a:t>
            </a:r>
            <a:endParaRPr sz="1000">
              <a:latin typeface="Tahoma"/>
              <a:cs typeface="Tahoma"/>
            </a:endParaRPr>
          </a:p>
          <a:p>
            <a:pPr marL="1395095">
              <a:lnSpc>
                <a:spcPct val="100000"/>
              </a:lnSpc>
              <a:spcBef>
                <a:spcPts val="1005"/>
              </a:spcBef>
            </a:pPr>
            <a:r>
              <a:rPr dirty="0" baseline="8333" sz="1500">
                <a:latin typeface="Lucida Sans Unicode"/>
                <a:cs typeface="Lucida Sans Unicode"/>
              </a:rPr>
              <a:t>−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9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82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90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2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15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15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53463" y="2492191"/>
            <a:ext cx="1870075" cy="5759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395"/>
              </a:spcBef>
            </a:pPr>
            <a:r>
              <a:rPr dirty="0" baseline="8333" sz="1500">
                <a:latin typeface="Lucida Sans Unicode"/>
                <a:cs typeface="Lucida Sans Unicode"/>
              </a:rPr>
              <a:t>−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89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2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4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9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16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22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  <a:p>
            <a:pPr algn="r" marR="30480">
              <a:lnSpc>
                <a:spcPct val="100000"/>
              </a:lnSpc>
              <a:spcBef>
                <a:spcPts val="295"/>
              </a:spcBef>
            </a:pPr>
            <a:r>
              <a:rPr dirty="0" baseline="8333" sz="1500">
                <a:latin typeface="Lucida Sans Unicode"/>
                <a:cs typeface="Lucida Sans Unicode"/>
              </a:rPr>
              <a:t>−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+</a:t>
            </a:r>
            <a:r>
              <a:rPr dirty="0" baseline="8333" sz="1500" spc="-89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4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4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2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5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3</a:t>
            </a:r>
            <a:r>
              <a:rPr dirty="0" sz="700" spc="95">
                <a:latin typeface="Tahoma"/>
                <a:cs typeface="Tahoma"/>
              </a:rPr>
              <a:t> </a:t>
            </a:r>
            <a:r>
              <a:rPr dirty="0" baseline="8333" sz="1500" spc="-60">
                <a:latin typeface="Lucida Sans Unicode"/>
                <a:cs typeface="Lucida Sans Unicode"/>
              </a:rPr>
              <a:t>−</a:t>
            </a:r>
            <a:r>
              <a:rPr dirty="0" baseline="8333" sz="1500" spc="-89">
                <a:latin typeface="Lucida Sans Unicode"/>
                <a:cs typeface="Lucida Sans Unicode"/>
              </a:rPr>
              <a:t> </a:t>
            </a:r>
            <a:r>
              <a:rPr dirty="0" baseline="8333" sz="1500" i="1">
                <a:latin typeface="Arial"/>
                <a:cs typeface="Arial"/>
              </a:rPr>
              <a:t>T</a:t>
            </a:r>
            <a:r>
              <a:rPr dirty="0" sz="700">
                <a:latin typeface="Tahoma"/>
                <a:cs typeface="Tahoma"/>
              </a:rPr>
              <a:t>4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>
                <a:latin typeface="Tahoma"/>
                <a:cs typeface="Tahoma"/>
              </a:rPr>
              <a:t>2</a:t>
            </a:r>
            <a:r>
              <a:rPr dirty="0" sz="700" spc="160">
                <a:latin typeface="Tahoma"/>
                <a:cs typeface="Tahoma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22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  <a:p>
            <a:pPr algn="r" marR="30480">
              <a:lnSpc>
                <a:spcPct val="100000"/>
              </a:lnSpc>
              <a:spcBef>
                <a:spcPts val="14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4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>
                <a:latin typeface="Tahoma"/>
                <a:cs typeface="Tahoma"/>
              </a:rPr>
              <a:t>3</a:t>
            </a:r>
            <a:r>
              <a:rPr dirty="0" baseline="-11904" sz="1050" spc="14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4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5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>
                <a:latin typeface="Tahoma"/>
                <a:cs typeface="Tahoma"/>
              </a:rPr>
              <a:t>3</a:t>
            </a:r>
            <a:r>
              <a:rPr dirty="0" baseline="-11904" sz="1050" spc="142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5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>
                <a:latin typeface="Tahoma"/>
                <a:cs typeface="Tahoma"/>
              </a:rPr>
              <a:t>2</a:t>
            </a:r>
            <a:r>
              <a:rPr dirty="0" baseline="-11904" sz="1050" spc="2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4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1817" y="2607340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(15)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2-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842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344968"/>
            <a:ext cx="39719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FDEs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Gauss-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Elimination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Method,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592925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0034" y="508817"/>
            <a:ext cx="17037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form: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-75">
                <a:latin typeface="Tahoma"/>
                <a:cs typeface="Tahoma"/>
              </a:rPr>
              <a:t>[</a:t>
            </a:r>
            <a:r>
              <a:rPr dirty="0" sz="1000" spc="-75" i="1">
                <a:latin typeface="Arial"/>
                <a:cs typeface="Arial"/>
              </a:rPr>
              <a:t>A</a:t>
            </a:r>
            <a:r>
              <a:rPr dirty="0" sz="1000" spc="-75">
                <a:latin typeface="Tahoma"/>
                <a:cs typeface="Tahoma"/>
              </a:rPr>
              <a:t>][</a:t>
            </a:r>
            <a:r>
              <a:rPr dirty="0" sz="1000" spc="-75" i="1">
                <a:latin typeface="Arial"/>
                <a:cs typeface="Arial"/>
              </a:rPr>
              <a:t>x</a:t>
            </a:r>
            <a:r>
              <a:rPr dirty="0" sz="1000" spc="-190" i="1">
                <a:latin typeface="Arial"/>
                <a:cs typeface="Arial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[</a:t>
            </a:r>
            <a:r>
              <a:rPr dirty="0" sz="1000" spc="-30" i="1">
                <a:latin typeface="Arial"/>
                <a:cs typeface="Arial"/>
              </a:rPr>
              <a:t>b</a:t>
            </a:r>
            <a:r>
              <a:rPr dirty="0" sz="1000" spc="-30">
                <a:latin typeface="Tahoma"/>
                <a:cs typeface="Tahoma"/>
              </a:rPr>
              <a:t>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5815" y="1415445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815" y="149136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5815" y="1572341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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5815" y="838484"/>
            <a:ext cx="27178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6520">
              <a:lnSpc>
                <a:spcPts val="1080"/>
              </a:lnSpc>
              <a:spcBef>
                <a:spcPts val="95"/>
              </a:spcBef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5815" y="990313"/>
            <a:ext cx="22225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50">
              <a:lnSpc>
                <a:spcPts val="108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5815" y="1142141"/>
            <a:ext cx="22225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50">
              <a:lnSpc>
                <a:spcPts val="108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5116" y="1502742"/>
            <a:ext cx="1498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Tahoma"/>
                <a:cs typeface="Tahoma"/>
              </a:rPr>
              <a:t>3</a:t>
            </a:r>
            <a:r>
              <a:rPr dirty="0" sz="700" spc="-25" i="1">
                <a:latin typeface="Calibri"/>
                <a:cs typeface="Calibri"/>
              </a:rPr>
              <a:t>,</a:t>
            </a:r>
            <a:r>
              <a:rPr dirty="0" sz="700" spc="-25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0168" y="686656"/>
            <a:ext cx="2480310" cy="1240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617855">
              <a:lnSpc>
                <a:spcPts val="1200"/>
              </a:lnSpc>
              <a:spcBef>
                <a:spcPts val="95"/>
              </a:spcBef>
              <a:tabLst>
                <a:tab pos="337185" algn="l"/>
                <a:tab pos="625475" algn="l"/>
                <a:tab pos="864235" algn="l"/>
                <a:tab pos="1201420" algn="l"/>
                <a:tab pos="148971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6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r" marR="617855">
              <a:lnSpc>
                <a:spcPts val="1195"/>
              </a:lnSpc>
              <a:tabLst>
                <a:tab pos="238760" algn="l"/>
                <a:tab pos="575945" algn="l"/>
                <a:tab pos="864235" algn="l"/>
                <a:tab pos="1102995" algn="l"/>
                <a:tab pos="1440815" algn="l"/>
              </a:tabLst>
            </a:pPr>
            <a:r>
              <a:rPr dirty="0" sz="1000" spc="-50">
                <a:latin typeface="Tahoma"/>
                <a:cs typeface="Tahoma"/>
              </a:rPr>
              <a:t>4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35">
                <a:latin typeface="Lucida Sans Unicode"/>
                <a:cs typeface="Lucida Sans Unicode"/>
              </a:rPr>
              <a:t>−</a:t>
            </a:r>
            <a:r>
              <a:rPr dirty="0" sz="1000" spc="-3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r" marR="568960">
              <a:lnSpc>
                <a:spcPts val="1195"/>
              </a:lnSpc>
              <a:tabLst>
                <a:tab pos="337185" algn="l"/>
                <a:tab pos="575945" algn="l"/>
                <a:tab pos="913130" algn="l"/>
                <a:tab pos="1201420" algn="l"/>
                <a:tab pos="1440815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60">
                <a:latin typeface="Tahoma"/>
                <a:cs typeface="Tahoma"/>
              </a:rPr>
              <a:t>4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algn="r" marR="617855">
              <a:lnSpc>
                <a:spcPts val="1195"/>
              </a:lnSpc>
              <a:tabLst>
                <a:tab pos="238760" algn="l"/>
                <a:tab pos="575945" algn="l"/>
                <a:tab pos="864235" algn="l"/>
                <a:tab pos="1152525" algn="l"/>
                <a:tab pos="144081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35">
                <a:latin typeface="Lucida Sans Unicode"/>
                <a:cs typeface="Lucida Sans Unicode"/>
              </a:rPr>
              <a:t>−</a:t>
            </a:r>
            <a:r>
              <a:rPr dirty="0" sz="1000" spc="-3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r" marR="617855">
              <a:lnSpc>
                <a:spcPts val="1195"/>
              </a:lnSpc>
              <a:tabLst>
                <a:tab pos="337185" algn="l"/>
                <a:tab pos="625475" algn="l"/>
                <a:tab pos="913130" algn="l"/>
                <a:tab pos="1201420" algn="l"/>
                <a:tab pos="1440815" algn="l"/>
                <a:tab pos="177800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6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61594">
              <a:lnSpc>
                <a:spcPts val="1195"/>
              </a:lnSpc>
              <a:tabLst>
                <a:tab pos="300355" algn="l"/>
                <a:tab pos="638175" algn="l"/>
                <a:tab pos="926465" algn="l"/>
                <a:tab pos="1165225" algn="l"/>
                <a:tab pos="1502410" algn="l"/>
                <a:tab pos="1741805" algn="l"/>
                <a:tab pos="2078989" algn="l"/>
                <a:tab pos="238125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61594">
              <a:lnSpc>
                <a:spcPts val="1195"/>
              </a:lnSpc>
              <a:tabLst>
                <a:tab pos="349885" algn="l"/>
                <a:tab pos="588645" algn="l"/>
                <a:tab pos="925830" algn="l"/>
                <a:tab pos="1214120" algn="l"/>
                <a:tab pos="1453515" algn="l"/>
                <a:tab pos="1790700" algn="l"/>
                <a:tab pos="2029460" algn="l"/>
                <a:tab pos="238125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61594">
              <a:lnSpc>
                <a:spcPts val="1200"/>
              </a:lnSpc>
              <a:tabLst>
                <a:tab pos="349885" algn="l"/>
                <a:tab pos="638175" algn="l"/>
                <a:tab pos="876935" algn="l"/>
                <a:tab pos="1214120" algn="l"/>
                <a:tab pos="1502410" algn="l"/>
                <a:tab pos="1741805" algn="l"/>
                <a:tab pos="2078989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5116" y="1654571"/>
            <a:ext cx="1498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Tahoma"/>
                <a:cs typeface="Tahoma"/>
              </a:rPr>
              <a:t>4</a:t>
            </a:r>
            <a:r>
              <a:rPr dirty="0" sz="700" spc="-25" i="1">
                <a:latin typeface="Calibri"/>
                <a:cs typeface="Calibri"/>
              </a:rPr>
              <a:t>,</a:t>
            </a:r>
            <a:r>
              <a:rPr dirty="0" sz="700" spc="-25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33610" y="1768454"/>
            <a:ext cx="2870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-30" i="1">
                <a:latin typeface="Arial"/>
                <a:cs typeface="Arial"/>
              </a:rPr>
              <a:t>T</a:t>
            </a:r>
            <a:r>
              <a:rPr dirty="0" sz="700" spc="-20">
                <a:latin typeface="Tahoma"/>
                <a:cs typeface="Tahoma"/>
              </a:rPr>
              <a:t>5</a:t>
            </a:r>
            <a:r>
              <a:rPr dirty="0" sz="700" spc="-20" i="1">
                <a:latin typeface="Calibri"/>
                <a:cs typeface="Calibri"/>
              </a:rPr>
              <a:t>,</a:t>
            </a:r>
            <a:r>
              <a:rPr dirty="0" sz="700" spc="-2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31390" y="857471"/>
            <a:ext cx="932815" cy="203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705"/>
              </a:lnSpc>
              <a:spcBef>
                <a:spcPts val="95"/>
              </a:spcBef>
              <a:tabLst>
                <a:tab pos="339725" algn="l"/>
              </a:tabLst>
            </a:pPr>
            <a:r>
              <a:rPr dirty="0" baseline="8333" sz="1500" spc="-75">
                <a:latin typeface="Tahoma"/>
                <a:cs typeface="Tahoma"/>
              </a:rPr>
              <a:t>0</a:t>
            </a:r>
            <a:r>
              <a:rPr dirty="0" baseline="8333" sz="1500">
                <a:latin typeface="Tahoma"/>
                <a:cs typeface="Tahoma"/>
              </a:rPr>
              <a:t>	</a:t>
            </a:r>
            <a:r>
              <a:rPr dirty="0" baseline="8333" sz="1500" spc="-30" i="1">
                <a:latin typeface="Arial"/>
                <a:cs typeface="Arial"/>
              </a:rPr>
              <a:t>T</a:t>
            </a:r>
            <a:r>
              <a:rPr dirty="0" sz="700" spc="-20">
                <a:latin typeface="Tahoma"/>
                <a:cs typeface="Tahoma"/>
              </a:rPr>
              <a:t>3</a:t>
            </a:r>
            <a:r>
              <a:rPr dirty="0" sz="700" spc="-20" i="1">
                <a:latin typeface="Calibri"/>
                <a:cs typeface="Calibri"/>
              </a:rPr>
              <a:t>,</a:t>
            </a:r>
            <a:r>
              <a:rPr dirty="0" sz="700" spc="-2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  <a:p>
            <a:pPr marL="150495">
              <a:lnSpc>
                <a:spcPts val="705"/>
              </a:lnSpc>
              <a:tabLst>
                <a:tab pos="556260" algn="l"/>
                <a:tab pos="80962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31367" y="1009299"/>
            <a:ext cx="932815" cy="203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705"/>
              </a:lnSpc>
              <a:spcBef>
                <a:spcPts val="95"/>
              </a:spcBef>
              <a:tabLst>
                <a:tab pos="339725" algn="l"/>
              </a:tabLst>
            </a:pPr>
            <a:r>
              <a:rPr dirty="0" baseline="8333" sz="1500" spc="-75">
                <a:latin typeface="Tahoma"/>
                <a:cs typeface="Tahoma"/>
              </a:rPr>
              <a:t>0</a:t>
            </a:r>
            <a:r>
              <a:rPr dirty="0" baseline="8333" sz="1500">
                <a:latin typeface="Tahoma"/>
                <a:cs typeface="Tahoma"/>
              </a:rPr>
              <a:t>	</a:t>
            </a:r>
            <a:r>
              <a:rPr dirty="0" baseline="8333" sz="1500" spc="-30" i="1">
                <a:latin typeface="Arial"/>
                <a:cs typeface="Arial"/>
              </a:rPr>
              <a:t>T</a:t>
            </a:r>
            <a:r>
              <a:rPr dirty="0" sz="700" spc="-20">
                <a:latin typeface="Tahoma"/>
                <a:cs typeface="Tahoma"/>
              </a:rPr>
              <a:t>4</a:t>
            </a:r>
            <a:r>
              <a:rPr dirty="0" sz="700" spc="-20" i="1">
                <a:latin typeface="Calibri"/>
                <a:cs typeface="Calibri"/>
              </a:rPr>
              <a:t>,</a:t>
            </a:r>
            <a:r>
              <a:rPr dirty="0" sz="700" spc="-2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  <a:p>
            <a:pPr marL="150495">
              <a:lnSpc>
                <a:spcPts val="705"/>
              </a:lnSpc>
              <a:tabLst>
                <a:tab pos="556260" algn="l"/>
                <a:tab pos="80962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82150" y="1142141"/>
            <a:ext cx="98171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780"/>
              </a:lnSpc>
              <a:spcBef>
                <a:spcPts val="95"/>
              </a:spcBef>
              <a:tabLst>
                <a:tab pos="389255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baseline="-11904" sz="1050" spc="-30">
                <a:latin typeface="Tahoma"/>
                <a:cs typeface="Tahoma"/>
              </a:rPr>
              <a:t>5</a:t>
            </a:r>
            <a:r>
              <a:rPr dirty="0" baseline="-11904" sz="1050" spc="-30" i="1">
                <a:latin typeface="Calibri"/>
                <a:cs typeface="Calibri"/>
              </a:rPr>
              <a:t>,</a:t>
            </a:r>
            <a:r>
              <a:rPr dirty="0" baseline="-11904" sz="1050" spc="-30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  <a:p>
            <a:pPr marL="199390">
              <a:lnSpc>
                <a:spcPts val="780"/>
              </a:lnSpc>
              <a:tabLst>
                <a:tab pos="605790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20">
                <a:latin typeface="Lucida Sans Unicode"/>
                <a:cs typeface="Lucida Sans Unicode"/>
              </a:rPr>
              <a:t> </a:t>
            </a:r>
            <a:r>
              <a:rPr dirty="0" baseline="-13888" sz="1500">
                <a:latin typeface="Tahoma"/>
                <a:cs typeface="Tahoma"/>
              </a:rPr>
              <a:t>=</a:t>
            </a:r>
            <a:r>
              <a:rPr dirty="0" baseline="-13888" sz="1500" spc="-22">
                <a:latin typeface="Tahoma"/>
                <a:cs typeface="Tahoma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31390" y="1312956"/>
            <a:ext cx="932815" cy="203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705"/>
              </a:lnSpc>
              <a:spcBef>
                <a:spcPts val="95"/>
              </a:spcBef>
              <a:tabLst>
                <a:tab pos="339725" algn="l"/>
              </a:tabLst>
            </a:pPr>
            <a:r>
              <a:rPr dirty="0" baseline="8333" sz="1500" spc="-75">
                <a:latin typeface="Tahoma"/>
                <a:cs typeface="Tahoma"/>
              </a:rPr>
              <a:t>0</a:t>
            </a:r>
            <a:r>
              <a:rPr dirty="0" baseline="8333" sz="1500">
                <a:latin typeface="Tahoma"/>
                <a:cs typeface="Tahoma"/>
              </a:rPr>
              <a:t>	</a:t>
            </a:r>
            <a:r>
              <a:rPr dirty="0" baseline="8333" sz="1500" spc="-30" i="1">
                <a:latin typeface="Arial"/>
                <a:cs typeface="Arial"/>
              </a:rPr>
              <a:t>T</a:t>
            </a:r>
            <a:r>
              <a:rPr dirty="0" sz="700" spc="-20">
                <a:latin typeface="Tahoma"/>
                <a:cs typeface="Tahoma"/>
              </a:rPr>
              <a:t>2</a:t>
            </a:r>
            <a:r>
              <a:rPr dirty="0" sz="700" spc="-20" i="1">
                <a:latin typeface="Calibri"/>
                <a:cs typeface="Calibri"/>
              </a:rPr>
              <a:t>,</a:t>
            </a:r>
            <a:r>
              <a:rPr dirty="0" sz="700" spc="-2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  <a:p>
            <a:pPr marL="150495">
              <a:lnSpc>
                <a:spcPts val="705"/>
              </a:lnSpc>
              <a:tabLst>
                <a:tab pos="556260" algn="l"/>
                <a:tab pos="80962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69221" y="1491366"/>
            <a:ext cx="769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8465" algn="l"/>
                <a:tab pos="671830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40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9221" y="1572341"/>
            <a:ext cx="769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8465" algn="l"/>
                <a:tab pos="671830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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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400">
                <a:latin typeface="Lucida Sans Unicode"/>
                <a:cs typeface="Lucida Sans Unicode"/>
              </a:rPr>
              <a:t>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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34663" y="686656"/>
            <a:ext cx="209550" cy="1088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0">
              <a:lnSpc>
                <a:spcPts val="12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ctr" marL="6350">
              <a:lnSpc>
                <a:spcPts val="1195"/>
              </a:lnSpc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ctr" marL="6350">
              <a:lnSpc>
                <a:spcPts val="1195"/>
              </a:lnSpc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algn="just" marL="38100" marR="30480">
              <a:lnSpc>
                <a:spcPts val="1200"/>
              </a:lnSpc>
              <a:spcBef>
                <a:spcPts val="40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r>
              <a:rPr dirty="0" baseline="-11904" sz="1050" spc="75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r>
              <a:rPr dirty="0" baseline="-11904" sz="1050" spc="75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r>
              <a:rPr dirty="0" baseline="-11904" sz="1050" spc="75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87597" y="1749468"/>
            <a:ext cx="5035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1</a:t>
            </a:r>
            <a:r>
              <a:rPr dirty="0" baseline="-11904" sz="1050" spc="14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5015" y="585424"/>
            <a:ext cx="3627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2214245" algn="l"/>
                <a:tab pos="2985770" algn="l"/>
                <a:tab pos="3503929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</a:t>
            </a:r>
            <a:r>
              <a:rPr dirty="0" sz="1000" spc="70">
                <a:latin typeface="Lucida Sans Unicode"/>
                <a:cs typeface="Lucida Sans Unicode"/>
              </a:rPr>
              <a:t> </a:t>
            </a:r>
            <a:r>
              <a:rPr dirty="0" baseline="-44444" sz="1500" spc="-75">
                <a:latin typeface="Tahoma"/>
                <a:cs typeface="Tahoma"/>
              </a:rPr>
              <a:t>4</a:t>
            </a:r>
            <a:r>
              <a:rPr dirty="0" baseline="-44444" sz="1500">
                <a:latin typeface="Tahoma"/>
                <a:cs typeface="Tahoma"/>
              </a:rPr>
              <a:t>	0</a:t>
            </a:r>
            <a:r>
              <a:rPr dirty="0" baseline="-44444" sz="1500" spc="30">
                <a:latin typeface="Tahoma"/>
                <a:cs typeface="Tahoma"/>
              </a:rPr>
              <a:t> </a:t>
            </a:r>
            <a:r>
              <a:rPr dirty="0" sz="1000" spc="-340">
                <a:latin typeface="Lucida Sans Unicode"/>
                <a:cs typeface="Lucida Sans Unicode"/>
              </a:rPr>
              <a:t>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10">
                <a:latin typeface="Lucida Sans Unicode"/>
                <a:cs typeface="Lucida Sans Unicode"/>
              </a:rPr>
              <a:t></a:t>
            </a:r>
            <a:r>
              <a:rPr dirty="0" baseline="-44444" sz="1500" spc="-15" i="1">
                <a:latin typeface="Arial"/>
                <a:cs typeface="Arial"/>
              </a:rPr>
              <a:t>T</a:t>
            </a:r>
            <a:r>
              <a:rPr dirty="0" baseline="-75396" sz="1050" spc="-15">
                <a:latin typeface="Tahoma"/>
                <a:cs typeface="Tahoma"/>
              </a:rPr>
              <a:t>2</a:t>
            </a:r>
            <a:r>
              <a:rPr dirty="0" baseline="-75396" sz="1050" spc="-15" i="1">
                <a:latin typeface="Calibri"/>
                <a:cs typeface="Calibri"/>
              </a:rPr>
              <a:t>,</a:t>
            </a:r>
            <a:r>
              <a:rPr dirty="0" baseline="-75396" sz="1050" spc="-15">
                <a:latin typeface="Tahoma"/>
                <a:cs typeface="Tahoma"/>
              </a:rPr>
              <a:t>2</a:t>
            </a:r>
            <a:r>
              <a:rPr dirty="0" sz="1000" spc="-10">
                <a:latin typeface="Lucida Sans Unicode"/>
                <a:cs typeface="Lucida Sans Unicode"/>
              </a:rPr>
              <a:t>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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46613" y="884039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6613" y="103586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46613" y="118769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46613" y="1339525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46613" y="149136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46613" y="1572341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</a:t>
            </a:r>
            <a:endParaRPr sz="1000">
              <a:latin typeface="Lucida Sans Unicode"/>
              <a:cs typeface="Lucida Sans Unicode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034870"/>
            <a:ext cx="52590" cy="5259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366354" y="2280429"/>
            <a:ext cx="51054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6520">
              <a:lnSpc>
                <a:spcPts val="1080"/>
              </a:lnSpc>
              <a:spcBef>
                <a:spcPts val="95"/>
              </a:spcBef>
              <a:tabLst>
                <a:tab pos="43434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653218" y="2280429"/>
            <a:ext cx="2578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692734" y="1974156"/>
          <a:ext cx="34925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345"/>
                <a:gridCol w="335915"/>
                <a:gridCol w="288290"/>
                <a:gridCol w="314960"/>
                <a:gridCol w="261619"/>
                <a:gridCol w="288289"/>
                <a:gridCol w="690880"/>
              </a:tblGrid>
              <a:tr h="337185"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augmented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matrix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68580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1058545" algn="l"/>
                        </a:tabLst>
                      </a:pPr>
                      <a:r>
                        <a:rPr dirty="0" baseline="44444" sz="1500" spc="-509">
                          <a:latin typeface="Lucida Sans Unicode"/>
                          <a:cs typeface="Lucida Sans Unicode"/>
                        </a:rPr>
                        <a:t></a:t>
                      </a:r>
                      <a:r>
                        <a:rPr dirty="0" baseline="44444" sz="1500" spc="104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5240">
                        <a:lnSpc>
                          <a:spcPts val="1110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is:</a:t>
                      </a:r>
                      <a:r>
                        <a:rPr dirty="0" sz="10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[</a:t>
                      </a:r>
                      <a:r>
                        <a:rPr dirty="0" sz="1000" spc="-85" i="1">
                          <a:latin typeface="Arial"/>
                          <a:cs typeface="Arial"/>
                        </a:rPr>
                        <a:t>A</a:t>
                      </a:r>
                      <a:r>
                        <a:rPr dirty="0" baseline="27777" sz="1050" spc="-127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]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[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447675" algn="l"/>
                        </a:tabLst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8575">
                        <a:lnSpc>
                          <a:spcPts val="1110"/>
                        </a:lnSpc>
                      </a:pPr>
                      <a:r>
                        <a:rPr dirty="0" sz="1000" i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000" spc="-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70" i="1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]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 marR="184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18415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7465">
                        <a:lnSpc>
                          <a:spcPct val="100000"/>
                        </a:lnSpc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0320"/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39700">
                <a:tc>
                  <a:txBody>
                    <a:bodyPr/>
                    <a:lstStyle/>
                    <a:p>
                      <a:pPr marL="819785">
                        <a:lnSpc>
                          <a:spcPts val="1000"/>
                        </a:lnSpc>
                        <a:tabLst>
                          <a:tab pos="1058545" algn="l"/>
                        </a:tabLst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7465">
                        <a:lnSpc>
                          <a:spcPts val="1000"/>
                        </a:lnSpc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956627" y="2584099"/>
            <a:ext cx="657860" cy="254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30480">
              <a:lnSpc>
                <a:spcPts val="905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905"/>
              </a:lnSpc>
            </a:pPr>
            <a:r>
              <a:rPr dirty="0" sz="1000" spc="-85">
                <a:latin typeface="Tahoma"/>
                <a:cs typeface="Tahoma"/>
              </a:rPr>
              <a:t>[</a:t>
            </a:r>
            <a:r>
              <a:rPr dirty="0" sz="1000" spc="-85" i="1">
                <a:latin typeface="Arial"/>
                <a:cs typeface="Arial"/>
              </a:rPr>
              <a:t>A</a:t>
            </a:r>
            <a:r>
              <a:rPr dirty="0" baseline="31746" sz="1050" spc="-127">
                <a:latin typeface="Lucida Sans Unicode"/>
                <a:cs typeface="Lucida Sans Unicode"/>
              </a:rPr>
              <a:t>∗</a:t>
            </a:r>
            <a:r>
              <a:rPr dirty="0" sz="1000" spc="-85">
                <a:latin typeface="Tahoma"/>
                <a:cs typeface="Tahoma"/>
              </a:rPr>
              <a:t>]</a:t>
            </a:r>
            <a:r>
              <a:rPr dirty="0" sz="1000">
                <a:latin typeface="Tahoma"/>
                <a:cs typeface="Tahoma"/>
              </a:rPr>
              <a:t> =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baseline="13888" sz="1500" spc="-585">
                <a:latin typeface="Lucida Sans Unicode"/>
                <a:cs typeface="Lucida Sans Unicode"/>
              </a:rPr>
              <a:t></a:t>
            </a:r>
            <a:endParaRPr baseline="13888" sz="15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66354" y="2735928"/>
            <a:ext cx="27178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6520">
              <a:lnSpc>
                <a:spcPts val="1080"/>
              </a:lnSpc>
              <a:spcBef>
                <a:spcPts val="95"/>
              </a:spcBef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40543" y="2584099"/>
            <a:ext cx="476884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 i="1">
                <a:latin typeface="Arial"/>
                <a:cs typeface="Arial"/>
              </a:rPr>
              <a:t>T</a:t>
            </a:r>
            <a:r>
              <a:rPr dirty="0" baseline="-11904" sz="1050" spc="-52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  <a:p>
            <a:pPr marL="86995">
              <a:lnSpc>
                <a:spcPts val="1200"/>
              </a:lnSpc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40954" y="2933311"/>
            <a:ext cx="273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670">
                <a:latin typeface="Lucida Sans Unicode"/>
                <a:cs typeface="Lucida Sans Unicode"/>
              </a:rPr>
              <a:t></a:t>
            </a:r>
            <a:r>
              <a:rPr dirty="0" baseline="-36111" sz="1500" spc="-1005">
                <a:latin typeface="Lucida Sans Unicode"/>
                <a:cs typeface="Lucida Sans Unicode"/>
              </a:rPr>
              <a:t></a:t>
            </a:r>
            <a:r>
              <a:rPr dirty="0" baseline="-36111" sz="1500" spc="104">
                <a:latin typeface="Lucida Sans Unicode"/>
                <a:cs typeface="Lucida Sans Unicode"/>
              </a:rPr>
              <a:t> </a:t>
            </a:r>
            <a:r>
              <a:rPr dirty="0" baseline="-47222" sz="1500" spc="-75">
                <a:latin typeface="Tahoma"/>
                <a:cs typeface="Tahoma"/>
              </a:rPr>
              <a:t>0</a:t>
            </a:r>
            <a:endParaRPr baseline="-47222" sz="15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40543" y="3039585"/>
            <a:ext cx="47688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 i="1">
                <a:latin typeface="Arial"/>
                <a:cs typeface="Arial"/>
              </a:rPr>
              <a:t>T</a:t>
            </a:r>
            <a:r>
              <a:rPr dirty="0" baseline="-11904" sz="1050" spc="-52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994727" y="2603127"/>
          <a:ext cx="3249930" cy="767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3420"/>
                <a:gridCol w="288289"/>
                <a:gridCol w="288290"/>
                <a:gridCol w="288290"/>
                <a:gridCol w="288290"/>
                <a:gridCol w="288289"/>
                <a:gridCol w="224789"/>
                <a:gridCol w="813434"/>
              </a:tblGrid>
              <a:tr h="1682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r" marR="104775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015"/>
                        </a:lnSpc>
                      </a:pPr>
                      <a:r>
                        <a:rPr dirty="0" sz="1000" spc="-7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ts val="1015"/>
                        </a:lnSpc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spc="-37">
                          <a:latin typeface="Tahoma"/>
                          <a:cs typeface="Tahoma"/>
                        </a:rPr>
                        <a:t>2</a:t>
                      </a:r>
                      <a:endParaRPr baseline="-11904" sz="1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4145">
                <a:tc>
                  <a:txBody>
                    <a:bodyPr/>
                    <a:lstStyle/>
                    <a:p>
                      <a:pPr algn="r" marR="104775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015"/>
                        </a:lnSpc>
                      </a:pPr>
                      <a:r>
                        <a:rPr dirty="0" sz="1000" spc="-7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ts val="1015"/>
                        </a:lnSpc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>
                          <a:latin typeface="Tahoma"/>
                          <a:cs typeface="Tahoma"/>
                        </a:rPr>
                        <a:t>1</a:t>
                      </a:r>
                      <a:r>
                        <a:rPr dirty="0" baseline="-11904" sz="1050" spc="10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-7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spc="-37">
                          <a:latin typeface="Tahoma"/>
                          <a:cs typeface="Tahoma"/>
                        </a:rPr>
                        <a:t>2</a:t>
                      </a:r>
                      <a:endParaRPr baseline="-11904" sz="1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4070400" y="2027382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70400" y="2401892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70400" y="2629641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70400" y="2857390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45000" y="2933311"/>
            <a:ext cx="1606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695">
                <a:latin typeface="Lucida Sans Unicode"/>
                <a:cs typeface="Lucida Sans Unicode"/>
              </a:rPr>
              <a:t></a:t>
            </a:r>
            <a:r>
              <a:rPr dirty="0" baseline="-36111" sz="1500" spc="-1042">
                <a:latin typeface="Lucida Sans Unicode"/>
                <a:cs typeface="Lucida Sans Unicode"/>
              </a:rPr>
              <a:t></a:t>
            </a:r>
            <a:endParaRPr baseline="-36111"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2-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993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931748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66354" y="154282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708" y="1421363"/>
            <a:ext cx="245999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  <a:tabLst>
                <a:tab pos="221488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61594">
              <a:lnSpc>
                <a:spcPts val="1200"/>
              </a:lnSpc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19846" y="1212647"/>
          <a:ext cx="2465070" cy="530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540"/>
                <a:gridCol w="288290"/>
                <a:gridCol w="288289"/>
                <a:gridCol w="288290"/>
                <a:gridCol w="288290"/>
                <a:gridCol w="288289"/>
                <a:gridCol w="690880"/>
              </a:tblGrid>
              <a:tr h="239395"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algn="ctr" marL="374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215"/>
                </a:tc>
              </a:tr>
              <a:tr h="151765">
                <a:tc>
                  <a:txBody>
                    <a:bodyPr/>
                    <a:lstStyle/>
                    <a:p>
                      <a:pPr algn="ctr" marR="2349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39700">
                <a:tc>
                  <a:txBody>
                    <a:bodyPr/>
                    <a:lstStyle/>
                    <a:p>
                      <a:pPr algn="ctr" marR="23495">
                        <a:lnSpc>
                          <a:spcPts val="100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7465">
                        <a:lnSpc>
                          <a:spcPts val="1000"/>
                        </a:lnSpc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56627" y="1725033"/>
            <a:ext cx="657860" cy="254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30480">
              <a:lnSpc>
                <a:spcPts val="905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905"/>
              </a:lnSpc>
            </a:pPr>
            <a:r>
              <a:rPr dirty="0" sz="1000" spc="-85">
                <a:latin typeface="Tahoma"/>
                <a:cs typeface="Tahoma"/>
              </a:rPr>
              <a:t>[</a:t>
            </a:r>
            <a:r>
              <a:rPr dirty="0" sz="1000" spc="-85" i="1">
                <a:latin typeface="Arial"/>
                <a:cs typeface="Arial"/>
              </a:rPr>
              <a:t>A</a:t>
            </a:r>
            <a:r>
              <a:rPr dirty="0" baseline="31746" sz="1050" spc="-127">
                <a:latin typeface="Lucida Sans Unicode"/>
                <a:cs typeface="Lucida Sans Unicode"/>
              </a:rPr>
              <a:t>∗</a:t>
            </a:r>
            <a:r>
              <a:rPr dirty="0" sz="1000" spc="-85">
                <a:latin typeface="Tahoma"/>
                <a:cs typeface="Tahoma"/>
              </a:rPr>
              <a:t>]</a:t>
            </a:r>
            <a:r>
              <a:rPr dirty="0" sz="1000">
                <a:latin typeface="Tahoma"/>
                <a:cs typeface="Tahoma"/>
              </a:rPr>
              <a:t> =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baseline="13888" sz="1500" spc="-585">
                <a:latin typeface="Lucida Sans Unicode"/>
                <a:cs typeface="Lucida Sans Unicode"/>
              </a:rPr>
              <a:t></a:t>
            </a:r>
            <a:endParaRPr baseline="13888" sz="15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6354" y="1876861"/>
            <a:ext cx="27178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6520">
              <a:lnSpc>
                <a:spcPts val="1080"/>
              </a:lnSpc>
              <a:spcBef>
                <a:spcPts val="95"/>
              </a:spcBef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0543" y="1725033"/>
            <a:ext cx="476884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 i="1">
                <a:latin typeface="Arial"/>
                <a:cs typeface="Arial"/>
              </a:rPr>
              <a:t>T</a:t>
            </a:r>
            <a:r>
              <a:rPr dirty="0" baseline="-11904" sz="1050" spc="-52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  <a:p>
            <a:pPr marL="86995">
              <a:lnSpc>
                <a:spcPts val="1200"/>
              </a:lnSpc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0954" y="2074245"/>
            <a:ext cx="273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670">
                <a:latin typeface="Lucida Sans Unicode"/>
                <a:cs typeface="Lucida Sans Unicode"/>
              </a:rPr>
              <a:t></a:t>
            </a:r>
            <a:r>
              <a:rPr dirty="0" baseline="-36111" sz="1500" spc="-1005">
                <a:latin typeface="Lucida Sans Unicode"/>
                <a:cs typeface="Lucida Sans Unicode"/>
              </a:rPr>
              <a:t></a:t>
            </a:r>
            <a:r>
              <a:rPr dirty="0" baseline="-36111" sz="1500" spc="104">
                <a:latin typeface="Lucida Sans Unicode"/>
                <a:cs typeface="Lucida Sans Unicode"/>
              </a:rPr>
              <a:t> </a:t>
            </a:r>
            <a:r>
              <a:rPr dirty="0" baseline="-47222" sz="1500" spc="-75">
                <a:latin typeface="Tahoma"/>
                <a:cs typeface="Tahoma"/>
              </a:rPr>
              <a:t>0</a:t>
            </a:r>
            <a:endParaRPr baseline="-47222" sz="15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0543" y="2180519"/>
            <a:ext cx="47688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 spc="-50">
                <a:latin typeface="Tahoma"/>
                <a:cs typeface="Tahoma"/>
              </a:rPr>
              <a:t>1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 i="1">
                <a:latin typeface="Arial"/>
                <a:cs typeface="Arial"/>
              </a:rPr>
              <a:t>T</a:t>
            </a:r>
            <a:r>
              <a:rPr dirty="0" baseline="-11904" sz="1050" spc="-52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994727" y="1744061"/>
          <a:ext cx="3190240" cy="767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3420"/>
                <a:gridCol w="288289"/>
                <a:gridCol w="288290"/>
                <a:gridCol w="288290"/>
                <a:gridCol w="288290"/>
                <a:gridCol w="288289"/>
                <a:gridCol w="288289"/>
                <a:gridCol w="690880"/>
              </a:tblGrid>
              <a:tr h="1682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r" marR="104775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015"/>
                        </a:lnSpc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spc="-37">
                          <a:latin typeface="Tahoma"/>
                          <a:cs typeface="Tahoma"/>
                        </a:rPr>
                        <a:t>2</a:t>
                      </a:r>
                      <a:endParaRPr baseline="-11904" sz="1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4145">
                <a:tc>
                  <a:txBody>
                    <a:bodyPr/>
                    <a:lstStyle/>
                    <a:p>
                      <a:pPr algn="r" marR="104775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015"/>
                        </a:lnSpc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>
                          <a:latin typeface="Tahoma"/>
                          <a:cs typeface="Tahoma"/>
                        </a:rPr>
                        <a:t>1</a:t>
                      </a:r>
                      <a:r>
                        <a:rPr dirty="0" baseline="-11904" sz="1050" spc="10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-7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904" sz="1050" spc="-37">
                          <a:latin typeface="Tahoma"/>
                          <a:cs typeface="Tahoma"/>
                        </a:rPr>
                        <a:t>2</a:t>
                      </a:r>
                      <a:endParaRPr baseline="-11904" sz="1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77532" y="586484"/>
            <a:ext cx="3977004" cy="759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 </a:t>
            </a:r>
            <a:r>
              <a:rPr dirty="0" sz="1100">
                <a:latin typeface="Tahoma"/>
                <a:cs typeface="Tahoma"/>
              </a:rPr>
              <a:t>FDEs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Gauss-</a:t>
            </a:r>
            <a:r>
              <a:rPr dirty="0" sz="1100" spc="-25">
                <a:latin typeface="Tahoma"/>
                <a:cs typeface="Tahoma"/>
              </a:rPr>
              <a:t>Elimination</a:t>
            </a:r>
            <a:r>
              <a:rPr dirty="0" sz="1100" spc="-10">
                <a:latin typeface="Tahoma"/>
                <a:cs typeface="Tahoma"/>
              </a:rPr>
              <a:t> Method, Contd...</a:t>
            </a:r>
            <a:endParaRPr sz="1100">
              <a:latin typeface="Tahoma"/>
              <a:cs typeface="Tahoma"/>
            </a:endParaRPr>
          </a:p>
          <a:p>
            <a:pPr marL="314960" marR="144780">
              <a:lnSpc>
                <a:spcPct val="100000"/>
              </a:lnSpc>
              <a:spcBef>
                <a:spcPts val="740"/>
              </a:spcBef>
            </a:pP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1:</a:t>
            </a:r>
            <a:r>
              <a:rPr dirty="0" sz="1000" spc="90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Forward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elimination: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0">
                <a:latin typeface="Tahoma"/>
                <a:cs typeface="Tahoma"/>
              </a:rPr>
              <a:t> convert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augmented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is </a:t>
            </a:r>
            <a:r>
              <a:rPr dirty="0" sz="1000" spc="-40">
                <a:latin typeface="Tahoma"/>
                <a:cs typeface="Tahoma"/>
              </a:rPr>
              <a:t>transformed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5" b="1">
                <a:latin typeface="Arial"/>
                <a:cs typeface="Arial"/>
              </a:rPr>
              <a:t>upper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triangular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form</a:t>
            </a:r>
            <a:endParaRPr sz="1000">
              <a:latin typeface="Arial"/>
              <a:cs typeface="Arial"/>
            </a:endParaRPr>
          </a:p>
          <a:p>
            <a:pPr marL="1001394">
              <a:lnSpc>
                <a:spcPct val="100000"/>
              </a:lnSpc>
              <a:spcBef>
                <a:spcPts val="125"/>
              </a:spcBef>
              <a:tabLst>
                <a:tab pos="370522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</a:t>
            </a:r>
            <a:r>
              <a:rPr dirty="0" sz="1000" spc="70">
                <a:latin typeface="Lucida Sans Unicode"/>
                <a:cs typeface="Lucida Sans Unicode"/>
              </a:rPr>
              <a:t> </a:t>
            </a:r>
            <a:r>
              <a:rPr dirty="0" baseline="-44444" sz="1500" spc="-75">
                <a:latin typeface="Tahoma"/>
                <a:cs typeface="Tahoma"/>
              </a:rPr>
              <a:t>4</a:t>
            </a:r>
            <a:r>
              <a:rPr dirty="0" baseline="-44444" sz="1500">
                <a:latin typeface="Tahoma"/>
                <a:cs typeface="Tahoma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70400" y="154282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70400" y="1770575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70400" y="199832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45000" y="2074245"/>
            <a:ext cx="1606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695">
                <a:latin typeface="Lucida Sans Unicode"/>
                <a:cs typeface="Lucida Sans Unicode"/>
              </a:rPr>
              <a:t></a:t>
            </a:r>
            <a:r>
              <a:rPr dirty="0" baseline="-36111" sz="1500" spc="-1042">
                <a:latin typeface="Lucida Sans Unicode"/>
                <a:cs typeface="Lucida Sans Unicode"/>
              </a:rPr>
              <a:t></a:t>
            </a:r>
            <a:endParaRPr baseline="-36111" sz="1500">
              <a:latin typeface="Lucida Sans Unicode"/>
              <a:cs typeface="Lucida Sans Unicode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825026"/>
            <a:ext cx="52590" cy="5259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80034" y="2740919"/>
            <a:ext cx="376872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Step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Backward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substitution:</a:t>
            </a:r>
            <a:r>
              <a:rPr dirty="0" sz="1000" spc="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obtain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final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nodal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temperature </a:t>
            </a:r>
            <a:r>
              <a:rPr dirty="0" sz="1000" spc="-20">
                <a:latin typeface="Tahoma"/>
                <a:cs typeface="Tahoma"/>
              </a:rPr>
              <a:t>distribution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domain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1-</a:t>
            </a:r>
            <a:r>
              <a:rPr dirty="0"/>
              <a:t>D</a:t>
            </a:r>
            <a:r>
              <a:rPr dirty="0" spc="-2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20"/>
              <a:t> </a:t>
            </a:r>
            <a:r>
              <a:rPr dirty="0" spc="-35"/>
              <a:t>heat</a:t>
            </a:r>
            <a:r>
              <a:rPr dirty="0" spc="-20"/>
              <a:t> </a:t>
            </a:r>
            <a:r>
              <a:rPr dirty="0" spc="-35"/>
              <a:t>conduction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50"/>
              <a:t>plane</a:t>
            </a:r>
            <a:r>
              <a:rPr dirty="0" spc="-20"/>
              <a:t> 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5429"/>
            <a:ext cx="65265" cy="652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22116" y="954223"/>
            <a:ext cx="52705" cy="24765"/>
          </a:xfrm>
          <a:custGeom>
            <a:avLst/>
            <a:gdLst/>
            <a:ahLst/>
            <a:cxnLst/>
            <a:rect l="l" t="t" r="r" b="b"/>
            <a:pathLst>
              <a:path w="52705" h="24765">
                <a:moveTo>
                  <a:pt x="0" y="24671"/>
                </a:moveTo>
                <a:lnTo>
                  <a:pt x="8044" y="20816"/>
                </a:lnTo>
                <a:lnTo>
                  <a:pt x="16242" y="13569"/>
                </a:lnTo>
                <a:lnTo>
                  <a:pt x="22898" y="5705"/>
                </a:lnTo>
                <a:lnTo>
                  <a:pt x="26316" y="0"/>
                </a:lnTo>
                <a:lnTo>
                  <a:pt x="29734" y="5705"/>
                </a:lnTo>
                <a:lnTo>
                  <a:pt x="36391" y="13569"/>
                </a:lnTo>
                <a:lnTo>
                  <a:pt x="44589" y="20816"/>
                </a:lnTo>
                <a:lnTo>
                  <a:pt x="52633" y="24671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2932" y="481989"/>
            <a:ext cx="3683635" cy="5568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1-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unsteady-</a:t>
            </a:r>
            <a:r>
              <a:rPr dirty="0" sz="1100" spc="-25">
                <a:latin typeface="Tahoma"/>
                <a:cs typeface="Tahoma"/>
              </a:rPr>
              <a:t>state heat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conduction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plane</a:t>
            </a:r>
            <a:r>
              <a:rPr dirty="0" sz="1100" spc="-25">
                <a:latin typeface="Tahoma"/>
                <a:cs typeface="Tahoma"/>
              </a:rPr>
              <a:t> slab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35">
                <a:latin typeface="Tahoma"/>
                <a:cs typeface="Tahoma"/>
              </a:rPr>
              <a:t>thickness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L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algn="ctr" marR="387350">
              <a:lnSpc>
                <a:spcPct val="100000"/>
              </a:lnSpc>
              <a:spcBef>
                <a:spcPts val="200"/>
              </a:spcBef>
            </a:pPr>
            <a:r>
              <a:rPr dirty="0" sz="1100" spc="10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06716" y="2444861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50458" y="1210730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18978" y="40487"/>
                </a:moveTo>
                <a:lnTo>
                  <a:pt x="16013" y="34300"/>
                </a:lnTo>
                <a:lnTo>
                  <a:pt x="10438" y="27993"/>
                </a:lnTo>
                <a:lnTo>
                  <a:pt x="4388" y="22873"/>
                </a:lnTo>
                <a:lnTo>
                  <a:pt x="0" y="20243"/>
                </a:lnTo>
                <a:lnTo>
                  <a:pt x="4388" y="17614"/>
                </a:lnTo>
                <a:lnTo>
                  <a:pt x="10438" y="12494"/>
                </a:lnTo>
                <a:lnTo>
                  <a:pt x="16013" y="6187"/>
                </a:lnTo>
                <a:lnTo>
                  <a:pt x="18978" y="0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63433" y="1210730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639171" y="1705615"/>
            <a:ext cx="298450" cy="192405"/>
            <a:chOff x="1639171" y="1705615"/>
            <a:chExt cx="298450" cy="192405"/>
          </a:xfrm>
        </p:grpSpPr>
        <p:sp>
          <p:nvSpPr>
            <p:cNvPr id="11" name="object 11"/>
            <p:cNvSpPr/>
            <p:nvPr/>
          </p:nvSpPr>
          <p:spPr>
            <a:xfrm>
              <a:off x="1644232" y="1710676"/>
              <a:ext cx="285115" cy="171450"/>
            </a:xfrm>
            <a:custGeom>
              <a:avLst/>
              <a:gdLst/>
              <a:ahLst/>
              <a:cxnLst/>
              <a:rect l="l" t="t" r="r" b="b"/>
              <a:pathLst>
                <a:path w="285114" h="171450">
                  <a:moveTo>
                    <a:pt x="0" y="0"/>
                  </a:moveTo>
                  <a:lnTo>
                    <a:pt x="284797" y="1708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98564" y="1848832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081" y="0"/>
                  </a:moveTo>
                  <a:lnTo>
                    <a:pt x="26248" y="8881"/>
                  </a:lnTo>
                  <a:lnTo>
                    <a:pt x="28244" y="19640"/>
                  </a:lnTo>
                  <a:lnTo>
                    <a:pt x="31563" y="29394"/>
                  </a:lnTo>
                  <a:lnTo>
                    <a:pt x="34697" y="35261"/>
                  </a:lnTo>
                  <a:lnTo>
                    <a:pt x="28046" y="35256"/>
                  </a:lnTo>
                  <a:lnTo>
                    <a:pt x="17877" y="36918"/>
                  </a:lnTo>
                  <a:lnTo>
                    <a:pt x="7444" y="40219"/>
                  </a:lnTo>
                  <a:lnTo>
                    <a:pt x="0" y="451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10666" y="1678399"/>
            <a:ext cx="7270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-30" i="1">
                <a:latin typeface="Arial"/>
                <a:cs typeface="Arial"/>
              </a:rPr>
              <a:t>q</a:t>
            </a:r>
            <a:r>
              <a:rPr dirty="0" baseline="39682" sz="1050" spc="-30">
                <a:latin typeface="Lucida Sans Unicode"/>
                <a:cs typeface="Lucida Sans Unicode"/>
              </a:rPr>
              <a:t>′′</a:t>
            </a:r>
            <a:r>
              <a:rPr dirty="0" baseline="8333" sz="1500" spc="-30">
                <a:latin typeface="Lucida Sans Unicode"/>
                <a:cs typeface="Lucida Sans Unicode"/>
              </a:rPr>
              <a:t>|</a:t>
            </a:r>
            <a:r>
              <a:rPr dirty="0" sz="700" spc="-20" i="1">
                <a:latin typeface="Arial"/>
                <a:cs typeface="Arial"/>
              </a:rPr>
              <a:t>x</a:t>
            </a:r>
            <a:r>
              <a:rPr dirty="0" sz="700" spc="-114" i="1">
                <a:latin typeface="Arial"/>
                <a:cs typeface="Arial"/>
              </a:rPr>
              <a:t> </a:t>
            </a:r>
            <a:r>
              <a:rPr dirty="0" sz="700">
                <a:latin typeface="Tahoma"/>
                <a:cs typeface="Tahoma"/>
              </a:rPr>
              <a:t>=0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t</a:t>
            </a:r>
            <a:r>
              <a:rPr dirty="0" sz="700" spc="32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97">
                <a:latin typeface="Tahoma"/>
                <a:cs typeface="Tahoma"/>
              </a:rPr>
              <a:t>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95560" y="1705615"/>
            <a:ext cx="298450" cy="192405"/>
            <a:chOff x="2895560" y="1705615"/>
            <a:chExt cx="298450" cy="192405"/>
          </a:xfrm>
        </p:grpSpPr>
        <p:sp>
          <p:nvSpPr>
            <p:cNvPr id="15" name="object 15"/>
            <p:cNvSpPr/>
            <p:nvPr/>
          </p:nvSpPr>
          <p:spPr>
            <a:xfrm>
              <a:off x="2903840" y="1710676"/>
              <a:ext cx="285115" cy="171450"/>
            </a:xfrm>
            <a:custGeom>
              <a:avLst/>
              <a:gdLst/>
              <a:ahLst/>
              <a:cxnLst/>
              <a:rect l="l" t="t" r="r" b="b"/>
              <a:pathLst>
                <a:path w="285114" h="171450">
                  <a:moveTo>
                    <a:pt x="284797" y="0"/>
                  </a:moveTo>
                  <a:lnTo>
                    <a:pt x="0" y="1708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99609" y="1848832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34697" y="45133"/>
                  </a:moveTo>
                  <a:lnTo>
                    <a:pt x="27252" y="40219"/>
                  </a:lnTo>
                  <a:lnTo>
                    <a:pt x="16819" y="36918"/>
                  </a:lnTo>
                  <a:lnTo>
                    <a:pt x="6650" y="35256"/>
                  </a:lnTo>
                  <a:lnTo>
                    <a:pt x="0" y="35261"/>
                  </a:lnTo>
                  <a:lnTo>
                    <a:pt x="3133" y="29394"/>
                  </a:lnTo>
                  <a:lnTo>
                    <a:pt x="6452" y="19640"/>
                  </a:lnTo>
                  <a:lnTo>
                    <a:pt x="8448" y="8881"/>
                  </a:lnTo>
                  <a:lnTo>
                    <a:pt x="7615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195218" y="1678284"/>
            <a:ext cx="773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baseline="8333" sz="1500" spc="-202" i="1">
                <a:latin typeface="Arial"/>
                <a:cs typeface="Arial"/>
              </a:rPr>
              <a:t> </a:t>
            </a:r>
            <a:r>
              <a:rPr dirty="0" baseline="8333" sz="1500" spc="-97">
                <a:latin typeface="Lucida Sans Unicode"/>
                <a:cs typeface="Lucida Sans Unicode"/>
              </a:rPr>
              <a:t>|</a:t>
            </a:r>
            <a:r>
              <a:rPr dirty="0" sz="700" spc="-65" i="1">
                <a:latin typeface="Arial"/>
                <a:cs typeface="Arial"/>
              </a:rPr>
              <a:t>x</a:t>
            </a:r>
            <a:r>
              <a:rPr dirty="0" sz="700" spc="-130" i="1">
                <a:latin typeface="Arial"/>
                <a:cs typeface="Arial"/>
              </a:rPr>
              <a:t> </a:t>
            </a:r>
            <a:r>
              <a:rPr dirty="0" sz="700" spc="50">
                <a:latin typeface="Tahoma"/>
                <a:cs typeface="Tahoma"/>
              </a:rPr>
              <a:t>=</a:t>
            </a:r>
            <a:r>
              <a:rPr dirty="0" sz="700" spc="50" i="1">
                <a:latin typeface="Arial"/>
                <a:cs typeface="Arial"/>
              </a:rPr>
              <a:t>L</a:t>
            </a:r>
            <a:r>
              <a:rPr dirty="0" sz="700" spc="50" i="1">
                <a:latin typeface="Calibri"/>
                <a:cs typeface="Calibri"/>
              </a:rPr>
              <a:t>,</a:t>
            </a:r>
            <a:r>
              <a:rPr dirty="0" sz="700" spc="50" i="1">
                <a:latin typeface="Arial"/>
                <a:cs typeface="Arial"/>
              </a:rPr>
              <a:t>t</a:t>
            </a:r>
            <a:r>
              <a:rPr dirty="0" sz="700" spc="21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-22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 i="1"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943373" y="954096"/>
          <a:ext cx="1364615" cy="151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990"/>
                <a:gridCol w="342265"/>
              </a:tblGrid>
              <a:tr h="271780">
                <a:tc gridSpan="2">
                  <a:txBody>
                    <a:bodyPr/>
                    <a:lstStyle/>
                    <a:p>
                      <a:pPr algn="ctr" marR="3340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100" spc="-50" i="1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69670">
                <a:tc>
                  <a:txBody>
                    <a:bodyPr/>
                    <a:lstStyle/>
                    <a:p>
                      <a:pPr marL="128270" marR="135890" indent="170815">
                        <a:lnSpc>
                          <a:spcPct val="233199"/>
                        </a:lnSpc>
                        <a:spcBef>
                          <a:spcPts val="509"/>
                        </a:spcBef>
                      </a:pPr>
                      <a:r>
                        <a:rPr dirty="0" sz="1000" i="1"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000" spc="9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00" spc="500" i="1">
                          <a:latin typeface="Arial"/>
                          <a:cs typeface="Arial"/>
                        </a:rPr>
                        <a:t>  </a:t>
                      </a:r>
                      <a:r>
                        <a:rPr dirty="0" baseline="8333" sz="1500" spc="89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8333" sz="1500" spc="-16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8333" sz="150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dirty="0" sz="70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70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>
                          <a:latin typeface="Tahoma"/>
                          <a:cs typeface="Tahoma"/>
                        </a:rPr>
                        <a:t>=0</a:t>
                      </a:r>
                      <a:r>
                        <a:rPr dirty="0" sz="700" spc="2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baseline="8333" sz="15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baseline="8333" sz="1500" spc="67">
                          <a:latin typeface="Tahoma"/>
                          <a:cs typeface="Tahoma"/>
                        </a:rPr>
                        <a:t> </a:t>
                      </a:r>
                      <a:r>
                        <a:rPr dirty="0" baseline="8333" sz="1500" spc="-37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 spc="-25" i="1">
                          <a:latin typeface="Arial"/>
                          <a:cs typeface="Arial"/>
                        </a:rPr>
                        <a:t>i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352132" y="2350717"/>
            <a:ext cx="3794125" cy="758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34335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430655">
              <a:lnSpc>
                <a:spcPct val="100000"/>
              </a:lnSpc>
              <a:spcBef>
                <a:spcPts val="40"/>
              </a:spcBef>
              <a:tabLst>
                <a:tab pos="2363470" algn="l"/>
              </a:tabLst>
            </a:pPr>
            <a:r>
              <a:rPr dirty="0" baseline="2525" sz="1650" i="1">
                <a:latin typeface="Arial"/>
                <a:cs typeface="Arial"/>
              </a:rPr>
              <a:t>x</a:t>
            </a:r>
            <a:r>
              <a:rPr dirty="0" baseline="2525" sz="1650" spc="127" i="1">
                <a:latin typeface="Arial"/>
                <a:cs typeface="Arial"/>
              </a:rPr>
              <a:t> </a:t>
            </a:r>
            <a:r>
              <a:rPr dirty="0" baseline="2525" sz="1650">
                <a:latin typeface="Tahoma"/>
                <a:cs typeface="Tahoma"/>
              </a:rPr>
              <a:t>=</a:t>
            </a:r>
            <a:r>
              <a:rPr dirty="0" baseline="2525" sz="1650" spc="-60">
                <a:latin typeface="Tahoma"/>
                <a:cs typeface="Tahoma"/>
              </a:rPr>
              <a:t> </a:t>
            </a:r>
            <a:r>
              <a:rPr dirty="0" baseline="2525" sz="1650" spc="-75">
                <a:latin typeface="Tahoma"/>
                <a:cs typeface="Tahoma"/>
              </a:rPr>
              <a:t>0</a:t>
            </a:r>
            <a:r>
              <a:rPr dirty="0" baseline="2525" sz="1650">
                <a:latin typeface="Tahoma"/>
                <a:cs typeface="Tahoma"/>
              </a:rPr>
              <a:t>	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63500" marR="55880">
              <a:lnSpc>
                <a:spcPct val="102600"/>
              </a:lnSpc>
              <a:spcBef>
                <a:spcPts val="39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slab</a:t>
            </a:r>
            <a:r>
              <a:rPr dirty="0" sz="1100">
                <a:latin typeface="Tahoma"/>
                <a:cs typeface="Tahoma"/>
              </a:rPr>
              <a:t> is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subjected</a:t>
            </a:r>
            <a:r>
              <a:rPr dirty="0" sz="1100">
                <a:latin typeface="Tahoma"/>
                <a:cs typeface="Tahoma"/>
              </a:rPr>
              <a:t> to </a:t>
            </a:r>
            <a:r>
              <a:rPr dirty="0" sz="1100" spc="-10">
                <a:latin typeface="Tahoma"/>
                <a:cs typeface="Tahoma"/>
              </a:rPr>
              <a:t>Initial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condition: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6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|</a:t>
            </a:r>
            <a:r>
              <a:rPr dirty="0" baseline="-10416" sz="12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Sitka Text"/>
                <a:cs typeface="Sitka Text"/>
              </a:rPr>
              <a:t>,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367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 </a:t>
            </a:r>
            <a:r>
              <a:rPr dirty="0" sz="1100" spc="-45">
                <a:latin typeface="Tahoma"/>
                <a:cs typeface="Tahoma"/>
              </a:rPr>
              <a:t>boundary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is:</a:t>
            </a:r>
            <a:r>
              <a:rPr dirty="0" sz="1100" spc="150">
                <a:latin typeface="Tahoma"/>
                <a:cs typeface="Tahoma"/>
              </a:rPr>
              <a:t> </a:t>
            </a:r>
            <a:r>
              <a:rPr dirty="0" sz="1100" spc="-65" i="1">
                <a:latin typeface="Arial"/>
                <a:cs typeface="Arial"/>
              </a:rPr>
              <a:t>q</a:t>
            </a:r>
            <a:r>
              <a:rPr dirty="0" baseline="27777" sz="1200" spc="-97">
                <a:latin typeface="Lucida Sans Unicode"/>
                <a:cs typeface="Lucida Sans Unicode"/>
              </a:rPr>
              <a:t>rr</a:t>
            </a:r>
            <a:r>
              <a:rPr dirty="0" sz="1100" spc="-65">
                <a:latin typeface="Lucida Sans Unicode"/>
                <a:cs typeface="Lucida Sans Unicode"/>
              </a:rPr>
              <a:t>|</a:t>
            </a:r>
            <a:r>
              <a:rPr dirty="0" baseline="-10416" sz="1200" spc="-97" i="1">
                <a:latin typeface="Arial"/>
                <a:cs typeface="Arial"/>
              </a:rPr>
              <a:t>x</a:t>
            </a:r>
            <a:r>
              <a:rPr dirty="0" baseline="-10416" sz="1200" spc="-225" i="1">
                <a:latin typeface="Arial"/>
                <a:cs typeface="Arial"/>
              </a:rPr>
              <a:t> 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i="1">
                <a:latin typeface="Sitka Text"/>
                <a:cs typeface="Sitka Text"/>
              </a:rPr>
              <a:t>,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30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55" i="1">
                <a:latin typeface="Arial"/>
                <a:cs typeface="Arial"/>
              </a:rPr>
              <a:t> </a:t>
            </a:r>
            <a:r>
              <a:rPr dirty="0" sz="1100" spc="-70">
                <a:latin typeface="Lucida Sans Unicode"/>
                <a:cs typeface="Lucida Sans Unicode"/>
              </a:rPr>
              <a:t>|</a:t>
            </a:r>
            <a:r>
              <a:rPr dirty="0" baseline="-13888" sz="1200" spc="-104" i="1">
                <a:latin typeface="Arial"/>
                <a:cs typeface="Arial"/>
              </a:rPr>
              <a:t>x</a:t>
            </a:r>
            <a:r>
              <a:rPr dirty="0" baseline="-13888" sz="1200" spc="-225" i="1">
                <a:latin typeface="Arial"/>
                <a:cs typeface="Arial"/>
              </a:rPr>
              <a:t> </a:t>
            </a:r>
            <a:r>
              <a:rPr dirty="0" baseline="-13888" sz="1200">
                <a:latin typeface="Tahoma"/>
                <a:cs typeface="Tahoma"/>
              </a:rPr>
              <a:t>=</a:t>
            </a:r>
            <a:r>
              <a:rPr dirty="0" baseline="-13888" sz="1200" i="1">
                <a:latin typeface="Arial"/>
                <a:cs typeface="Arial"/>
              </a:rPr>
              <a:t>L</a:t>
            </a:r>
            <a:r>
              <a:rPr dirty="0" baseline="-13888" sz="1200" i="1">
                <a:latin typeface="Sitka Text"/>
                <a:cs typeface="Sitka Text"/>
              </a:rPr>
              <a:t>,</a:t>
            </a:r>
            <a:r>
              <a:rPr dirty="0" baseline="-13888" sz="1200" i="1">
                <a:latin typeface="Arial"/>
                <a:cs typeface="Arial"/>
              </a:rPr>
              <a:t>t</a:t>
            </a:r>
            <a:r>
              <a:rPr dirty="0" baseline="-13888" sz="1200" spc="30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T</a:t>
            </a:r>
            <a:r>
              <a:rPr dirty="0" baseline="-13888" sz="1200" spc="-37" i="1">
                <a:latin typeface="Arial"/>
                <a:cs typeface="Arial"/>
              </a:rPr>
              <a:t>L</a:t>
            </a:r>
            <a:endParaRPr baseline="-13888"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82897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35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20"/>
              <a:t>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1266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329208"/>
            <a:ext cx="3103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Develop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Governing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Differential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633" y="689507"/>
            <a:ext cx="156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i="1">
                <a:latin typeface="Calibri"/>
                <a:cs typeface="Calibri"/>
              </a:rPr>
              <a:t>∂</a:t>
            </a:r>
            <a:r>
              <a:rPr dirty="0" sz="1100" spc="4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369" y="499972"/>
            <a:ext cx="788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ρ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dirty="0" u="sng" baseline="-10416" sz="12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-10416" sz="1200" spc="-20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1100" spc="-1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baseline="-37878" sz="1650" spc="-75">
                <a:latin typeface="Tahoma"/>
                <a:cs typeface="Tahoma"/>
              </a:rPr>
              <a:t>=</a:t>
            </a:r>
            <a:endParaRPr baseline="-37878" sz="16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1571" y="711085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 h="0">
                <a:moveTo>
                  <a:pt x="0" y="0"/>
                </a:moveTo>
                <a:lnTo>
                  <a:pt x="157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22945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70582" y="711085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5" h="0">
                <a:moveTo>
                  <a:pt x="0" y="0"/>
                </a:moveTo>
                <a:lnTo>
                  <a:pt x="1601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94266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41903" y="711085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 h="0">
                <a:moveTo>
                  <a:pt x="0" y="0"/>
                </a:moveTo>
                <a:lnTo>
                  <a:pt x="1536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59035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27174" y="501547"/>
            <a:ext cx="2437765" cy="285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025"/>
              </a:lnSpc>
              <a:spcBef>
                <a:spcPts val="90"/>
              </a:spcBef>
              <a:tabLst>
                <a:tab pos="282575" algn="l"/>
                <a:tab pos="769620" algn="l"/>
                <a:tab pos="1054100" algn="l"/>
                <a:tab pos="1537970" algn="l"/>
                <a:tab pos="1818639" algn="l"/>
                <a:tab pos="2328545" algn="l"/>
              </a:tabLst>
            </a:pP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600" spc="-25">
                <a:latin typeface="Lucida Sans Unicode"/>
                <a:cs typeface="Lucida Sans Unicode"/>
              </a:rPr>
              <a:t>′′′</a:t>
            </a:r>
            <a:endParaRPr sz="600">
              <a:latin typeface="Lucida Sans Unicode"/>
              <a:cs typeface="Lucida Sans Unicode"/>
            </a:endParaRPr>
          </a:p>
          <a:p>
            <a:pPr algn="ctr" marL="31750">
              <a:lnSpc>
                <a:spcPts val="1025"/>
              </a:lnSpc>
              <a:tabLst>
                <a:tab pos="389255" algn="l"/>
                <a:tab pos="802640" algn="l"/>
                <a:tab pos="1160780" algn="l"/>
                <a:tab pos="1567815" algn="l"/>
                <a:tab pos="1925320" algn="l"/>
              </a:tabLst>
            </a:pP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9" i="1">
                <a:latin typeface="Arial"/>
                <a:cs typeface="Arial"/>
              </a:rPr>
              <a:t>q</a:t>
            </a:r>
            <a:r>
              <a:rPr dirty="0" sz="1100" spc="-409">
                <a:latin typeface="Tahoma"/>
                <a:cs typeface="Tahoma"/>
              </a:rPr>
              <a:t>˙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66315" y="109749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053615" y="864664"/>
            <a:ext cx="2012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70"/>
              </a:spcBef>
            </a:pPr>
            <a:r>
              <a:rPr dirty="0" sz="1100" spc="45" i="1">
                <a:latin typeface="Calibri"/>
                <a:cs typeface="Calibri"/>
              </a:rPr>
              <a:t>∂</a:t>
            </a:r>
            <a:r>
              <a:rPr dirty="0" sz="1100" spc="4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3471" y="658098"/>
            <a:ext cx="2095500" cy="42100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  <a:tabLst>
                <a:tab pos="377190" algn="l"/>
                <a:tab pos="806450" algn="l"/>
                <a:tab pos="1147445" algn="l"/>
                <a:tab pos="1577975" algn="l"/>
                <a:tab pos="1915160" algn="l"/>
              </a:tabLst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  <a:p>
            <a:pPr algn="ctr" marL="142240">
              <a:lnSpc>
                <a:spcPct val="100000"/>
              </a:lnSpc>
              <a:spcBef>
                <a:spcPts val="240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baseline="27777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64612" y="1097495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 h="0">
                <a:moveTo>
                  <a:pt x="0" y="0"/>
                </a:moveTo>
                <a:lnTo>
                  <a:pt x="25416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75941" y="980895"/>
            <a:ext cx="556895" cy="287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 </a:t>
            </a:r>
            <a:r>
              <a:rPr dirty="0" sz="1100" spc="15" i="1">
                <a:latin typeface="Calibri"/>
                <a:cs typeface="Calibri"/>
              </a:rPr>
              <a:t>α</a:t>
            </a:r>
            <a:endParaRPr sz="1100">
              <a:latin typeface="Calibri"/>
              <a:cs typeface="Calibri"/>
            </a:endParaRPr>
          </a:p>
          <a:p>
            <a:pPr marL="306705">
              <a:lnSpc>
                <a:spcPts val="1035"/>
              </a:lnSpc>
            </a:pPr>
            <a:r>
              <a:rPr dirty="0" sz="1100" spc="-10" i="1">
                <a:latin typeface="Calibri"/>
                <a:cs typeface="Calibri"/>
              </a:rPr>
              <a:t>∂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baseline="20833" sz="1200" spc="-75">
                <a:latin typeface="Tahoma"/>
                <a:cs typeface="Tahoma"/>
              </a:rPr>
              <a:t>2</a:t>
            </a:r>
            <a:endParaRPr baseline="20833"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0456" y="980895"/>
            <a:ext cx="272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(16)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7532" y="1257705"/>
            <a:ext cx="2339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where,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65" i="1">
                <a:latin typeface="Calibri"/>
                <a:cs typeface="Calibri"/>
              </a:rPr>
              <a:t>α</a:t>
            </a:r>
            <a:r>
              <a:rPr dirty="0" sz="1100" spc="10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 </a:t>
            </a:r>
            <a:r>
              <a:rPr dirty="0" sz="1100" spc="-30">
                <a:latin typeface="Tahoma"/>
                <a:cs typeface="Tahoma"/>
              </a:rPr>
              <a:t>thermal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diffusivity,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65" i="1">
                <a:latin typeface="Calibri"/>
                <a:cs typeface="Calibri"/>
              </a:rPr>
              <a:t>α</a:t>
            </a:r>
            <a:r>
              <a:rPr dirty="0" sz="1100" spc="4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u="sng" baseline="31250" sz="1200" spc="35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1250" sz="120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dirty="0" u="sng" baseline="31250" sz="1200" spc="7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31250"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7532" y="1355457"/>
            <a:ext cx="3701415" cy="427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716280">
              <a:lnSpc>
                <a:spcPts val="815"/>
              </a:lnSpc>
              <a:spcBef>
                <a:spcPts val="95"/>
              </a:spcBef>
            </a:pPr>
            <a:r>
              <a:rPr dirty="0" baseline="6944" sz="1200" spc="-37" i="1">
                <a:latin typeface="Sitka Text"/>
                <a:cs typeface="Sitka Text"/>
              </a:rPr>
              <a:t>ρ</a:t>
            </a:r>
            <a:r>
              <a:rPr dirty="0" baseline="6944" sz="1200" spc="-37" i="1">
                <a:latin typeface="Arial"/>
                <a:cs typeface="Arial"/>
              </a:rPr>
              <a:t>C</a:t>
            </a:r>
            <a:r>
              <a:rPr dirty="0" sz="600" spc="-25" i="1">
                <a:latin typeface="Arial"/>
                <a:cs typeface="Arial"/>
              </a:rPr>
              <a:t>p</a:t>
            </a:r>
            <a:endParaRPr sz="600">
              <a:latin typeface="Arial"/>
              <a:cs typeface="Arial"/>
            </a:endParaRPr>
          </a:p>
          <a:p>
            <a:pPr marL="38100">
              <a:lnSpc>
                <a:spcPts val="1165"/>
              </a:lnSpc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Identify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Initial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Physical</a:t>
            </a:r>
            <a:r>
              <a:rPr dirty="0" sz="1100" spc="-30">
                <a:latin typeface="Tahoma"/>
                <a:cs typeface="Tahoma"/>
              </a:rPr>
              <a:t> Boundary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  <a:p>
            <a:pPr marL="116839">
              <a:lnSpc>
                <a:spcPts val="1190"/>
              </a:lnSpc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(i)</a:t>
            </a:r>
            <a:r>
              <a:rPr dirty="0" sz="1000" spc="26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80" i="1">
                <a:latin typeface="Arial"/>
                <a:cs typeface="Arial"/>
              </a:rPr>
              <a:t>t</a:t>
            </a:r>
            <a:r>
              <a:rPr dirty="0" sz="1000" spc="9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0:</a:t>
            </a:r>
            <a:r>
              <a:rPr dirty="0" sz="1000" spc="16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x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25206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330056" y="1839026"/>
            <a:ext cx="1282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Calibri"/>
                <a:cs typeface="Calibri"/>
              </a:rPr>
              <a:t>∂</a:t>
            </a:r>
            <a:r>
              <a:rPr dirty="0" sz="700" spc="-25" i="1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6491" y="1757443"/>
            <a:ext cx="26085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(ii)</a:t>
            </a:r>
            <a:r>
              <a:rPr dirty="0" sz="1000" spc="27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1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0:</a:t>
            </a:r>
            <a:r>
              <a:rPr dirty="0" sz="1000" spc="165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q</a:t>
            </a:r>
            <a:r>
              <a:rPr dirty="0" baseline="27777" sz="1050" spc="-30">
                <a:latin typeface="Lucida Sans Unicode"/>
                <a:cs typeface="Lucida Sans Unicode"/>
              </a:rPr>
              <a:t>′′</a:t>
            </a:r>
            <a:r>
              <a:rPr dirty="0" sz="1000" spc="-20">
                <a:latin typeface="Lucida Sans Unicode"/>
                <a:cs typeface="Lucida Sans Unicode"/>
              </a:rPr>
              <a:t>|</a:t>
            </a:r>
            <a:r>
              <a:rPr dirty="0" baseline="-11904" sz="1050" spc="-30" i="1">
                <a:latin typeface="Arial"/>
                <a:cs typeface="Arial"/>
              </a:rPr>
              <a:t>x</a:t>
            </a:r>
            <a:r>
              <a:rPr dirty="0" baseline="-11904" sz="1050" spc="-195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t</a:t>
            </a:r>
            <a:r>
              <a:rPr dirty="0" baseline="-11904" sz="1050" spc="33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0,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15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Lucida Sans Unicode"/>
                <a:cs typeface="Lucida Sans Unicode"/>
              </a:rPr>
              <a:t>−</a:t>
            </a:r>
            <a:r>
              <a:rPr dirty="0" sz="1000" spc="-30" i="1">
                <a:latin typeface="Arial"/>
                <a:cs typeface="Arial"/>
              </a:rPr>
              <a:t>k</a:t>
            </a:r>
            <a:r>
              <a:rPr dirty="0" sz="1000" spc="-60" i="1">
                <a:latin typeface="Arial"/>
                <a:cs typeface="Arial"/>
              </a:rPr>
              <a:t> </a:t>
            </a:r>
            <a:r>
              <a:rPr dirty="0" u="sng" baseline="31746" sz="1050" spc="12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baseline="31746" sz="1050" spc="1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baseline="31746" sz="1050" spc="52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195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t</a:t>
            </a:r>
            <a:r>
              <a:rPr dirty="0" baseline="-11904" sz="1050" spc="32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32533"/>
            <a:ext cx="65265" cy="6526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297036"/>
            <a:ext cx="52590" cy="5259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677878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699" y="39549"/>
                </a:lnTo>
                <a:lnTo>
                  <a:pt x="56937" y="28468"/>
                </a:lnTo>
                <a:lnTo>
                  <a:pt x="54699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598510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62023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217884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138514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02014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57891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699" y="39549"/>
                </a:lnTo>
                <a:lnTo>
                  <a:pt x="56937" y="28468"/>
                </a:lnTo>
                <a:lnTo>
                  <a:pt x="54699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678506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3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97897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9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9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218510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4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82022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37904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758514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5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22014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566265" y="2439782"/>
            <a:ext cx="2305685" cy="815340"/>
            <a:chOff x="1566265" y="2439782"/>
            <a:chExt cx="2305685" cy="815340"/>
          </a:xfrm>
        </p:grpSpPr>
        <p:sp>
          <p:nvSpPr>
            <p:cNvPr id="43" name="object 43"/>
            <p:cNvSpPr/>
            <p:nvPr/>
          </p:nvSpPr>
          <p:spPr>
            <a:xfrm>
              <a:off x="1571345" y="3252332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502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571345" y="2847327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5028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571345" y="2442322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502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370865" y="1909272"/>
            <a:ext cx="3545204" cy="607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ts val="115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(iii)</a:t>
            </a:r>
            <a:r>
              <a:rPr dirty="0" sz="1000" spc="23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9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L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4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 spc="75">
                <a:latin typeface="Tahoma"/>
                <a:cs typeface="Tahoma"/>
              </a:rPr>
              <a:t>=</a:t>
            </a:r>
            <a:r>
              <a:rPr dirty="0" baseline="-11904" sz="1050" spc="75" i="1">
                <a:latin typeface="Arial"/>
                <a:cs typeface="Arial"/>
              </a:rPr>
              <a:t>L</a:t>
            </a:r>
            <a:r>
              <a:rPr dirty="0" baseline="-11904" sz="1050" spc="75" i="1">
                <a:latin typeface="Calibri"/>
                <a:cs typeface="Calibri"/>
              </a:rPr>
              <a:t>,</a:t>
            </a:r>
            <a:r>
              <a:rPr dirty="0" baseline="-11904" sz="1050" spc="75" i="1">
                <a:latin typeface="Arial"/>
                <a:cs typeface="Arial"/>
              </a:rPr>
              <a:t>t</a:t>
            </a:r>
            <a:r>
              <a:rPr dirty="0" baseline="-11904" sz="1050" spc="29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L</a:t>
            </a:r>
            <a:endParaRPr baseline="-11904" sz="1050">
              <a:latin typeface="Arial"/>
              <a:cs typeface="Arial"/>
            </a:endParaRPr>
          </a:p>
          <a:p>
            <a:pPr marL="44450">
              <a:lnSpc>
                <a:spcPts val="1255"/>
              </a:lnSpc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Domain:</a:t>
            </a:r>
            <a:endParaRPr sz="1100">
              <a:latin typeface="Tahoma"/>
              <a:cs typeface="Tahoma"/>
            </a:endParaRPr>
          </a:p>
          <a:p>
            <a:pPr marL="854710" marR="30480" indent="-533400">
              <a:lnSpc>
                <a:spcPts val="1000"/>
              </a:lnSpc>
              <a:spcBef>
                <a:spcPts val="190"/>
              </a:spcBef>
            </a:pPr>
            <a:r>
              <a:rPr dirty="0" sz="1000" spc="-20">
                <a:latin typeface="Tahoma"/>
                <a:cs typeface="Tahoma"/>
              </a:rPr>
              <a:t>Discretize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domain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spatial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nodes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levels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n</a:t>
            </a:r>
            <a:r>
              <a:rPr dirty="0" sz="1000" spc="-25">
                <a:latin typeface="Tahoma"/>
                <a:cs typeface="Tahoma"/>
              </a:rPr>
              <a:t>. </a:t>
            </a:r>
            <a:r>
              <a:rPr dirty="0" sz="1000" spc="-40" i="1">
                <a:latin typeface="Arial"/>
                <a:cs typeface="Arial"/>
              </a:rPr>
              <a:t>n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22336" y="2736220"/>
            <a:ext cx="90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706346" y="2820325"/>
            <a:ext cx="2160270" cy="54610"/>
          </a:xfrm>
          <a:custGeom>
            <a:avLst/>
            <a:gdLst/>
            <a:ahLst/>
            <a:cxnLst/>
            <a:rect l="l" t="t" r="r" b="b"/>
            <a:pathLst>
              <a:path w="2160270" h="54610">
                <a:moveTo>
                  <a:pt x="0" y="54003"/>
                </a:moveTo>
                <a:lnTo>
                  <a:pt x="0" y="0"/>
                </a:lnTo>
              </a:path>
              <a:path w="2160270" h="54610">
                <a:moveTo>
                  <a:pt x="540006" y="54003"/>
                </a:moveTo>
                <a:lnTo>
                  <a:pt x="540006" y="0"/>
                </a:lnTo>
              </a:path>
              <a:path w="2160270" h="54610">
                <a:moveTo>
                  <a:pt x="1080013" y="54003"/>
                </a:moveTo>
                <a:lnTo>
                  <a:pt x="1080013" y="0"/>
                </a:lnTo>
              </a:path>
              <a:path w="2160270" h="54610">
                <a:moveTo>
                  <a:pt x="1620019" y="54003"/>
                </a:moveTo>
                <a:lnTo>
                  <a:pt x="1620019" y="0"/>
                </a:lnTo>
              </a:path>
              <a:path w="2160270" h="54610">
                <a:moveTo>
                  <a:pt x="2160026" y="54003"/>
                </a:moveTo>
                <a:lnTo>
                  <a:pt x="2160026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742018" y="2835750"/>
            <a:ext cx="889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6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 marL="22860">
              <a:lnSpc>
                <a:spcPts val="960"/>
              </a:lnSpc>
            </a:pPr>
            <a:r>
              <a:rPr dirty="0" sz="1000" spc="-50" i="1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246155" y="3121866"/>
            <a:ext cx="541020" cy="45085"/>
            <a:chOff x="2246155" y="3121866"/>
            <a:chExt cx="541020" cy="45085"/>
          </a:xfrm>
        </p:grpSpPr>
        <p:sp>
          <p:nvSpPr>
            <p:cNvPr id="51" name="object 51"/>
            <p:cNvSpPr/>
            <p:nvPr/>
          </p:nvSpPr>
          <p:spPr>
            <a:xfrm>
              <a:off x="2252173" y="3144332"/>
              <a:ext cx="528955" cy="0"/>
            </a:xfrm>
            <a:custGeom>
              <a:avLst/>
              <a:gdLst/>
              <a:ahLst/>
              <a:cxnLst/>
              <a:rect l="l" t="t" r="r" b="b"/>
              <a:pathLst>
                <a:path w="528955" h="0">
                  <a:moveTo>
                    <a:pt x="0" y="0"/>
                  </a:moveTo>
                  <a:lnTo>
                    <a:pt x="52836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248377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765356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2088413" y="2921310"/>
            <a:ext cx="542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325" i="1">
                <a:latin typeface="Arial"/>
                <a:cs typeface="Arial"/>
              </a:rPr>
              <a:t> </a:t>
            </a:r>
            <a:r>
              <a:rPr dirty="0" baseline="-19444" sz="1500" spc="75">
                <a:latin typeface="Tahoma"/>
                <a:cs typeface="Tahoma"/>
              </a:rPr>
              <a:t>∆</a:t>
            </a:r>
            <a:r>
              <a:rPr dirty="0" baseline="-19444" sz="1500" spc="75" i="1">
                <a:latin typeface="Arial"/>
                <a:cs typeface="Arial"/>
              </a:rPr>
              <a:t>x</a:t>
            </a:r>
            <a:endParaRPr baseline="-19444" sz="15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241273" y="3098749"/>
            <a:ext cx="1085850" cy="91440"/>
            <a:chOff x="2241273" y="3098749"/>
            <a:chExt cx="1085850" cy="91440"/>
          </a:xfrm>
        </p:grpSpPr>
        <p:sp>
          <p:nvSpPr>
            <p:cNvPr id="56" name="object 56"/>
            <p:cNvSpPr/>
            <p:nvPr/>
          </p:nvSpPr>
          <p:spPr>
            <a:xfrm>
              <a:off x="2246353" y="3103829"/>
              <a:ext cx="0" cy="81280"/>
            </a:xfrm>
            <a:custGeom>
              <a:avLst/>
              <a:gdLst/>
              <a:ahLst/>
              <a:cxnLst/>
              <a:rect l="l" t="t" r="r" b="b"/>
              <a:pathLst>
                <a:path w="0" h="81280">
                  <a:moveTo>
                    <a:pt x="0" y="8100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792180" y="3144332"/>
              <a:ext cx="528955" cy="0"/>
            </a:xfrm>
            <a:custGeom>
              <a:avLst/>
              <a:gdLst/>
              <a:ahLst/>
              <a:cxnLst/>
              <a:rect l="l" t="t" r="r" b="b"/>
              <a:pathLst>
                <a:path w="528954" h="0">
                  <a:moveTo>
                    <a:pt x="0" y="0"/>
                  </a:moveTo>
                  <a:lnTo>
                    <a:pt x="52836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788384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305363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2930563" y="2921310"/>
            <a:ext cx="5645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112">
                <a:latin typeface="Tahoma"/>
                <a:cs typeface="Tahoma"/>
              </a:rPr>
              <a:t>∆</a:t>
            </a:r>
            <a:r>
              <a:rPr dirty="0" baseline="-19444" sz="1500" spc="112" i="1">
                <a:latin typeface="Arial"/>
                <a:cs typeface="Arial"/>
              </a:rPr>
              <a:t>x</a:t>
            </a:r>
            <a:r>
              <a:rPr dirty="0" baseline="-19444" sz="1500" spc="367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6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786359" y="3103829"/>
            <a:ext cx="540385" cy="81280"/>
          </a:xfrm>
          <a:custGeom>
            <a:avLst/>
            <a:gdLst/>
            <a:ahLst/>
            <a:cxnLst/>
            <a:rect l="l" t="t" r="r" b="b"/>
            <a:pathLst>
              <a:path w="540385" h="81280">
                <a:moveTo>
                  <a:pt x="0" y="81001"/>
                </a:moveTo>
                <a:lnTo>
                  <a:pt x="0" y="0"/>
                </a:lnTo>
              </a:path>
              <a:path w="540385" h="81280">
                <a:moveTo>
                  <a:pt x="540006" y="81001"/>
                </a:moveTo>
                <a:lnTo>
                  <a:pt x="540006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2" name="object 62"/>
          <p:cNvGrpSpPr/>
          <p:nvPr/>
        </p:nvGrpSpPr>
        <p:grpSpPr>
          <a:xfrm>
            <a:off x="1616379" y="2442124"/>
            <a:ext cx="45085" cy="405765"/>
            <a:chOff x="1616379" y="2442124"/>
            <a:chExt cx="45085" cy="405765"/>
          </a:xfrm>
        </p:grpSpPr>
        <p:sp>
          <p:nvSpPr>
            <p:cNvPr id="63" name="object 63"/>
            <p:cNvSpPr/>
            <p:nvPr/>
          </p:nvSpPr>
          <p:spPr>
            <a:xfrm>
              <a:off x="1638846" y="2448142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w="0" h="393700">
                  <a:moveTo>
                    <a:pt x="0" y="39336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618602" y="282632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618602" y="2444347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1451521" y="2522529"/>
            <a:ext cx="176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616379" y="2847129"/>
            <a:ext cx="45085" cy="405765"/>
            <a:chOff x="1616379" y="2847129"/>
            <a:chExt cx="45085" cy="405765"/>
          </a:xfrm>
        </p:grpSpPr>
        <p:sp>
          <p:nvSpPr>
            <p:cNvPr id="68" name="object 68"/>
            <p:cNvSpPr/>
            <p:nvPr/>
          </p:nvSpPr>
          <p:spPr>
            <a:xfrm>
              <a:off x="1638846" y="2853147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w="0" h="393700">
                  <a:moveTo>
                    <a:pt x="0" y="39336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618602" y="323132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18602" y="2849351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1213396" y="2938596"/>
            <a:ext cx="414655" cy="387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8125">
              <a:lnSpc>
                <a:spcPct val="118900"/>
              </a:lnSpc>
              <a:spcBef>
                <a:spcPts val="100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 </a:t>
            </a:r>
            <a:r>
              <a:rPr dirty="0" sz="1000" spc="-40" i="1">
                <a:latin typeface="Arial"/>
                <a:cs typeface="Arial"/>
              </a:rPr>
              <a:t>n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706148" y="2595356"/>
            <a:ext cx="2160905" cy="45085"/>
            <a:chOff x="1706148" y="2595356"/>
            <a:chExt cx="2160905" cy="45085"/>
          </a:xfrm>
        </p:grpSpPr>
        <p:sp>
          <p:nvSpPr>
            <p:cNvPr id="73" name="object 73"/>
            <p:cNvSpPr/>
            <p:nvPr/>
          </p:nvSpPr>
          <p:spPr>
            <a:xfrm>
              <a:off x="1712166" y="2617822"/>
              <a:ext cx="2148840" cy="0"/>
            </a:xfrm>
            <a:custGeom>
              <a:avLst/>
              <a:gdLst/>
              <a:ahLst/>
              <a:cxnLst/>
              <a:rect l="l" t="t" r="r" b="b"/>
              <a:pathLst>
                <a:path w="2148840" h="0">
                  <a:moveTo>
                    <a:pt x="0" y="0"/>
                  </a:moveTo>
                  <a:lnTo>
                    <a:pt x="21483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708371" y="259757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845370" y="259757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2739389" y="2455029"/>
            <a:ext cx="939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701285" y="2572263"/>
            <a:ext cx="2170430" cy="86360"/>
            <a:chOff x="1701285" y="2572263"/>
            <a:chExt cx="2170430" cy="86360"/>
          </a:xfrm>
        </p:grpSpPr>
        <p:sp>
          <p:nvSpPr>
            <p:cNvPr id="78" name="object 78"/>
            <p:cNvSpPr/>
            <p:nvPr/>
          </p:nvSpPr>
          <p:spPr>
            <a:xfrm>
              <a:off x="1706346" y="2577324"/>
              <a:ext cx="2160270" cy="81280"/>
            </a:xfrm>
            <a:custGeom>
              <a:avLst/>
              <a:gdLst/>
              <a:ahLst/>
              <a:cxnLst/>
              <a:rect l="l" t="t" r="r" b="b"/>
              <a:pathLst>
                <a:path w="2160270" h="81280">
                  <a:moveTo>
                    <a:pt x="0" y="81001"/>
                  </a:moveTo>
                  <a:lnTo>
                    <a:pt x="0" y="0"/>
                  </a:lnTo>
                </a:path>
                <a:path w="2160270" h="81280">
                  <a:moveTo>
                    <a:pt x="2160026" y="81001"/>
                  </a:moveTo>
                  <a:lnTo>
                    <a:pt x="2160026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861312" y="257226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5061"/>
                  </a:moveTo>
                  <a:lnTo>
                    <a:pt x="1482" y="1482"/>
                  </a:lnTo>
                  <a:lnTo>
                    <a:pt x="5061" y="0"/>
                  </a:lnTo>
                  <a:lnTo>
                    <a:pt x="8639" y="1482"/>
                  </a:lnTo>
                  <a:lnTo>
                    <a:pt x="10122" y="5061"/>
                  </a:lnTo>
                  <a:lnTo>
                    <a:pt x="8639" y="8639"/>
                  </a:lnTo>
                  <a:lnTo>
                    <a:pt x="5061" y="10122"/>
                  </a:lnTo>
                  <a:lnTo>
                    <a:pt x="1482" y="8639"/>
                  </a:lnTo>
                  <a:lnTo>
                    <a:pt x="0" y="5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627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610120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24276"/>
            <a:ext cx="3453765" cy="3790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Domain: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Forward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Central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Difference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Scheme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(FTCS)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6084" y="91514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22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34272" y="674933"/>
            <a:ext cx="6623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82" i="1">
                <a:latin typeface="Arial"/>
                <a:cs typeface="Arial"/>
              </a:rPr>
              <a:t>T</a:t>
            </a:r>
            <a:r>
              <a:rPr dirty="0" baseline="3968" sz="1050" spc="82" i="1">
                <a:latin typeface="Arial"/>
                <a:cs typeface="Arial"/>
              </a:rPr>
              <a:t>n</a:t>
            </a:r>
            <a:r>
              <a:rPr dirty="0" baseline="3968" sz="1050" spc="82">
                <a:latin typeface="Tahoma"/>
                <a:cs typeface="Tahoma"/>
              </a:rPr>
              <a:t>+1</a:t>
            </a:r>
            <a:r>
              <a:rPr dirty="0" baseline="3968" sz="1050" spc="89">
                <a:latin typeface="Tahoma"/>
                <a:cs typeface="Tahoma"/>
              </a:rPr>
              <a:t> </a:t>
            </a:r>
            <a:r>
              <a:rPr dirty="0" baseline="-19444" sz="1500" spc="-60">
                <a:latin typeface="Lucida Sans Unicode"/>
                <a:cs typeface="Lucida Sans Unicode"/>
              </a:rPr>
              <a:t>−</a:t>
            </a:r>
            <a:r>
              <a:rPr dirty="0" baseline="-19444" sz="1500" spc="-120">
                <a:latin typeface="Lucida Sans Unicode"/>
                <a:cs typeface="Lucida Sans Unicode"/>
              </a:rPr>
              <a:t> </a:t>
            </a: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5542" y="758207"/>
            <a:ext cx="819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06755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97">
                <a:latin typeface="Lucida Sans Unicode"/>
                <a:cs typeface="Lucida Sans Unicode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3384" y="701415"/>
            <a:ext cx="769620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25" i="1">
                <a:latin typeface="Calibri"/>
                <a:cs typeface="Calibri"/>
              </a:rPr>
              <a:t>∂</a:t>
            </a:r>
            <a:r>
              <a:rPr dirty="0" sz="1000" spc="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60"/>
              </a:spcBef>
              <a:tabLst>
                <a:tab pos="605155" algn="l"/>
              </a:tabLst>
            </a:pPr>
            <a:r>
              <a:rPr dirty="0" sz="1000" spc="35" i="1">
                <a:latin typeface="Calibri"/>
                <a:cs typeface="Calibri"/>
              </a:rPr>
              <a:t>∂</a:t>
            </a:r>
            <a:r>
              <a:rPr dirty="0" sz="1000" spc="3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0714" y="1327429"/>
            <a:ext cx="231140" cy="0"/>
          </a:xfrm>
          <a:custGeom>
            <a:avLst/>
            <a:gdLst/>
            <a:ahLst/>
            <a:cxnLst/>
            <a:rect l="l" t="t" r="r" b="b"/>
            <a:pathLst>
              <a:path w="231140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44066" y="1069776"/>
            <a:ext cx="1281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 spc="-60">
                <a:latin typeface="Lucida Sans Unicode"/>
                <a:cs typeface="Lucida Sans Unicode"/>
              </a:rPr>
              <a:t>− </a:t>
            </a:r>
            <a:r>
              <a:rPr dirty="0" baseline="-22222" sz="1500">
                <a:latin typeface="Tahoma"/>
                <a:cs typeface="Tahoma"/>
              </a:rPr>
              <a:t>2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60">
                <a:latin typeface="Tahoma"/>
                <a:cs typeface="Tahoma"/>
              </a:rPr>
              <a:t> </a:t>
            </a:r>
            <a:r>
              <a:rPr dirty="0" baseline="-22222" sz="1500" spc="52" i="1">
                <a:latin typeface="Arial"/>
                <a:cs typeface="Arial"/>
              </a:rPr>
              <a:t>T</a:t>
            </a:r>
            <a:r>
              <a:rPr dirty="0" sz="700" spc="35" i="1">
                <a:latin typeface="Arial"/>
                <a:cs typeface="Arial"/>
              </a:rPr>
              <a:t>n</a:t>
            </a:r>
            <a:r>
              <a:rPr dirty="0" sz="700" spc="3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14" y="1113669"/>
            <a:ext cx="1506220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54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160"/>
              </a:spcBef>
              <a:tabLst>
                <a:tab pos="1134110" algn="l"/>
              </a:tabLst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75" i="1">
                <a:latin typeface="Arial"/>
                <a:cs typeface="Arial"/>
              </a:rPr>
              <a:t> </a:t>
            </a:r>
            <a:r>
              <a:rPr dirty="0" baseline="23809" sz="1050" spc="-75">
                <a:latin typeface="Tahoma"/>
                <a:cs typeface="Tahoma"/>
              </a:rPr>
              <a:t>2</a:t>
            </a:r>
            <a:r>
              <a:rPr dirty="0" baseline="23809" sz="1050">
                <a:latin typeface="Tahoma"/>
                <a:cs typeface="Tahoma"/>
              </a:rPr>
              <a:t>	</a:t>
            </a: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397" y="1167592"/>
            <a:ext cx="18649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17269" algn="l"/>
                <a:tab pos="1451610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|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85">
                <a:latin typeface="Tahoma"/>
                <a:cs typeface="Tahoma"/>
              </a:rPr>
              <a:t> </a:t>
            </a: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82">
                <a:latin typeface="Lucida Sans Unicode"/>
                <a:cs typeface="Lucida Sans Unicode"/>
              </a:rPr>
              <a:t> </a:t>
            </a:r>
            <a:r>
              <a:rPr dirty="0" u="sng" baseline="3968" sz="1050" spc="2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3968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baseline="3968" sz="1050" spc="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baseline="3968" sz="1050" spc="247">
                <a:latin typeface="Tahoma"/>
                <a:cs typeface="Tahoma"/>
              </a:rPr>
              <a:t>  </a:t>
            </a:r>
            <a:r>
              <a:rPr dirty="0" baseline="-22222" sz="1500" spc="30">
                <a:latin typeface="Tahoma"/>
                <a:cs typeface="Tahoma"/>
              </a:rPr>
              <a:t>&amp;</a:t>
            </a:r>
            <a:endParaRPr baseline="-22222" sz="15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95739" y="1327429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857639" y="1113669"/>
            <a:ext cx="290195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160"/>
              </a:spcBef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75" i="1">
                <a:latin typeface="Arial"/>
                <a:cs typeface="Arial"/>
              </a:rPr>
              <a:t> </a:t>
            </a:r>
            <a:r>
              <a:rPr dirty="0" baseline="23809" sz="1050" spc="-75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78847" y="1079009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50843" y="1124920"/>
            <a:ext cx="732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29">
                <a:latin typeface="Lucida Sans Unicode"/>
                <a:cs typeface="Lucida Sans Unicode"/>
              </a:rPr>
              <a:t>—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23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27777" sz="1050" spc="97" i="1">
                <a:latin typeface="Arial"/>
                <a:cs typeface="Arial"/>
              </a:rPr>
              <a:t>n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03435" y="1167592"/>
            <a:ext cx="137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61060" algn="l"/>
                <a:tab pos="1175385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|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 spc="110" i="1">
                <a:latin typeface="Arial"/>
                <a:cs typeface="Arial"/>
              </a:rPr>
              <a:t> </a:t>
            </a: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67">
                <a:latin typeface="Lucida Sans Unicode"/>
                <a:cs typeface="Lucida Sans Unicode"/>
              </a:rPr>
              <a:t> </a:t>
            </a:r>
            <a:r>
              <a:rPr dirty="0" u="sng" baseline="3968" sz="1050" spc="71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3968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28072" y="1306619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89849"/>
            <a:ext cx="52590" cy="5259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80034" y="1505742"/>
            <a:ext cx="2792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By</a:t>
            </a:r>
            <a:r>
              <a:rPr dirty="0" sz="1000" spc="-25">
                <a:latin typeface="Tahoma"/>
                <a:cs typeface="Tahoma"/>
              </a:rPr>
              <a:t> substituting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these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value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Equation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16.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310" y="1759130"/>
            <a:ext cx="4826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1904" y="1878101"/>
            <a:ext cx="593725" cy="0"/>
          </a:xfrm>
          <a:custGeom>
            <a:avLst/>
            <a:gdLst/>
            <a:ahLst/>
            <a:cxnLst/>
            <a:rect l="l" t="t" r="r" b="b"/>
            <a:pathLst>
              <a:path w="593725" h="0">
                <a:moveTo>
                  <a:pt x="0" y="0"/>
                </a:moveTo>
                <a:lnTo>
                  <a:pt x="59372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5929" y="1857304"/>
            <a:ext cx="176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1104" y="1620461"/>
            <a:ext cx="2366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09319" algn="l"/>
                <a:tab pos="1096645" algn="l"/>
              </a:tabLst>
            </a:pPr>
            <a:r>
              <a:rPr dirty="0" baseline="-27777" sz="1500" spc="82" i="1">
                <a:latin typeface="Arial"/>
                <a:cs typeface="Arial"/>
              </a:rPr>
              <a:t>T</a:t>
            </a:r>
            <a:r>
              <a:rPr dirty="0" baseline="-7936" sz="1050" spc="82" i="1">
                <a:latin typeface="Arial"/>
                <a:cs typeface="Arial"/>
              </a:rPr>
              <a:t>n</a:t>
            </a:r>
            <a:r>
              <a:rPr dirty="0" baseline="-7936" sz="1050" spc="82">
                <a:latin typeface="Tahoma"/>
                <a:cs typeface="Tahoma"/>
              </a:rPr>
              <a:t>+1</a:t>
            </a:r>
            <a:r>
              <a:rPr dirty="0" baseline="-7936" sz="1050" spc="89">
                <a:latin typeface="Tahoma"/>
                <a:cs typeface="Tahoma"/>
              </a:rPr>
              <a:t> </a:t>
            </a:r>
            <a:r>
              <a:rPr dirty="0" baseline="-27777" sz="1500" spc="-60">
                <a:latin typeface="Lucida Sans Unicode"/>
                <a:cs typeface="Lucida Sans Unicode"/>
              </a:rPr>
              <a:t>−</a:t>
            </a:r>
            <a:r>
              <a:rPr dirty="0" baseline="-27777" sz="1500" spc="-120">
                <a:latin typeface="Lucida Sans Unicode"/>
                <a:cs typeface="Lucida Sans Unicode"/>
              </a:rPr>
              <a:t> </a:t>
            </a:r>
            <a:r>
              <a:rPr dirty="0" baseline="-27777" sz="1500" spc="97" i="1">
                <a:latin typeface="Arial"/>
                <a:cs typeface="Arial"/>
              </a:rPr>
              <a:t>T</a:t>
            </a:r>
            <a:r>
              <a:rPr dirty="0" baseline="-11904" sz="1050" spc="97" i="1">
                <a:latin typeface="Arial"/>
                <a:cs typeface="Arial"/>
              </a:rPr>
              <a:t>n</a:t>
            </a:r>
            <a:r>
              <a:rPr dirty="0" baseline="-11904" sz="1050" i="1">
                <a:latin typeface="Arial"/>
                <a:cs typeface="Arial"/>
              </a:rPr>
              <a:t>	</a:t>
            </a:r>
            <a:r>
              <a:rPr dirty="0" baseline="-5555" sz="1500" spc="-75">
                <a:latin typeface="Lucida Sans Unicode"/>
                <a:cs typeface="Lucida Sans Unicode"/>
              </a:rPr>
              <a:t>h</a:t>
            </a:r>
            <a:r>
              <a:rPr dirty="0" baseline="-5555" sz="1500">
                <a:latin typeface="Lucida Sans Unicode"/>
                <a:cs typeface="Lucida Sans Unicode"/>
              </a:rPr>
              <a:t>	</a:t>
            </a: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 spc="-60">
                <a:latin typeface="Lucida Sans Unicode"/>
                <a:cs typeface="Lucida Sans Unicode"/>
              </a:rPr>
              <a:t>− </a:t>
            </a:r>
            <a:r>
              <a:rPr dirty="0" baseline="-22222" sz="1500">
                <a:latin typeface="Tahoma"/>
                <a:cs typeface="Tahoma"/>
              </a:rPr>
              <a:t>2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60">
                <a:latin typeface="Tahoma"/>
                <a:cs typeface="Tahoma"/>
              </a:rPr>
              <a:t> </a:t>
            </a:r>
            <a:r>
              <a:rPr dirty="0" baseline="-22222" sz="1500" spc="52" i="1">
                <a:latin typeface="Arial"/>
                <a:cs typeface="Arial"/>
              </a:rPr>
              <a:t>T</a:t>
            </a:r>
            <a:r>
              <a:rPr dirty="0" sz="700" spc="35" i="1">
                <a:latin typeface="Arial"/>
                <a:cs typeface="Arial"/>
              </a:rPr>
              <a:t>n</a:t>
            </a:r>
            <a:r>
              <a:rPr dirty="0" sz="700" spc="3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02053" y="1857304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7859" y="1710631"/>
            <a:ext cx="1754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3619" algn="l"/>
                <a:tab pos="1457960" algn="l"/>
              </a:tabLst>
            </a:pPr>
            <a:r>
              <a:rPr dirty="0" baseline="-25000" sz="1500">
                <a:latin typeface="Tahoma"/>
                <a:cs typeface="Tahoma"/>
              </a:rPr>
              <a:t>=</a:t>
            </a:r>
            <a:r>
              <a:rPr dirty="0" baseline="-25000" sz="1500" spc="-67">
                <a:latin typeface="Tahoma"/>
                <a:cs typeface="Tahoma"/>
              </a:rPr>
              <a:t> </a:t>
            </a:r>
            <a:r>
              <a:rPr dirty="0" baseline="-25000" sz="1500" spc="104" i="1">
                <a:latin typeface="Calibri"/>
                <a:cs typeface="Calibri"/>
              </a:rPr>
              <a:t>α</a:t>
            </a:r>
            <a:r>
              <a:rPr dirty="0" baseline="-25000" sz="1500" spc="359" i="1">
                <a:latin typeface="Calibri"/>
                <a:cs typeface="Calibri"/>
              </a:rPr>
              <a:t> </a:t>
            </a:r>
            <a:r>
              <a:rPr dirty="0" baseline="-25000" sz="1500" i="1">
                <a:latin typeface="Calibri"/>
                <a:cs typeface="Calibri"/>
              </a:rPr>
              <a:t>θ</a:t>
            </a:r>
            <a:r>
              <a:rPr dirty="0" baseline="-25000" sz="1500">
                <a:latin typeface="Tahoma"/>
                <a:cs typeface="Tahoma"/>
              </a:rPr>
              <a:t>(</a:t>
            </a:r>
            <a:r>
              <a:rPr dirty="0" baseline="-25000" sz="1500" spc="-292">
                <a:latin typeface="Tahoma"/>
                <a:cs typeface="Tahoma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700" spc="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sz="700" spc="-60">
                <a:latin typeface="Tahoma"/>
                <a:cs typeface="Tahoma"/>
              </a:rPr>
              <a:t> </a:t>
            </a:r>
            <a:r>
              <a:rPr dirty="0" baseline="-25000" sz="1500" spc="-75">
                <a:latin typeface="Tahoma"/>
                <a:cs typeface="Tahoma"/>
              </a:rPr>
              <a:t>)</a:t>
            </a:r>
            <a:endParaRPr baseline="-25000" sz="15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34042" y="1981497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6038" y="2027407"/>
            <a:ext cx="732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29">
                <a:latin typeface="Lucida Sans Unicode"/>
                <a:cs typeface="Lucida Sans Unicode"/>
              </a:rPr>
              <a:t>—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23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27777" sz="1050" spc="97" i="1">
                <a:latin typeface="Arial"/>
                <a:cs typeface="Arial"/>
              </a:rPr>
              <a:t>n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3266" y="2209106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63901" y="2062434"/>
            <a:ext cx="1736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55700" algn="l"/>
                <a:tab pos="1470025" algn="l"/>
              </a:tabLst>
            </a:pPr>
            <a:r>
              <a:rPr dirty="0" baseline="-25000" sz="1500">
                <a:latin typeface="Tahoma"/>
                <a:cs typeface="Tahoma"/>
              </a:rPr>
              <a:t>+</a:t>
            </a:r>
            <a:r>
              <a:rPr dirty="0" baseline="-25000" sz="1500" spc="-142">
                <a:latin typeface="Tahoma"/>
                <a:cs typeface="Tahoma"/>
              </a:rPr>
              <a:t> </a:t>
            </a:r>
            <a:r>
              <a:rPr dirty="0" baseline="-25000" sz="1500" spc="-52">
                <a:latin typeface="Tahoma"/>
                <a:cs typeface="Tahoma"/>
              </a:rPr>
              <a:t>(1</a:t>
            </a:r>
            <a:r>
              <a:rPr dirty="0" baseline="-25000" sz="1500" spc="-135">
                <a:latin typeface="Tahoma"/>
                <a:cs typeface="Tahoma"/>
              </a:rPr>
              <a:t> </a:t>
            </a:r>
            <a:r>
              <a:rPr dirty="0" baseline="-25000" sz="1500" spc="-60">
                <a:latin typeface="Lucida Sans Unicode"/>
                <a:cs typeface="Lucida Sans Unicode"/>
              </a:rPr>
              <a:t>−</a:t>
            </a:r>
            <a:r>
              <a:rPr dirty="0" baseline="-25000" sz="1500" spc="-142">
                <a:latin typeface="Lucida Sans Unicode"/>
                <a:cs typeface="Lucida Sans Unicode"/>
              </a:rPr>
              <a:t> </a:t>
            </a:r>
            <a:r>
              <a:rPr dirty="0" baseline="-25000" sz="1500" i="1">
                <a:latin typeface="Calibri"/>
                <a:cs typeface="Calibri"/>
              </a:rPr>
              <a:t>θ</a:t>
            </a:r>
            <a:r>
              <a:rPr dirty="0" baseline="-25000" sz="1500">
                <a:latin typeface="Tahoma"/>
                <a:cs typeface="Tahoma"/>
              </a:rPr>
              <a:t>)(</a:t>
            </a:r>
            <a:r>
              <a:rPr dirty="0" baseline="-25000" sz="1500" spc="-292">
                <a:latin typeface="Tahoma"/>
                <a:cs typeface="Tahoma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sz="700" spc="75">
                <a:latin typeface="Tahoma"/>
                <a:cs typeface="Tahoma"/>
              </a:rPr>
              <a:t> </a:t>
            </a:r>
            <a:r>
              <a:rPr dirty="0" baseline="-25000" sz="1500" spc="-75">
                <a:latin typeface="Tahoma"/>
                <a:cs typeface="Tahoma"/>
              </a:rPr>
              <a:t>)</a:t>
            </a:r>
            <a:endParaRPr baseline="-25000" sz="1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9432" y="1981878"/>
            <a:ext cx="85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Lucida Sans Unicode"/>
                <a:cs typeface="Lucida Sans Unicode"/>
              </a:rPr>
              <a:t>i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7050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0133" y="248183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1351" y="2392238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4435" y="247576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6616" y="2266078"/>
            <a:ext cx="85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0">
                <a:latin typeface="Lucida Sans Unicode"/>
                <a:cs typeface="Lucida Sans Unicode"/>
              </a:rPr>
              <a:t>h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1508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4578" y="2481836"/>
            <a:ext cx="1771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4027" y="2406528"/>
            <a:ext cx="16840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0040" algn="l"/>
                <a:tab pos="1394460" algn="l"/>
              </a:tabLst>
            </a:pP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120" i="1">
                <a:latin typeface="Arial"/>
                <a:cs typeface="Arial"/>
              </a:rPr>
              <a:t> 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229" i="1">
                <a:latin typeface="Arial"/>
                <a:cs typeface="Arial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θ</a:t>
            </a:r>
            <a:r>
              <a:rPr dirty="0" sz="1000" spc="-25">
                <a:latin typeface="Tahoma"/>
                <a:cs typeface="Tahoma"/>
              </a:rPr>
              <a:t>(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82152" y="2391679"/>
            <a:ext cx="212725" cy="2222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6510">
              <a:lnSpc>
                <a:spcPts val="710"/>
              </a:lnSpc>
              <a:spcBef>
                <a:spcPts val="229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 spc="500">
                <a:latin typeface="Tahoma"/>
                <a:cs typeface="Tahoma"/>
              </a:rPr>
              <a:t> 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33370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16454" y="2481836"/>
            <a:ext cx="1828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03818" y="2406528"/>
            <a:ext cx="480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8465" algn="l"/>
              </a:tabLst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23832" y="2684886"/>
            <a:ext cx="1816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-30" i="1">
                <a:latin typeface="Calibri"/>
                <a:cs typeface="Calibri"/>
              </a:rPr>
              <a:t>θ</a:t>
            </a:r>
            <a:r>
              <a:rPr dirty="0" sz="1000" spc="-30">
                <a:latin typeface="Tahoma"/>
                <a:cs typeface="Tahoma"/>
              </a:rPr>
              <a:t>)(</a:t>
            </a:r>
            <a:r>
              <a:rPr dirty="0" sz="1000" spc="-30" i="1">
                <a:latin typeface="Arial"/>
                <a:cs typeface="Arial"/>
              </a:rPr>
              <a:t>T</a:t>
            </a:r>
            <a:r>
              <a:rPr dirty="0" baseline="-19841" sz="1050" spc="-44" i="1">
                <a:latin typeface="Arial"/>
                <a:cs typeface="Arial"/>
              </a:rPr>
              <a:t>i</a:t>
            </a:r>
            <a:r>
              <a:rPr dirty="0" baseline="31746" sz="1050" spc="-44" i="1">
                <a:latin typeface="Arial"/>
                <a:cs typeface="Arial"/>
              </a:rPr>
              <a:t>n</a:t>
            </a:r>
            <a:r>
              <a:rPr dirty="0" baseline="-19841" sz="1050" spc="-44">
                <a:latin typeface="Tahoma"/>
                <a:cs typeface="Tahoma"/>
              </a:rPr>
              <a:t>+1</a:t>
            </a:r>
            <a:r>
              <a:rPr dirty="0" baseline="-19841" sz="1050" spc="89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9841" sz="1050" i="1">
                <a:latin typeface="Arial"/>
                <a:cs typeface="Arial"/>
              </a:rPr>
              <a:t>i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4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T</a:t>
            </a:r>
            <a:r>
              <a:rPr dirty="0" baseline="-19841" sz="1050" spc="-15" i="1">
                <a:latin typeface="Arial"/>
                <a:cs typeface="Arial"/>
              </a:rPr>
              <a:t>i</a:t>
            </a:r>
            <a:r>
              <a:rPr dirty="0" baseline="31746" sz="1050" spc="-15" i="1">
                <a:latin typeface="Arial"/>
                <a:cs typeface="Arial"/>
              </a:rPr>
              <a:t>n</a:t>
            </a:r>
            <a:r>
              <a:rPr dirty="0" baseline="-19841" sz="1050" spc="-15">
                <a:latin typeface="Lucida Sans Unicode"/>
                <a:cs typeface="Lucida Sans Unicode"/>
              </a:rPr>
              <a:t>−</a:t>
            </a:r>
            <a:r>
              <a:rPr dirty="0" baseline="-19841" sz="1050" spc="-15">
                <a:latin typeface="Tahoma"/>
                <a:cs typeface="Tahoma"/>
              </a:rPr>
              <a:t>1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baseline="61111" sz="1500" spc="-15">
                <a:latin typeface="Lucida Sans Unicode"/>
                <a:cs typeface="Lucida Sans Unicode"/>
              </a:rPr>
              <a:t>i</a:t>
            </a:r>
            <a:endParaRPr baseline="61111" sz="15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18931" y="3039658"/>
            <a:ext cx="3130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00" spc="60">
                <a:latin typeface="Tahoma"/>
                <a:cs typeface="Tahoma"/>
              </a:rPr>
              <a:t>(∆</a:t>
            </a:r>
            <a:r>
              <a:rPr dirty="0" sz="700" spc="60" i="1">
                <a:latin typeface="Arial"/>
                <a:cs typeface="Arial"/>
              </a:rPr>
              <a:t>x</a:t>
            </a:r>
            <a:r>
              <a:rPr dirty="0" sz="700" spc="-125" i="1">
                <a:latin typeface="Arial"/>
                <a:cs typeface="Arial"/>
              </a:rPr>
              <a:t> </a:t>
            </a:r>
            <a:r>
              <a:rPr dirty="0" sz="700" spc="-25">
                <a:latin typeface="Tahoma"/>
                <a:cs typeface="Tahoma"/>
              </a:rPr>
              <a:t>)</a:t>
            </a:r>
            <a:r>
              <a:rPr dirty="0" baseline="22222" sz="750" spc="-37">
                <a:latin typeface="Tahoma"/>
                <a:cs typeface="Tahoma"/>
              </a:rPr>
              <a:t>2</a:t>
            </a:r>
            <a:endParaRPr baseline="22222" sz="7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9709" y="2958076"/>
            <a:ext cx="37934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Where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6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Fourier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number,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Fo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u="sng" baseline="31746" sz="1050" spc="89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baseline="31746" sz="1050" spc="179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α</a:t>
            </a:r>
            <a:r>
              <a:rPr dirty="0" u="sng" baseline="31746" sz="1050" spc="179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∆</a:t>
            </a:r>
            <a:r>
              <a:rPr dirty="0" u="sng" baseline="31746" sz="1050" spc="17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31746" sz="1050" spc="6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baseline="31746" sz="1050" spc="292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θ</a:t>
            </a:r>
            <a:r>
              <a:rPr dirty="0" sz="1000" spc="80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weighting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factor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2932" y="3059396"/>
            <a:ext cx="6864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(0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Calibri"/>
                <a:cs typeface="Calibri"/>
              </a:rPr>
              <a:t>θ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1).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1220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02005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403669"/>
            <a:ext cx="3829685" cy="64071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Domain: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algn="ctr" marL="27686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value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weighting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factor,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θ</a:t>
            </a:r>
            <a:r>
              <a:rPr dirty="0" sz="1000" spc="75" i="1">
                <a:latin typeface="Calibri"/>
                <a:cs typeface="Calibri"/>
              </a:rPr>
              <a:t> </a:t>
            </a:r>
            <a:r>
              <a:rPr dirty="0" sz="1000" spc="-40">
                <a:latin typeface="Tahoma"/>
                <a:cs typeface="Tahoma"/>
              </a:rPr>
              <a:t>determines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numerical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scheme.</a:t>
            </a:r>
            <a:endParaRPr sz="1000">
              <a:latin typeface="Tahoma"/>
              <a:cs typeface="Tahoma"/>
            </a:endParaRPr>
          </a:p>
          <a:p>
            <a:pPr algn="ctr" marL="245745">
              <a:lnSpc>
                <a:spcPct val="100000"/>
              </a:lnSpc>
              <a:spcBef>
                <a:spcPts val="760"/>
              </a:spcBef>
            </a:pPr>
            <a:r>
              <a:rPr dirty="0" sz="1000" spc="-2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:</a:t>
            </a:r>
            <a:r>
              <a:rPr dirty="0" sz="1000" spc="7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Numerical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schemes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based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weighting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factor,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 i="1">
                <a:latin typeface="Calibri"/>
                <a:cs typeface="Calibri"/>
              </a:rPr>
              <a:t>θ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27087" y="1080579"/>
          <a:ext cx="3107690" cy="990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945"/>
                <a:gridCol w="1179195"/>
                <a:gridCol w="1402080"/>
              </a:tblGrid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Cases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Weighting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factor,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 i="1">
                          <a:latin typeface="Calibri"/>
                          <a:cs typeface="Calibri"/>
                        </a:rPr>
                        <a:t>θ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Numerical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Scheme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I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Fully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Explicit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Scheme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II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Fully</a:t>
                      </a:r>
                      <a:r>
                        <a:rPr dirty="0" sz="10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Implicit</a:t>
                      </a:r>
                      <a:r>
                        <a:rPr dirty="0" sz="10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Scheme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III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-25" i="1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30">
                          <a:latin typeface="Tahoma"/>
                          <a:cs typeface="Tahoma"/>
                        </a:rPr>
                        <a:t>Crank-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Nicolson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Scheme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32545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2149092"/>
            <a:ext cx="3702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Step-IV: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-20">
                <a:latin typeface="Tahoma"/>
                <a:cs typeface="Tahoma"/>
              </a:rPr>
              <a:t> Initial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Physical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Boundary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4179" y="2411224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6717" y="2338253"/>
            <a:ext cx="1622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(i)</a:t>
            </a:r>
            <a:r>
              <a:rPr dirty="0" sz="1000" spc="17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10">
                <a:latin typeface="Tahoma"/>
                <a:cs typeface="Tahoma"/>
              </a:rPr>
              <a:t> time </a:t>
            </a:r>
            <a:r>
              <a:rPr dirty="0" sz="1000" spc="-25">
                <a:latin typeface="Tahoma"/>
                <a:cs typeface="Tahoma"/>
              </a:rPr>
              <a:t>level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17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891" y="2531978"/>
            <a:ext cx="10572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(ii)</a:t>
            </a:r>
            <a:r>
              <a:rPr dirty="0" sz="1000" spc="18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10">
                <a:latin typeface="Tahoma"/>
                <a:cs typeface="Tahoma"/>
              </a:rPr>
              <a:t> Node </a:t>
            </a:r>
            <a:r>
              <a:rPr dirty="0" sz="1000">
                <a:latin typeface="Tahoma"/>
                <a:cs typeface="Tahoma"/>
              </a:rPr>
              <a:t>1: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5818" y="2520114"/>
            <a:ext cx="1384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dT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5632" y="2500343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7809" y="2489888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58099" y="2620546"/>
            <a:ext cx="3467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968" sz="1050" i="1">
                <a:latin typeface="Arial"/>
                <a:cs typeface="Arial"/>
              </a:rPr>
              <a:t>dx</a:t>
            </a:r>
            <a:r>
              <a:rPr dirty="0" baseline="3968" sz="1050" spc="615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9594" y="2531978"/>
            <a:ext cx="633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r>
              <a:rPr dirty="0" sz="1000" spc="-25">
                <a:latin typeface="Tahoma"/>
                <a:cs typeface="Tahoma"/>
              </a:rPr>
              <a:t>[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75432" y="2490694"/>
            <a:ext cx="147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n</a:t>
            </a:r>
            <a:r>
              <a:rPr dirty="0" sz="500" spc="-25">
                <a:latin typeface="Tahoma"/>
                <a:cs typeface="Tahoma"/>
              </a:rPr>
              <a:t>+1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8528" y="2490694"/>
            <a:ext cx="147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n</a:t>
            </a:r>
            <a:r>
              <a:rPr dirty="0" sz="500" spc="-25">
                <a:latin typeface="Tahoma"/>
                <a:cs typeface="Tahoma"/>
              </a:rPr>
              <a:t>+1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63672" y="2556011"/>
            <a:ext cx="34226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5275" algn="l"/>
              </a:tabLst>
            </a:pPr>
            <a:r>
              <a:rPr dirty="0" sz="500" spc="-50">
                <a:latin typeface="Tahoma"/>
                <a:cs typeface="Tahoma"/>
              </a:rPr>
              <a:t>2</a:t>
            </a:r>
            <a:r>
              <a:rPr dirty="0" sz="500">
                <a:latin typeface="Tahoma"/>
                <a:cs typeface="Tahoma"/>
              </a:rPr>
              <a:t>	</a:t>
            </a:r>
            <a:r>
              <a:rPr dirty="0" sz="500" spc="-50"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62796" y="2503579"/>
            <a:ext cx="5861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729" algn="l"/>
                <a:tab pos="535940" algn="l"/>
              </a:tabLst>
            </a:pPr>
            <a:r>
              <a:rPr dirty="0" sz="700" spc="25">
                <a:latin typeface="Tahoma"/>
                <a:cs typeface="Tahoma"/>
              </a:rPr>
              <a:t>(</a:t>
            </a:r>
            <a:r>
              <a:rPr dirty="0" sz="700" spc="25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40">
                <a:latin typeface="Lucida Sans Unicode"/>
                <a:cs typeface="Lucida Sans Unicode"/>
              </a:rPr>
              <a:t>−</a:t>
            </a:r>
            <a:r>
              <a:rPr dirty="0" sz="700" spc="4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75496" y="2639568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5" h="0">
                <a:moveTo>
                  <a:pt x="0" y="0"/>
                </a:moveTo>
                <a:lnTo>
                  <a:pt x="56031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778010" y="2613561"/>
            <a:ext cx="147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55">
                <a:latin typeface="Tahoma"/>
                <a:cs typeface="Tahoma"/>
              </a:rPr>
              <a:t>∆</a:t>
            </a:r>
            <a:r>
              <a:rPr dirty="0" sz="700" spc="55" i="1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138284" y="2531978"/>
            <a:ext cx="2940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32001" y="2778902"/>
            <a:ext cx="5073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</a:tabLst>
            </a:pP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4634" y="2706172"/>
            <a:ext cx="1388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latin typeface="Tahoma"/>
                <a:cs typeface="Tahoma"/>
              </a:rPr>
              <a:t>Hence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89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3565" y="2929996"/>
            <a:ext cx="2420620" cy="207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94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(iii)</a:t>
            </a:r>
            <a:r>
              <a:rPr dirty="0" sz="1000" spc="229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5:</a:t>
            </a:r>
            <a:r>
              <a:rPr dirty="0" sz="1000" spc="13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 i="1">
                <a:latin typeface="Arial"/>
                <a:cs typeface="Arial"/>
              </a:rPr>
              <a:t>L</a:t>
            </a:r>
            <a:r>
              <a:rPr dirty="0" baseline="-11904" sz="1050" spc="292" i="1">
                <a:latin typeface="Arial"/>
                <a:cs typeface="Arial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15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L</a:t>
            </a:r>
            <a:endParaRPr baseline="-11904" sz="1050">
              <a:latin typeface="Arial"/>
              <a:cs typeface="Arial"/>
            </a:endParaRPr>
          </a:p>
          <a:p>
            <a:pPr marL="1090295">
              <a:lnSpc>
                <a:spcPts val="535"/>
              </a:lnSpc>
              <a:tabLst>
                <a:tab pos="1869439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=5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5706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373607"/>
            <a:ext cx="22288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1">
                <a:latin typeface="Arial"/>
                <a:cs typeface="Arial"/>
              </a:rPr>
              <a:t>Case-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Fully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Explicit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Scheme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θ</a:t>
            </a:r>
            <a:r>
              <a:rPr dirty="0" sz="1100" spc="5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0)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0180" y="693990"/>
            <a:ext cx="51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8709" y="592974"/>
            <a:ext cx="11595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300" algn="l"/>
                <a:tab pos="1090930" algn="l"/>
              </a:tabLst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+1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0495" y="612862"/>
            <a:ext cx="2181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82270" algn="l"/>
                <a:tab pos="1420495" algn="l"/>
              </a:tabLst>
            </a:pPr>
            <a:r>
              <a:rPr dirty="0" sz="1100" spc="10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130" i="1">
                <a:latin typeface="Arial"/>
                <a:cs typeface="Arial"/>
              </a:rPr>
              <a:t> 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Fo</a:t>
            </a:r>
            <a:r>
              <a:rPr dirty="0" sz="1100" spc="355" i="1">
                <a:latin typeface="Arial"/>
                <a:cs typeface="Arial"/>
              </a:rPr>
              <a:t> </a:t>
            </a:r>
            <a:r>
              <a:rPr dirty="0" sz="1100" spc="10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2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 spc="21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70" i="1">
                <a:latin typeface="Arial"/>
                <a:cs typeface="Arial"/>
              </a:rPr>
              <a:t>T</a:t>
            </a:r>
            <a:r>
              <a:rPr dirty="0" baseline="31250" sz="1200" spc="104" i="1">
                <a:latin typeface="Arial"/>
                <a:cs typeface="Arial"/>
              </a:rPr>
              <a:t>n</a:t>
            </a:r>
            <a:endParaRPr baseline="31250"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3300" y="684516"/>
            <a:ext cx="16522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7695" algn="l"/>
                <a:tab pos="1120140" algn="l"/>
                <a:tab pos="1465580" algn="l"/>
              </a:tabLst>
            </a:pP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+1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−</a:t>
            </a:r>
            <a:r>
              <a:rPr dirty="0" sz="800" spc="-25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6657" y="500632"/>
            <a:ext cx="127254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202055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8709" y="967243"/>
            <a:ext cx="2203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7209" y="968310"/>
            <a:ext cx="812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7206" y="968310"/>
            <a:ext cx="812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0495" y="988185"/>
            <a:ext cx="2181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89890" algn="l"/>
                <a:tab pos="1420495" algn="l"/>
              </a:tabLst>
            </a:pPr>
            <a:r>
              <a:rPr dirty="0" sz="1100" spc="10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114" i="1">
                <a:latin typeface="Arial"/>
                <a:cs typeface="Arial"/>
              </a:rPr>
              <a:t> 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Fo</a:t>
            </a:r>
            <a:r>
              <a:rPr dirty="0" sz="1100" spc="370" i="1">
                <a:latin typeface="Arial"/>
                <a:cs typeface="Arial"/>
              </a:rPr>
              <a:t> </a:t>
            </a:r>
            <a:r>
              <a:rPr dirty="0" sz="1100" spc="10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2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 spc="21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70" i="1">
                <a:latin typeface="Arial"/>
                <a:cs typeface="Arial"/>
              </a:rPr>
              <a:t>T</a:t>
            </a:r>
            <a:r>
              <a:rPr dirty="0" baseline="31250" sz="1200" spc="104" i="1">
                <a:latin typeface="Arial"/>
                <a:cs typeface="Arial"/>
              </a:rPr>
              <a:t>n</a:t>
            </a:r>
            <a:endParaRPr baseline="31250"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0180" y="1069326"/>
            <a:ext cx="21355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0540" algn="l"/>
                <a:tab pos="1090930" algn="l"/>
                <a:tab pos="1603375" algn="l"/>
                <a:tab pos="1948814" algn="l"/>
              </a:tabLst>
            </a:pP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baseline="3472" sz="1200" spc="-75" i="1">
                <a:latin typeface="Arial"/>
                <a:cs typeface="Arial"/>
              </a:rPr>
              <a:t>i</a:t>
            </a:r>
            <a:r>
              <a:rPr dirty="0" baseline="3472" sz="1200" i="1">
                <a:latin typeface="Arial"/>
                <a:cs typeface="Arial"/>
              </a:rPr>
              <a:t>	i</a:t>
            </a:r>
            <a:r>
              <a:rPr dirty="0" baseline="3472" sz="1200" spc="-179" i="1">
                <a:latin typeface="Arial"/>
                <a:cs typeface="Arial"/>
              </a:rPr>
              <a:t> </a:t>
            </a:r>
            <a:r>
              <a:rPr dirty="0" baseline="3472" sz="1200" spc="-37">
                <a:latin typeface="Tahoma"/>
                <a:cs typeface="Tahoma"/>
              </a:rPr>
              <a:t>+1</a:t>
            </a:r>
            <a:r>
              <a:rPr dirty="0" baseline="3472" sz="1200">
                <a:latin typeface="Tahoma"/>
                <a:cs typeface="Tahoma"/>
              </a:rPr>
              <a:t>	</a:t>
            </a:r>
            <a:r>
              <a:rPr dirty="0" baseline="3472" sz="1200" spc="-75" i="1">
                <a:latin typeface="Arial"/>
                <a:cs typeface="Arial"/>
              </a:rPr>
              <a:t>i</a:t>
            </a:r>
            <a:r>
              <a:rPr dirty="0" baseline="3472" sz="1200" i="1">
                <a:latin typeface="Arial"/>
                <a:cs typeface="Arial"/>
              </a:rPr>
              <a:t>	i</a:t>
            </a:r>
            <a:r>
              <a:rPr dirty="0" baseline="3472" sz="1200" spc="-179" i="1">
                <a:latin typeface="Arial"/>
                <a:cs typeface="Arial"/>
              </a:rPr>
              <a:t> </a:t>
            </a:r>
            <a:r>
              <a:rPr dirty="0" baseline="3472" sz="1200" spc="-37">
                <a:latin typeface="Lucida Sans Unicode"/>
                <a:cs typeface="Lucida Sans Unicode"/>
              </a:rPr>
              <a:t>−</a:t>
            </a:r>
            <a:r>
              <a:rPr dirty="0" baseline="3472" sz="1200" spc="-37">
                <a:latin typeface="Tahoma"/>
                <a:cs typeface="Tahoma"/>
              </a:rPr>
              <a:t>1</a:t>
            </a:r>
            <a:endParaRPr baseline="3472"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6657" y="875968"/>
            <a:ext cx="127254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202055" algn="l"/>
              </a:tabLst>
            </a:pPr>
            <a:r>
              <a:rPr dirty="0" sz="110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5956"/>
            <a:ext cx="65265" cy="6526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90232" y="1169502"/>
            <a:ext cx="4143375" cy="54038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65"/>
              </a:spcBef>
            </a:pPr>
            <a:r>
              <a:rPr dirty="0" sz="1100" spc="-35">
                <a:latin typeface="Tahoma"/>
                <a:cs typeface="Tahoma"/>
              </a:rPr>
              <a:t>Hence,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interior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nodes,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2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1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level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n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0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1</a:t>
            </a:r>
            <a:r>
              <a:rPr dirty="0" sz="1100" spc="-25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2</a:t>
            </a:r>
            <a:r>
              <a:rPr dirty="0" sz="1100" spc="-25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50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842644">
              <a:lnSpc>
                <a:spcPts val="980"/>
              </a:lnSpc>
              <a:spcBef>
                <a:spcPts val="565"/>
              </a:spcBef>
              <a:tabLst>
                <a:tab pos="1790064" algn="l"/>
                <a:tab pos="3832860" algn="l"/>
              </a:tabLst>
            </a:pP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baseline="31250" sz="1200" spc="89" i="1">
                <a:latin typeface="Arial"/>
                <a:cs typeface="Arial"/>
              </a:rPr>
              <a:t>n</a:t>
            </a:r>
            <a:r>
              <a:rPr dirty="0" baseline="31250" sz="1200" spc="89">
                <a:latin typeface="Tahoma"/>
                <a:cs typeface="Tahoma"/>
              </a:rPr>
              <a:t>+1</a:t>
            </a:r>
            <a:r>
              <a:rPr dirty="0" baseline="31250" sz="1200" spc="187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FoT</a:t>
            </a:r>
            <a:r>
              <a:rPr dirty="0" baseline="31250" sz="1200" spc="-30" i="1">
                <a:latin typeface="Arial"/>
                <a:cs typeface="Arial"/>
              </a:rPr>
              <a:t>n</a:t>
            </a:r>
            <a:r>
              <a:rPr dirty="0" baseline="31250" sz="12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(1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8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2</a:t>
            </a:r>
            <a:r>
              <a:rPr dirty="0" sz="1100" i="1">
                <a:latin typeface="Arial"/>
                <a:cs typeface="Arial"/>
              </a:rPr>
              <a:t>Fo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 spc="16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FoT</a:t>
            </a:r>
            <a:r>
              <a:rPr dirty="0" baseline="31250" sz="1200" spc="-30" i="1">
                <a:latin typeface="Arial"/>
                <a:cs typeface="Arial"/>
              </a:rPr>
              <a:t>n</a:t>
            </a:r>
            <a:r>
              <a:rPr dirty="0" baseline="31250" sz="1200" i="1">
                <a:latin typeface="Arial"/>
                <a:cs typeface="Arial"/>
              </a:rPr>
              <a:t>	</a:t>
            </a:r>
            <a:r>
              <a:rPr dirty="0" sz="1100" spc="-20">
                <a:latin typeface="Tahoma"/>
                <a:cs typeface="Tahoma"/>
              </a:rPr>
              <a:t>(17)</a:t>
            </a:r>
            <a:endParaRPr sz="1100">
              <a:latin typeface="Tahoma"/>
              <a:cs typeface="Tahoma"/>
            </a:endParaRPr>
          </a:p>
          <a:p>
            <a:pPr marL="937260">
              <a:lnSpc>
                <a:spcPts val="620"/>
              </a:lnSpc>
              <a:tabLst>
                <a:tab pos="1579880" algn="l"/>
                <a:tab pos="2592070" algn="l"/>
                <a:tab pos="3081655" algn="l"/>
              </a:tabLst>
            </a:pP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baseline="3472" sz="1200" i="1">
                <a:latin typeface="Arial"/>
                <a:cs typeface="Arial"/>
              </a:rPr>
              <a:t>i</a:t>
            </a:r>
            <a:r>
              <a:rPr dirty="0" baseline="3472" sz="1200" spc="-179" i="1">
                <a:latin typeface="Arial"/>
                <a:cs typeface="Arial"/>
              </a:rPr>
              <a:t> </a:t>
            </a:r>
            <a:r>
              <a:rPr dirty="0" baseline="3472" sz="1200" spc="-37">
                <a:latin typeface="Lucida Sans Unicode"/>
                <a:cs typeface="Lucida Sans Unicode"/>
              </a:rPr>
              <a:t>−</a:t>
            </a:r>
            <a:r>
              <a:rPr dirty="0" baseline="3472" sz="1200" spc="-37">
                <a:latin typeface="Tahoma"/>
                <a:cs typeface="Tahoma"/>
              </a:rPr>
              <a:t>1</a:t>
            </a:r>
            <a:r>
              <a:rPr dirty="0" baseline="3472" sz="1200">
                <a:latin typeface="Tahoma"/>
                <a:cs typeface="Tahoma"/>
              </a:rPr>
              <a:t>	</a:t>
            </a:r>
            <a:r>
              <a:rPr dirty="0" baseline="3472" sz="1200" spc="-75" i="1">
                <a:latin typeface="Arial"/>
                <a:cs typeface="Arial"/>
              </a:rPr>
              <a:t>i</a:t>
            </a:r>
            <a:r>
              <a:rPr dirty="0" baseline="3472" sz="1200" i="1">
                <a:latin typeface="Arial"/>
                <a:cs typeface="Arial"/>
              </a:rPr>
              <a:t>	i</a:t>
            </a:r>
            <a:r>
              <a:rPr dirty="0" baseline="3472" sz="1200" spc="-179" i="1">
                <a:latin typeface="Arial"/>
                <a:cs typeface="Arial"/>
              </a:rPr>
              <a:t> </a:t>
            </a:r>
            <a:r>
              <a:rPr dirty="0" baseline="3472" sz="1200" spc="-37">
                <a:latin typeface="Tahoma"/>
                <a:cs typeface="Tahoma"/>
              </a:rPr>
              <a:t>+1</a:t>
            </a:r>
            <a:endParaRPr baseline="3472" sz="12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76463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77532" y="1793010"/>
            <a:ext cx="3910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Tahoma"/>
                <a:cs typeface="Tahoma"/>
              </a:rPr>
              <a:t>Therefore,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new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temperature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baseline="31250" sz="1200" spc="89" i="1">
                <a:latin typeface="Arial"/>
                <a:cs typeface="Arial"/>
              </a:rPr>
              <a:t>n</a:t>
            </a:r>
            <a:r>
              <a:rPr dirty="0" baseline="31250" sz="1200" spc="89">
                <a:latin typeface="Tahoma"/>
                <a:cs typeface="Tahoma"/>
              </a:rPr>
              <a:t>+1</a:t>
            </a:r>
            <a:r>
              <a:rPr dirty="0" baseline="31250" sz="1200" spc="157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calculated </a:t>
            </a:r>
            <a:r>
              <a:rPr dirty="0" sz="1100" spc="-10">
                <a:latin typeface="Tahoma"/>
                <a:cs typeface="Tahoma"/>
              </a:rPr>
              <a:t>explicitly.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1874137"/>
            <a:ext cx="2169795" cy="320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13843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stability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Fully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Explicit</a:t>
            </a:r>
            <a:r>
              <a:rPr dirty="0" sz="1100" spc="-50">
                <a:latin typeface="Tahoma"/>
                <a:cs typeface="Tahoma"/>
              </a:rPr>
              <a:t> scheme,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86495"/>
            <a:ext cx="65265" cy="6526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745488" y="2294368"/>
            <a:ext cx="12560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1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Tahoma"/>
                <a:cs typeface="Tahoma"/>
              </a:rPr>
              <a:t>2</a:t>
            </a:r>
            <a:r>
              <a:rPr dirty="0" sz="1100" spc="-50" i="1">
                <a:latin typeface="Arial"/>
                <a:cs typeface="Arial"/>
              </a:rPr>
              <a:t>Fo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≥</a:t>
            </a:r>
            <a:r>
              <a:rPr dirty="0" sz="1100" spc="-85">
                <a:latin typeface="Lucida Sans Unicode"/>
                <a:cs typeface="Lucida Sans Unicode"/>
              </a:rPr>
              <a:t> </a:t>
            </a:r>
            <a:r>
              <a:rPr dirty="0" sz="1100" spc="-60">
                <a:latin typeface="Tahoma"/>
                <a:cs typeface="Tahoma"/>
              </a:rPr>
              <a:t>0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⇒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25" i="1">
                <a:latin typeface="Arial"/>
                <a:cs typeface="Arial"/>
              </a:rPr>
              <a:t>Fo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≤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42450" y="2410968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029750" y="2178136"/>
            <a:ext cx="9525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5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37410" y="283730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9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12403" y="2837307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599311" y="2720694"/>
            <a:ext cx="1273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89">
                <a:latin typeface="Tahoma"/>
                <a:cs typeface="Tahoma"/>
              </a:rPr>
              <a:t>(∆</a:t>
            </a:r>
            <a:r>
              <a:rPr dirty="0" baseline="-37878" sz="1650" spc="89" i="1">
                <a:latin typeface="Arial"/>
                <a:cs typeface="Arial"/>
              </a:rPr>
              <a:t>x</a:t>
            </a:r>
            <a:r>
              <a:rPr dirty="0" baseline="-37878" sz="1650" spc="-315" i="1">
                <a:latin typeface="Arial"/>
                <a:cs typeface="Arial"/>
              </a:rPr>
              <a:t> </a:t>
            </a:r>
            <a:r>
              <a:rPr dirty="0" baseline="-37878" sz="1650">
                <a:latin typeface="Tahoma"/>
                <a:cs typeface="Tahoma"/>
              </a:rPr>
              <a:t>)</a:t>
            </a:r>
            <a:r>
              <a:rPr dirty="0" baseline="-31250" sz="1200">
                <a:latin typeface="Tahoma"/>
                <a:cs typeface="Tahoma"/>
              </a:rPr>
              <a:t>2</a:t>
            </a:r>
            <a:r>
              <a:rPr dirty="0" baseline="-31250" sz="1200" spc="300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≤</a:t>
            </a:r>
            <a:r>
              <a:rPr dirty="0" sz="1100" spc="60">
                <a:latin typeface="Lucida Sans Unicode"/>
                <a:cs typeface="Lucida Sans Unicode"/>
              </a:rPr>
              <a:t> </a:t>
            </a:r>
            <a:r>
              <a:rPr dirty="0" baseline="-37878" sz="1650">
                <a:latin typeface="Tahoma"/>
                <a:cs typeface="Tahoma"/>
              </a:rPr>
              <a:t>2</a:t>
            </a:r>
            <a:r>
              <a:rPr dirty="0" baseline="-37878" sz="1650" spc="89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⇒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160">
                <a:latin typeface="Tahoma"/>
                <a:cs typeface="Tahoma"/>
              </a:rPr>
              <a:t>∆</a:t>
            </a:r>
            <a:r>
              <a:rPr dirty="0" sz="1100" spc="160" i="1">
                <a:latin typeface="Arial"/>
                <a:cs typeface="Arial"/>
              </a:rPr>
              <a:t>t</a:t>
            </a:r>
            <a:r>
              <a:rPr dirty="0" sz="1100" spc="60" i="1">
                <a:latin typeface="Arial"/>
                <a:cs typeface="Arial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≤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46948" y="2626968"/>
            <a:ext cx="16452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65150" algn="l"/>
                <a:tab pos="1240155" algn="l"/>
              </a:tabLst>
            </a:pPr>
            <a:r>
              <a:rPr dirty="0" sz="1100" spc="105" i="1">
                <a:latin typeface="Calibri"/>
                <a:cs typeface="Calibri"/>
              </a:rPr>
              <a:t>α</a:t>
            </a:r>
            <a:r>
              <a:rPr dirty="0" sz="1100" spc="105">
                <a:latin typeface="Tahoma"/>
                <a:cs typeface="Tahoma"/>
              </a:rPr>
              <a:t>∆</a:t>
            </a:r>
            <a:r>
              <a:rPr dirty="0" sz="1100" spc="10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>
                <a:latin typeface="Tahoma"/>
                <a:cs typeface="Tahoma"/>
              </a:rPr>
              <a:t>1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60">
                <a:latin typeface="Tahoma"/>
                <a:cs typeface="Tahoma"/>
              </a:rPr>
              <a:t>(∆</a:t>
            </a:r>
            <a:r>
              <a:rPr dirty="0" sz="1100" spc="60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baseline="27777" sz="1200" spc="-37">
                <a:latin typeface="Tahoma"/>
                <a:cs typeface="Tahoma"/>
              </a:rPr>
              <a:t>2</a:t>
            </a:r>
            <a:endParaRPr baseline="27777"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87776" y="2837307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 h="0">
                <a:moveTo>
                  <a:pt x="0" y="0"/>
                </a:moveTo>
                <a:lnTo>
                  <a:pt x="3599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975825" y="2815728"/>
            <a:ext cx="183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2</a:t>
            </a:r>
            <a:r>
              <a:rPr dirty="0" sz="1100" spc="-25" i="1">
                <a:latin typeface="Calibri"/>
                <a:cs typeface="Calibri"/>
              </a:rPr>
              <a:t>α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3124923"/>
            <a:ext cx="65265" cy="6526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02932" y="3041470"/>
            <a:ext cx="2675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Fully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Explicit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scheme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 b="1">
                <a:latin typeface="Arial"/>
                <a:cs typeface="Arial"/>
              </a:rPr>
              <a:t>conditionally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stable</a:t>
            </a:r>
            <a:r>
              <a:rPr dirty="0" sz="1100" spc="-3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95744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712303"/>
            <a:ext cx="2388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1">
                <a:latin typeface="Arial"/>
                <a:cs typeface="Arial"/>
              </a:rPr>
              <a:t>Case-</a:t>
            </a:r>
            <a:r>
              <a:rPr dirty="0" sz="1100" b="1">
                <a:latin typeface="Arial"/>
                <a:cs typeface="Arial"/>
              </a:rPr>
              <a:t>II: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Fully </a:t>
            </a:r>
            <a:r>
              <a:rPr dirty="0" sz="1100" spc="-20">
                <a:latin typeface="Tahoma"/>
                <a:cs typeface="Tahoma"/>
              </a:rPr>
              <a:t>Implicit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Scheme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θ</a:t>
            </a:r>
            <a:r>
              <a:rPr dirty="0" sz="1100" spc="6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</a:t>
            </a:r>
            <a:r>
              <a:rPr dirty="0" sz="1100" spc="-20" i="1">
                <a:latin typeface="Calibri"/>
                <a:cs typeface="Calibri"/>
              </a:rPr>
              <a:t>.</a:t>
            </a:r>
            <a:r>
              <a:rPr dirty="0" sz="1100" spc="-20">
                <a:latin typeface="Tahoma"/>
                <a:cs typeface="Tahoma"/>
              </a:rPr>
              <a:t>0)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7856" y="839329"/>
            <a:ext cx="83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9908" y="931670"/>
            <a:ext cx="12985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300" algn="l"/>
                <a:tab pos="1090930" algn="l"/>
              </a:tabLst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+1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0791" y="930616"/>
            <a:ext cx="2203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+1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1379" y="1032686"/>
            <a:ext cx="168211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300" algn="l"/>
                <a:tab pos="1090930" algn="l"/>
                <a:tab pos="1643380" algn="l"/>
              </a:tabLst>
            </a:pP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baseline="3472" sz="1200" spc="-75" i="1">
                <a:latin typeface="Arial"/>
                <a:cs typeface="Arial"/>
              </a:rPr>
              <a:t>i</a:t>
            </a:r>
            <a:r>
              <a:rPr dirty="0" baseline="3472" sz="1200" i="1">
                <a:latin typeface="Arial"/>
                <a:cs typeface="Arial"/>
              </a:rPr>
              <a:t>	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+1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7094" y="951558"/>
            <a:ext cx="2233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6870" algn="l"/>
                <a:tab pos="1435100" algn="l"/>
                <a:tab pos="1987550" algn="l"/>
              </a:tabLst>
            </a:pPr>
            <a:r>
              <a:rPr dirty="0" sz="1100" spc="10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130" i="1">
                <a:latin typeface="Arial"/>
                <a:cs typeface="Arial"/>
              </a:rPr>
              <a:t> 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Fo</a:t>
            </a:r>
            <a:r>
              <a:rPr dirty="0" sz="1100" spc="355" i="1">
                <a:latin typeface="Arial"/>
                <a:cs typeface="Arial"/>
              </a:rPr>
              <a:t> </a:t>
            </a:r>
            <a:r>
              <a:rPr dirty="0" sz="1100" spc="10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Tahoma"/>
                <a:cs typeface="Tahoma"/>
              </a:rPr>
              <a:t>2</a:t>
            </a:r>
            <a:r>
              <a:rPr dirty="0" sz="1100" spc="-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10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95383" y="930616"/>
            <a:ext cx="238760" cy="249554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18415">
              <a:lnSpc>
                <a:spcPts val="800"/>
              </a:lnSpc>
              <a:spcBef>
                <a:spcPts val="254"/>
              </a:spcBef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Tahoma"/>
                <a:cs typeface="Tahoma"/>
              </a:rPr>
              <a:t>+1 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−</a:t>
            </a:r>
            <a:r>
              <a:rPr dirty="0" sz="800" spc="-25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4864" y="839329"/>
            <a:ext cx="83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832" y="1326881"/>
            <a:ext cx="4168775" cy="721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63905">
              <a:lnSpc>
                <a:spcPts val="980"/>
              </a:lnSpc>
              <a:spcBef>
                <a:spcPts val="90"/>
              </a:spcBef>
            </a:pP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baseline="31250" sz="1200" spc="89" i="1">
                <a:latin typeface="Arial"/>
                <a:cs typeface="Arial"/>
              </a:rPr>
              <a:t>n</a:t>
            </a:r>
            <a:r>
              <a:rPr dirty="0" baseline="31250" sz="1200" spc="89">
                <a:latin typeface="Tahoma"/>
                <a:cs typeface="Tahoma"/>
              </a:rPr>
              <a:t>+1</a:t>
            </a:r>
            <a:r>
              <a:rPr dirty="0" baseline="31250" sz="1200" spc="20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95" i="1">
                <a:latin typeface="Arial"/>
                <a:cs typeface="Arial"/>
              </a:rPr>
              <a:t>T</a:t>
            </a:r>
            <a:r>
              <a:rPr dirty="0" baseline="31250" sz="1200" spc="142" i="1">
                <a:latin typeface="Arial"/>
                <a:cs typeface="Arial"/>
              </a:rPr>
              <a:t>n</a:t>
            </a:r>
            <a:r>
              <a:rPr dirty="0" baseline="31250" sz="1200" spc="172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FoT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>
                <a:latin typeface="Tahoma"/>
                <a:cs typeface="Tahoma"/>
              </a:rPr>
              <a:t>+1</a:t>
            </a:r>
            <a:r>
              <a:rPr dirty="0" baseline="31250" sz="1200" spc="104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8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2</a:t>
            </a:r>
            <a:r>
              <a:rPr dirty="0" sz="1100" i="1">
                <a:latin typeface="Arial"/>
                <a:cs typeface="Arial"/>
              </a:rPr>
              <a:t>FoT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>
                <a:latin typeface="Tahoma"/>
                <a:cs typeface="Tahoma"/>
              </a:rPr>
              <a:t>+1</a:t>
            </a:r>
            <a:r>
              <a:rPr dirty="0" baseline="31250" sz="1200" spc="10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FoT</a:t>
            </a:r>
            <a:r>
              <a:rPr dirty="0" baseline="31250" sz="1200" spc="-15" i="1">
                <a:latin typeface="Arial"/>
                <a:cs typeface="Arial"/>
              </a:rPr>
              <a:t>n</a:t>
            </a:r>
            <a:r>
              <a:rPr dirty="0" baseline="31250" sz="1200" spc="-15">
                <a:latin typeface="Tahoma"/>
                <a:cs typeface="Tahoma"/>
              </a:rPr>
              <a:t>+1</a:t>
            </a:r>
            <a:endParaRPr baseline="31250" sz="1200">
              <a:latin typeface="Tahoma"/>
              <a:cs typeface="Tahoma"/>
            </a:endParaRPr>
          </a:p>
          <a:p>
            <a:pPr algn="r" marR="815975">
              <a:lnSpc>
                <a:spcPts val="620"/>
              </a:lnSpc>
              <a:tabLst>
                <a:tab pos="497840" algn="l"/>
                <a:tab pos="988060" algn="l"/>
                <a:tab pos="1684655" algn="l"/>
                <a:tab pos="2312035" algn="l"/>
              </a:tabLst>
            </a:pP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baseline="3472" sz="1200" spc="-75" i="1">
                <a:latin typeface="Arial"/>
                <a:cs typeface="Arial"/>
              </a:rPr>
              <a:t>i</a:t>
            </a:r>
            <a:r>
              <a:rPr dirty="0" baseline="3472" sz="1200" i="1">
                <a:latin typeface="Arial"/>
                <a:cs typeface="Arial"/>
              </a:rPr>
              <a:t>	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+1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−</a:t>
            </a:r>
            <a:r>
              <a:rPr dirty="0" sz="800" spc="-25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95"/>
              </a:spcBef>
            </a:pPr>
            <a:r>
              <a:rPr dirty="0" sz="1100" spc="-35">
                <a:latin typeface="Tahoma"/>
                <a:cs typeface="Tahoma"/>
              </a:rPr>
              <a:t>Hence,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interior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nodes,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2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30">
                <a:latin typeface="Tahoma"/>
                <a:cs typeface="Tahoma"/>
              </a:rPr>
              <a:t>3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1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level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n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0</a:t>
            </a:r>
            <a:r>
              <a:rPr dirty="0" sz="1100" spc="-30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1</a:t>
            </a:r>
            <a:r>
              <a:rPr dirty="0" sz="1100" spc="-25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2</a:t>
            </a:r>
            <a:r>
              <a:rPr dirty="0" sz="1100" spc="-25" i="1">
                <a:latin typeface="Calibri"/>
                <a:cs typeface="Calibri"/>
              </a:rPr>
              <a:t>,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.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-50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774065">
              <a:lnSpc>
                <a:spcPts val="980"/>
              </a:lnSpc>
              <a:spcBef>
                <a:spcPts val="565"/>
              </a:spcBef>
              <a:tabLst>
                <a:tab pos="3858260" algn="l"/>
              </a:tabLst>
            </a:pPr>
            <a:r>
              <a:rPr dirty="0" sz="1100">
                <a:latin typeface="Lucida Sans Unicode"/>
                <a:cs typeface="Lucida Sans Unicode"/>
              </a:rPr>
              <a:t>−</a:t>
            </a:r>
            <a:r>
              <a:rPr dirty="0" sz="1100" i="1">
                <a:latin typeface="Arial"/>
                <a:cs typeface="Arial"/>
              </a:rPr>
              <a:t>FoT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>
                <a:latin typeface="Tahoma"/>
                <a:cs typeface="Tahoma"/>
              </a:rPr>
              <a:t>+1</a:t>
            </a:r>
            <a:r>
              <a:rPr dirty="0" baseline="31250" sz="1200" spc="127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(1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2</a:t>
            </a:r>
            <a:r>
              <a:rPr dirty="0" sz="1100" i="1">
                <a:latin typeface="Arial"/>
                <a:cs typeface="Arial"/>
              </a:rPr>
              <a:t>Fo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>
                <a:latin typeface="Tahoma"/>
                <a:cs typeface="Tahoma"/>
              </a:rPr>
              <a:t>+1</a:t>
            </a:r>
            <a:r>
              <a:rPr dirty="0" baseline="31250" sz="1200" spc="127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FoT</a:t>
            </a:r>
            <a:r>
              <a:rPr dirty="0" baseline="31250" sz="1200" i="1">
                <a:latin typeface="Arial"/>
                <a:cs typeface="Arial"/>
              </a:rPr>
              <a:t>n</a:t>
            </a:r>
            <a:r>
              <a:rPr dirty="0" baseline="31250" sz="1200">
                <a:latin typeface="Tahoma"/>
                <a:cs typeface="Tahoma"/>
              </a:rPr>
              <a:t>+1</a:t>
            </a:r>
            <a:r>
              <a:rPr dirty="0" baseline="31250" sz="1200" spc="2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70" i="1">
                <a:latin typeface="Arial"/>
                <a:cs typeface="Arial"/>
              </a:rPr>
              <a:t>T</a:t>
            </a:r>
            <a:r>
              <a:rPr dirty="0" baseline="31250" sz="1200" spc="104" i="1">
                <a:latin typeface="Arial"/>
                <a:cs typeface="Arial"/>
              </a:rPr>
              <a:t>n</a:t>
            </a:r>
            <a:r>
              <a:rPr dirty="0" baseline="31250" sz="1200" i="1">
                <a:latin typeface="Arial"/>
                <a:cs typeface="Arial"/>
              </a:rPr>
              <a:t>	</a:t>
            </a:r>
            <a:r>
              <a:rPr dirty="0" sz="1100" spc="-20">
                <a:latin typeface="Tahoma"/>
                <a:cs typeface="Tahoma"/>
              </a:rPr>
              <a:t>(18)</a:t>
            </a:r>
            <a:endParaRPr sz="1100">
              <a:latin typeface="Tahoma"/>
              <a:cs typeface="Tahoma"/>
            </a:endParaRPr>
          </a:p>
          <a:p>
            <a:pPr algn="r" marR="835660">
              <a:lnSpc>
                <a:spcPts val="620"/>
              </a:lnSpc>
              <a:tabLst>
                <a:tab pos="1051560" algn="l"/>
                <a:tab pos="1679575" algn="l"/>
                <a:tab pos="2178050" algn="l"/>
              </a:tabLst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−</a:t>
            </a:r>
            <a:r>
              <a:rPr dirty="0" sz="800" spc="-25">
                <a:latin typeface="Tahoma"/>
                <a:cs typeface="Tahoma"/>
              </a:rPr>
              <a:t>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+1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baseline="3472" sz="1200" spc="-75" i="1">
                <a:latin typeface="Arial"/>
                <a:cs typeface="Arial"/>
              </a:rPr>
              <a:t>i</a:t>
            </a:r>
            <a:endParaRPr baseline="3472" sz="12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64652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3478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387600" y="2232455"/>
            <a:ext cx="51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532" y="2151327"/>
            <a:ext cx="33331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Tahoma"/>
                <a:cs typeface="Tahoma"/>
              </a:rPr>
              <a:t>Therefore,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new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temperature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baseline="31250" sz="1200" spc="89" i="1">
                <a:latin typeface="Arial"/>
                <a:cs typeface="Arial"/>
              </a:rPr>
              <a:t>n</a:t>
            </a:r>
            <a:r>
              <a:rPr dirty="0" baseline="31250" sz="1200" spc="89">
                <a:latin typeface="Tahoma"/>
                <a:cs typeface="Tahoma"/>
              </a:rPr>
              <a:t>+1</a:t>
            </a:r>
            <a:r>
              <a:rPr dirty="0" baseline="31250" sz="1200" spc="157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calculated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2932" y="2279622"/>
            <a:ext cx="2832735" cy="4457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Tahoma"/>
                <a:cs typeface="Tahoma"/>
              </a:rPr>
              <a:t>simultaneously.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Tahoma"/>
                <a:cs typeface="Tahoma"/>
              </a:rPr>
              <a:t>Fully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Implicit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scheme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 b="1">
                <a:latin typeface="Arial"/>
                <a:cs typeface="Arial"/>
              </a:rPr>
              <a:t>unconditionally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stable</a:t>
            </a:r>
            <a:r>
              <a:rPr dirty="0" sz="1100" spc="-2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616885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6962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22905" y="47127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32" y="386167"/>
            <a:ext cx="25190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5" b="1">
                <a:latin typeface="Arial"/>
                <a:cs typeface="Arial"/>
              </a:rPr>
              <a:t>Case-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7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Crank-</a:t>
            </a:r>
            <a:r>
              <a:rPr dirty="0" sz="1100" spc="-20">
                <a:latin typeface="Tahoma"/>
                <a:cs typeface="Tahoma"/>
              </a:rPr>
              <a:t>Nicolson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Scheme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θ</a:t>
            </a:r>
            <a:r>
              <a:rPr dirty="0" sz="1100" spc="10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100">
                <a:latin typeface="Tahoma"/>
                <a:cs typeface="Tahoma"/>
              </a:rPr>
              <a:t> </a:t>
            </a:r>
            <a:r>
              <a:rPr dirty="0" u="sng" baseline="31250" sz="120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baseline="31250" sz="1200" spc="-19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710" y="739333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794" y="829490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3025" y="739904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6096" y="823419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3296" y="668583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000" spc="-4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65477" y="739333"/>
            <a:ext cx="11277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9905" algn="l"/>
                <a:tab pos="944244" algn="l"/>
              </a:tabLst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8548" y="829490"/>
            <a:ext cx="11150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9905" algn="l"/>
                <a:tab pos="944244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9725" y="651692"/>
            <a:ext cx="134239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276350" algn="l"/>
              </a:tabLst>
            </a:pP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6526" y="668583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000" spc="-4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1739" y="840973"/>
            <a:ext cx="175196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75764" algn="l"/>
              </a:tabLst>
            </a:pPr>
            <a:r>
              <a:rPr dirty="0" sz="1000" spc="-50">
                <a:latin typeface="Tahoma"/>
                <a:cs typeface="Tahoma"/>
              </a:rPr>
              <a:t>2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2955" y="651692"/>
            <a:ext cx="781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28708" y="739904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0288" y="754181"/>
            <a:ext cx="3674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45440" algn="l"/>
                <a:tab pos="1044575" algn="l"/>
                <a:tab pos="1352550" algn="l"/>
                <a:tab pos="1849755" algn="l"/>
                <a:tab pos="2336800" algn="l"/>
                <a:tab pos="2707640" algn="l"/>
                <a:tab pos="2979420" algn="l"/>
              </a:tabLst>
            </a:pP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150" i="1">
                <a:latin typeface="Arial"/>
                <a:cs typeface="Arial"/>
              </a:rPr>
              <a:t> 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24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31746" sz="1050" spc="97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11791" y="823419"/>
            <a:ext cx="9588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345" algn="l"/>
                <a:tab pos="788035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51287" y="651692"/>
            <a:ext cx="781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034" y="1056645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9734" y="1249832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15416" y="1127394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06194" y="1127394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2650" y="1056645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65350" y="1249832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671546" y="1056645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684246" y="1249832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95490" y="1229022"/>
            <a:ext cx="22034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8125" algn="l"/>
                <a:tab pos="2126615" algn="l"/>
              </a:tabLst>
            </a:pPr>
            <a:r>
              <a:rPr dirty="0" sz="1000" spc="-50">
                <a:latin typeface="Tahoma"/>
                <a:cs typeface="Tahoma"/>
              </a:rPr>
              <a:t>2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2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11031" y="1127953"/>
            <a:ext cx="6934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1190" algn="l"/>
              </a:tabLst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84917" y="1127953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8487" y="1217551"/>
            <a:ext cx="30175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2969" algn="l"/>
                <a:tab pos="1508125" algn="l"/>
                <a:tab pos="2126615" algn="l"/>
                <a:tab pos="2981960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37" i="1">
                <a:latin typeface="Arial"/>
                <a:cs typeface="Arial"/>
              </a:rPr>
              <a:t>i</a:t>
            </a:r>
            <a:r>
              <a:rPr dirty="0" baseline="3968" sz="1050" spc="-37">
                <a:latin typeface="Tahoma"/>
                <a:cs typeface="Tahoma"/>
              </a:rPr>
              <a:t>+1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endParaRPr baseline="3968"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11129" y="1056645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023829" y="1249832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049585" y="1229022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3445" y="1142243"/>
            <a:ext cx="3834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  <a:tab pos="589280" algn="l"/>
                <a:tab pos="1479550" algn="l"/>
                <a:tab pos="1776730" algn="l"/>
                <a:tab pos="2091689" algn="l"/>
                <a:tab pos="2395855" algn="l"/>
                <a:tab pos="2667635" algn="l"/>
                <a:tab pos="3735070" algn="l"/>
              </a:tabLst>
            </a:pPr>
            <a:r>
              <a:rPr dirty="0" sz="1000">
                <a:latin typeface="Lucida Sans Unicode"/>
                <a:cs typeface="Lucida Sans Unicode"/>
              </a:rPr>
              <a:t>—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sz="1000" spc="135" i="1">
                <a:latin typeface="Arial"/>
                <a:cs typeface="Arial"/>
              </a:rPr>
              <a:t> 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52595" y="1127953"/>
            <a:ext cx="182880" cy="2152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 indent="16510">
              <a:lnSpc>
                <a:spcPct val="78300"/>
              </a:lnSpc>
              <a:spcBef>
                <a:spcPts val="280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r>
              <a:rPr dirty="0" sz="700" spc="500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74241"/>
            <a:ext cx="65265" cy="6526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402932" y="1402809"/>
            <a:ext cx="343725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Hence,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interior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nodes,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7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1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level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1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2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50" i="1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92493" y="184322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79793" y="1650039"/>
            <a:ext cx="15176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72870" algn="l"/>
              </a:tabLst>
            </a:pP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952891" y="184322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18248" y="1822429"/>
            <a:ext cx="144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72870" algn="l"/>
              </a:tabLst>
            </a:pPr>
            <a:r>
              <a:rPr dirty="0" sz="1000" spc="-50">
                <a:latin typeface="Tahoma"/>
                <a:cs typeface="Tahoma"/>
              </a:rPr>
              <a:t>2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8161" y="1720789"/>
            <a:ext cx="15563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2800" algn="l"/>
                <a:tab pos="1372870" algn="l"/>
              </a:tabLst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1245" y="1810946"/>
            <a:ext cx="15373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2800" algn="l"/>
                <a:tab pos="1372870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59075" y="1650039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571775" y="184322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597530" y="1822429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00540" y="1804875"/>
            <a:ext cx="1828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817456" y="1721347"/>
            <a:ext cx="845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2955" algn="l"/>
              </a:tabLst>
            </a:pPr>
            <a:r>
              <a:rPr dirty="0" sz="700" spc="-50" i="1">
                <a:latin typeface="Arial"/>
                <a:cs typeface="Arial"/>
              </a:rPr>
              <a:t>n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71265" y="1804875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69334" y="1650039"/>
            <a:ext cx="1574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782034" y="184322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4016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807777" y="1822429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6204" y="1735638"/>
            <a:ext cx="3569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  <a:tab pos="566420" algn="l"/>
                <a:tab pos="1367155" algn="l"/>
                <a:tab pos="1641475" algn="l"/>
                <a:tab pos="1956435" algn="l"/>
                <a:tab pos="2260600" algn="l"/>
                <a:tab pos="2515870" algn="l"/>
                <a:tab pos="3470910" algn="l"/>
              </a:tabLst>
            </a:pPr>
            <a:r>
              <a:rPr dirty="0" sz="1000">
                <a:latin typeface="Lucida Sans Unicode"/>
                <a:cs typeface="Lucida Sans Unicode"/>
              </a:rPr>
              <a:t>—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10">
                <a:latin typeface="Tahoma"/>
                <a:cs typeface="Tahoma"/>
              </a:rPr>
              <a:t>+(1+</a:t>
            </a:r>
            <a:r>
              <a:rPr dirty="0" sz="1000" spc="-10" i="1">
                <a:latin typeface="Arial"/>
                <a:cs typeface="Arial"/>
              </a:rPr>
              <a:t>Fo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Lucida Sans Unicode"/>
                <a:cs typeface="Lucida Sans Unicode"/>
              </a:rPr>
              <a:t>−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+(1</a:t>
            </a: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sz="1000" spc="40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+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010786" y="1721347"/>
            <a:ext cx="177165" cy="2152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 indent="16510">
              <a:lnSpc>
                <a:spcPct val="78300"/>
              </a:lnSpc>
              <a:spcBef>
                <a:spcPts val="280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r>
              <a:rPr dirty="0" sz="700" spc="500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231817" y="1735638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(19)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60143"/>
            <a:ext cx="65265" cy="65265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402932" y="2088710"/>
            <a:ext cx="26816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stability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0">
                <a:latin typeface="Tahoma"/>
                <a:cs typeface="Tahoma"/>
              </a:rPr>
              <a:t> Crank-</a:t>
            </a:r>
            <a:r>
              <a:rPr dirty="0" sz="1000" spc="-20">
                <a:latin typeface="Tahoma"/>
                <a:cs typeface="Tahoma"/>
              </a:rPr>
              <a:t>Nicolson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scheme,</a:t>
            </a:r>
            <a:endParaRPr sz="1000">
              <a:latin typeface="Tahoma"/>
              <a:cs typeface="Tahoma"/>
            </a:endParaRPr>
          </a:p>
          <a:p>
            <a:pPr marL="1410335">
              <a:lnSpc>
                <a:spcPct val="100000"/>
              </a:lnSpc>
              <a:spcBef>
                <a:spcPts val="955"/>
              </a:spcBef>
            </a:pP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≥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spc="-10" i="1">
                <a:latin typeface="Arial"/>
                <a:cs typeface="Arial"/>
              </a:rPr>
              <a:t>Fo</a:t>
            </a:r>
            <a:r>
              <a:rPr dirty="0" sz="1000" spc="1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721319" y="2874467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 h="0">
                <a:moveTo>
                  <a:pt x="0" y="0"/>
                </a:moveTo>
                <a:lnTo>
                  <a:pt x="32716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1683219" y="2766878"/>
            <a:ext cx="11410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8888" sz="1500" spc="75">
                <a:latin typeface="Tahoma"/>
                <a:cs typeface="Tahoma"/>
              </a:rPr>
              <a:t>(∆</a:t>
            </a:r>
            <a:r>
              <a:rPr dirty="0" baseline="-38888" sz="1500" spc="75" i="1">
                <a:latin typeface="Arial"/>
                <a:cs typeface="Arial"/>
              </a:rPr>
              <a:t>x</a:t>
            </a:r>
            <a:r>
              <a:rPr dirty="0" baseline="-38888" sz="1500" spc="-284" i="1">
                <a:latin typeface="Arial"/>
                <a:cs typeface="Arial"/>
              </a:rPr>
              <a:t> </a:t>
            </a:r>
            <a:r>
              <a:rPr dirty="0" baseline="-38888" sz="1500">
                <a:latin typeface="Tahoma"/>
                <a:cs typeface="Tahoma"/>
              </a:rPr>
              <a:t>)</a:t>
            </a:r>
            <a:r>
              <a:rPr dirty="0" baseline="-31746" sz="1050">
                <a:latin typeface="Tahoma"/>
                <a:cs typeface="Tahoma"/>
              </a:rPr>
              <a:t>2</a:t>
            </a:r>
            <a:r>
              <a:rPr dirty="0" baseline="-31746" sz="1050" spc="307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50">
                <a:latin typeface="Lucida Sans Unicode"/>
                <a:cs typeface="Lucida Sans Unicode"/>
              </a:rPr>
              <a:t> </a:t>
            </a:r>
            <a:r>
              <a:rPr dirty="0" sz="1000" spc="140">
                <a:latin typeface="Tahoma"/>
                <a:cs typeface="Tahoma"/>
              </a:rPr>
              <a:t>∆</a:t>
            </a:r>
            <a:r>
              <a:rPr dirty="0" sz="1000" spc="140" i="1">
                <a:latin typeface="Arial"/>
                <a:cs typeface="Arial"/>
              </a:rPr>
              <a:t>t</a:t>
            </a:r>
            <a:r>
              <a:rPr dirty="0" sz="1000" spc="65" i="1">
                <a:latin typeface="Arial"/>
                <a:cs typeface="Arial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≤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725968" y="2681279"/>
            <a:ext cx="1482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09980" algn="l"/>
              </a:tabLst>
            </a:pPr>
            <a:r>
              <a:rPr dirty="0" sz="1000" spc="90" i="1">
                <a:latin typeface="Calibri"/>
                <a:cs typeface="Calibri"/>
              </a:rPr>
              <a:t>α</a:t>
            </a:r>
            <a:r>
              <a:rPr dirty="0" sz="1000" spc="90">
                <a:latin typeface="Tahoma"/>
                <a:cs typeface="Tahoma"/>
              </a:rPr>
              <a:t>∆</a:t>
            </a:r>
            <a:r>
              <a:rPr dirty="0" sz="1000" spc="9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endParaRPr baseline="27777" sz="105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836608" y="2874467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 h="0">
                <a:moveTo>
                  <a:pt x="0" y="0"/>
                </a:moveTo>
                <a:lnTo>
                  <a:pt x="32716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2946780" y="2853669"/>
            <a:ext cx="1066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0" i="1">
                <a:latin typeface="Calibri"/>
                <a:cs typeface="Calibri"/>
              </a:rPr>
              <a:t>α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3130512"/>
            <a:ext cx="65265" cy="65265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402932" y="3059079"/>
            <a:ext cx="2665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Crank-</a:t>
            </a:r>
            <a:r>
              <a:rPr dirty="0" sz="1000" spc="-20">
                <a:latin typeface="Tahoma"/>
                <a:cs typeface="Tahoma"/>
              </a:rPr>
              <a:t>Nicolson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scheme</a:t>
            </a:r>
            <a:r>
              <a:rPr dirty="0" sz="1000">
                <a:latin typeface="Tahoma"/>
                <a:cs typeface="Tahoma"/>
              </a:rPr>
              <a:t> is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 b="1">
                <a:latin typeface="Arial"/>
                <a:cs typeface="Arial"/>
              </a:rPr>
              <a:t>unconditionally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stable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Ex-1:1-</a:t>
            </a:r>
            <a:r>
              <a:rPr dirty="0"/>
              <a:t>D</a:t>
            </a:r>
            <a:r>
              <a:rPr dirty="0" spc="-15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15"/>
              <a:t> </a:t>
            </a:r>
            <a:r>
              <a:rPr dirty="0" spc="-35"/>
              <a:t>heat</a:t>
            </a:r>
            <a:r>
              <a:rPr dirty="0" spc="-15"/>
              <a:t> </a:t>
            </a:r>
            <a:r>
              <a:rPr dirty="0" spc="-35"/>
              <a:t>conduction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50"/>
              <a:t>plane</a:t>
            </a:r>
            <a:r>
              <a:rPr dirty="0" spc="-15"/>
              <a:t> </a:t>
            </a:r>
            <a:r>
              <a:rPr dirty="0" spc="-20"/>
              <a:t>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5429"/>
            <a:ext cx="65265" cy="652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68129" y="954223"/>
            <a:ext cx="52705" cy="24765"/>
          </a:xfrm>
          <a:custGeom>
            <a:avLst/>
            <a:gdLst/>
            <a:ahLst/>
            <a:cxnLst/>
            <a:rect l="l" t="t" r="r" b="b"/>
            <a:pathLst>
              <a:path w="52705" h="24765">
                <a:moveTo>
                  <a:pt x="0" y="24671"/>
                </a:moveTo>
                <a:lnTo>
                  <a:pt x="8044" y="20816"/>
                </a:lnTo>
                <a:lnTo>
                  <a:pt x="16242" y="13569"/>
                </a:lnTo>
                <a:lnTo>
                  <a:pt x="22898" y="5705"/>
                </a:lnTo>
                <a:lnTo>
                  <a:pt x="26316" y="0"/>
                </a:lnTo>
                <a:lnTo>
                  <a:pt x="29734" y="5705"/>
                </a:lnTo>
                <a:lnTo>
                  <a:pt x="36391" y="13569"/>
                </a:lnTo>
                <a:lnTo>
                  <a:pt x="44589" y="20816"/>
                </a:lnTo>
                <a:lnTo>
                  <a:pt x="52633" y="24671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2932" y="481989"/>
            <a:ext cx="3683635" cy="5568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1-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unsteady-</a:t>
            </a:r>
            <a:r>
              <a:rPr dirty="0" sz="1100" spc="-25">
                <a:latin typeface="Tahoma"/>
                <a:cs typeface="Tahoma"/>
              </a:rPr>
              <a:t>state heat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conduction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plane</a:t>
            </a:r>
            <a:r>
              <a:rPr dirty="0" sz="1100" spc="-25">
                <a:latin typeface="Tahoma"/>
                <a:cs typeface="Tahoma"/>
              </a:rPr>
              <a:t> slab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35">
                <a:latin typeface="Tahoma"/>
                <a:cs typeface="Tahoma"/>
              </a:rPr>
              <a:t>thickness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L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algn="ctr" marR="295275">
              <a:lnSpc>
                <a:spcPct val="100000"/>
              </a:lnSpc>
              <a:spcBef>
                <a:spcPts val="200"/>
              </a:spcBef>
            </a:pPr>
            <a:r>
              <a:rPr dirty="0" sz="1100" spc="10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52728" y="2444861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96470" y="1210730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18978" y="40487"/>
                </a:moveTo>
                <a:lnTo>
                  <a:pt x="16013" y="34300"/>
                </a:lnTo>
                <a:lnTo>
                  <a:pt x="10438" y="27993"/>
                </a:lnTo>
                <a:lnTo>
                  <a:pt x="4388" y="22873"/>
                </a:lnTo>
                <a:lnTo>
                  <a:pt x="0" y="20243"/>
                </a:lnTo>
                <a:lnTo>
                  <a:pt x="4388" y="17614"/>
                </a:lnTo>
                <a:lnTo>
                  <a:pt x="10438" y="12494"/>
                </a:lnTo>
                <a:lnTo>
                  <a:pt x="16013" y="6187"/>
                </a:lnTo>
                <a:lnTo>
                  <a:pt x="18978" y="0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09445" y="1210730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685183" y="1705615"/>
            <a:ext cx="298450" cy="192405"/>
            <a:chOff x="1685183" y="1705615"/>
            <a:chExt cx="298450" cy="192405"/>
          </a:xfrm>
        </p:grpSpPr>
        <p:sp>
          <p:nvSpPr>
            <p:cNvPr id="11" name="object 11"/>
            <p:cNvSpPr/>
            <p:nvPr/>
          </p:nvSpPr>
          <p:spPr>
            <a:xfrm>
              <a:off x="1690244" y="1710676"/>
              <a:ext cx="285115" cy="171450"/>
            </a:xfrm>
            <a:custGeom>
              <a:avLst/>
              <a:gdLst/>
              <a:ahLst/>
              <a:cxnLst/>
              <a:rect l="l" t="t" r="r" b="b"/>
              <a:pathLst>
                <a:path w="285114" h="171450">
                  <a:moveTo>
                    <a:pt x="0" y="0"/>
                  </a:moveTo>
                  <a:lnTo>
                    <a:pt x="284797" y="1708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44576" y="1848832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081" y="0"/>
                  </a:moveTo>
                  <a:lnTo>
                    <a:pt x="26248" y="8881"/>
                  </a:lnTo>
                  <a:lnTo>
                    <a:pt x="28244" y="19640"/>
                  </a:lnTo>
                  <a:lnTo>
                    <a:pt x="31563" y="29394"/>
                  </a:lnTo>
                  <a:lnTo>
                    <a:pt x="34697" y="35261"/>
                  </a:lnTo>
                  <a:lnTo>
                    <a:pt x="28046" y="35256"/>
                  </a:lnTo>
                  <a:lnTo>
                    <a:pt x="17877" y="36918"/>
                  </a:lnTo>
                  <a:lnTo>
                    <a:pt x="7444" y="40219"/>
                  </a:lnTo>
                  <a:lnTo>
                    <a:pt x="0" y="451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12736" y="1678284"/>
            <a:ext cx="765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baseline="8333" sz="1500" spc="-165" i="1">
                <a:latin typeface="Arial"/>
                <a:cs typeface="Arial"/>
              </a:rPr>
              <a:t> </a:t>
            </a:r>
            <a:r>
              <a:rPr dirty="0" baseline="8333" sz="1500" spc="-97">
                <a:latin typeface="Lucida Sans Unicode"/>
                <a:cs typeface="Lucida Sans Unicode"/>
              </a:rPr>
              <a:t>|</a:t>
            </a:r>
            <a:r>
              <a:rPr dirty="0" sz="700" spc="-65" i="1">
                <a:latin typeface="Arial"/>
                <a:cs typeface="Arial"/>
              </a:rPr>
              <a:t>x</a:t>
            </a:r>
            <a:r>
              <a:rPr dirty="0" sz="700" spc="-120" i="1">
                <a:latin typeface="Arial"/>
                <a:cs typeface="Arial"/>
              </a:rPr>
              <a:t> </a:t>
            </a:r>
            <a:r>
              <a:rPr dirty="0" sz="700">
                <a:latin typeface="Tahoma"/>
                <a:cs typeface="Tahoma"/>
              </a:rPr>
              <a:t>=0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t</a:t>
            </a:r>
            <a:r>
              <a:rPr dirty="0" sz="700" spc="290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67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41572" y="1705615"/>
            <a:ext cx="298450" cy="192405"/>
            <a:chOff x="2941572" y="1705615"/>
            <a:chExt cx="298450" cy="192405"/>
          </a:xfrm>
        </p:grpSpPr>
        <p:sp>
          <p:nvSpPr>
            <p:cNvPr id="15" name="object 15"/>
            <p:cNvSpPr/>
            <p:nvPr/>
          </p:nvSpPr>
          <p:spPr>
            <a:xfrm>
              <a:off x="2949852" y="1710676"/>
              <a:ext cx="285115" cy="171450"/>
            </a:xfrm>
            <a:custGeom>
              <a:avLst/>
              <a:gdLst/>
              <a:ahLst/>
              <a:cxnLst/>
              <a:rect l="l" t="t" r="r" b="b"/>
              <a:pathLst>
                <a:path w="285114" h="171450">
                  <a:moveTo>
                    <a:pt x="284797" y="0"/>
                  </a:moveTo>
                  <a:lnTo>
                    <a:pt x="0" y="1708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45621" y="1848832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34697" y="45133"/>
                  </a:moveTo>
                  <a:lnTo>
                    <a:pt x="27252" y="40219"/>
                  </a:lnTo>
                  <a:lnTo>
                    <a:pt x="16819" y="36918"/>
                  </a:lnTo>
                  <a:lnTo>
                    <a:pt x="6650" y="35256"/>
                  </a:lnTo>
                  <a:lnTo>
                    <a:pt x="0" y="35261"/>
                  </a:lnTo>
                  <a:lnTo>
                    <a:pt x="3133" y="29394"/>
                  </a:lnTo>
                  <a:lnTo>
                    <a:pt x="6452" y="19640"/>
                  </a:lnTo>
                  <a:lnTo>
                    <a:pt x="8448" y="8881"/>
                  </a:lnTo>
                  <a:lnTo>
                    <a:pt x="7615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241230" y="1678399"/>
            <a:ext cx="7315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-30" i="1">
                <a:latin typeface="Arial"/>
                <a:cs typeface="Arial"/>
              </a:rPr>
              <a:t>q</a:t>
            </a:r>
            <a:r>
              <a:rPr dirty="0" baseline="39682" sz="1050" spc="-30">
                <a:latin typeface="Lucida Sans Unicode"/>
                <a:cs typeface="Lucida Sans Unicode"/>
              </a:rPr>
              <a:t>′′</a:t>
            </a:r>
            <a:r>
              <a:rPr dirty="0" baseline="8333" sz="1500" spc="-30">
                <a:latin typeface="Lucida Sans Unicode"/>
                <a:cs typeface="Lucida Sans Unicode"/>
              </a:rPr>
              <a:t>|</a:t>
            </a:r>
            <a:r>
              <a:rPr dirty="0" sz="700" spc="-20" i="1">
                <a:latin typeface="Arial"/>
                <a:cs typeface="Arial"/>
              </a:rPr>
              <a:t>x</a:t>
            </a:r>
            <a:r>
              <a:rPr dirty="0" sz="700" spc="-130" i="1">
                <a:latin typeface="Arial"/>
                <a:cs typeface="Arial"/>
              </a:rPr>
              <a:t> </a:t>
            </a:r>
            <a:r>
              <a:rPr dirty="0" sz="700" spc="50">
                <a:latin typeface="Tahoma"/>
                <a:cs typeface="Tahoma"/>
              </a:rPr>
              <a:t>=</a:t>
            </a:r>
            <a:r>
              <a:rPr dirty="0" sz="700" spc="50" i="1">
                <a:latin typeface="Arial"/>
                <a:cs typeface="Arial"/>
              </a:rPr>
              <a:t>L</a:t>
            </a:r>
            <a:r>
              <a:rPr dirty="0" sz="700" spc="50" i="1">
                <a:latin typeface="Calibri"/>
                <a:cs typeface="Calibri"/>
              </a:rPr>
              <a:t>,</a:t>
            </a:r>
            <a:r>
              <a:rPr dirty="0" sz="700" spc="50" i="1">
                <a:latin typeface="Arial"/>
                <a:cs typeface="Arial"/>
              </a:rPr>
              <a:t>t</a:t>
            </a:r>
            <a:r>
              <a:rPr dirty="0" sz="700" spc="23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989385" y="954096"/>
          <a:ext cx="1364615" cy="151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990"/>
                <a:gridCol w="342265"/>
              </a:tblGrid>
              <a:tr h="271780">
                <a:tc gridSpan="2">
                  <a:txBody>
                    <a:bodyPr/>
                    <a:lstStyle/>
                    <a:p>
                      <a:pPr algn="ctr" marR="3340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100" spc="-50" i="1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69670">
                <a:tc>
                  <a:txBody>
                    <a:bodyPr/>
                    <a:lstStyle/>
                    <a:p>
                      <a:pPr marL="128270" marR="135890" indent="170815">
                        <a:lnSpc>
                          <a:spcPct val="233199"/>
                        </a:lnSpc>
                        <a:spcBef>
                          <a:spcPts val="509"/>
                        </a:spcBef>
                      </a:pPr>
                      <a:r>
                        <a:rPr dirty="0" sz="1000" i="1"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000" spc="9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00" spc="500" i="1">
                          <a:latin typeface="Arial"/>
                          <a:cs typeface="Arial"/>
                        </a:rPr>
                        <a:t>  </a:t>
                      </a:r>
                      <a:r>
                        <a:rPr dirty="0" baseline="8333" sz="1500" spc="89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8333" sz="1500" spc="-16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8333" sz="150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dirty="0" sz="70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70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>
                          <a:latin typeface="Tahoma"/>
                          <a:cs typeface="Tahoma"/>
                        </a:rPr>
                        <a:t>=0</a:t>
                      </a:r>
                      <a:r>
                        <a:rPr dirty="0" sz="700" spc="2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baseline="8333" sz="15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baseline="8333" sz="1500" spc="67">
                          <a:latin typeface="Tahoma"/>
                          <a:cs typeface="Tahoma"/>
                        </a:rPr>
                        <a:t> </a:t>
                      </a:r>
                      <a:r>
                        <a:rPr dirty="0" baseline="8333" sz="1500" spc="-37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 spc="-25" i="1">
                          <a:latin typeface="Arial"/>
                          <a:cs typeface="Arial"/>
                        </a:rPr>
                        <a:t>i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352132" y="2350717"/>
            <a:ext cx="3794125" cy="758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80055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477010">
              <a:lnSpc>
                <a:spcPct val="100000"/>
              </a:lnSpc>
              <a:spcBef>
                <a:spcPts val="40"/>
              </a:spcBef>
              <a:tabLst>
                <a:tab pos="2409825" algn="l"/>
              </a:tabLst>
            </a:pPr>
            <a:r>
              <a:rPr dirty="0" baseline="2525" sz="1650" i="1">
                <a:latin typeface="Arial"/>
                <a:cs typeface="Arial"/>
              </a:rPr>
              <a:t>x</a:t>
            </a:r>
            <a:r>
              <a:rPr dirty="0" baseline="2525" sz="1650" spc="127" i="1">
                <a:latin typeface="Arial"/>
                <a:cs typeface="Arial"/>
              </a:rPr>
              <a:t> </a:t>
            </a:r>
            <a:r>
              <a:rPr dirty="0" baseline="2525" sz="1650">
                <a:latin typeface="Tahoma"/>
                <a:cs typeface="Tahoma"/>
              </a:rPr>
              <a:t>=</a:t>
            </a:r>
            <a:r>
              <a:rPr dirty="0" baseline="2525" sz="1650" spc="-60">
                <a:latin typeface="Tahoma"/>
                <a:cs typeface="Tahoma"/>
              </a:rPr>
              <a:t> </a:t>
            </a:r>
            <a:r>
              <a:rPr dirty="0" baseline="2525" sz="1650" spc="-75">
                <a:latin typeface="Tahoma"/>
                <a:cs typeface="Tahoma"/>
              </a:rPr>
              <a:t>0</a:t>
            </a:r>
            <a:r>
              <a:rPr dirty="0" baseline="2525" sz="1650">
                <a:latin typeface="Tahoma"/>
                <a:cs typeface="Tahoma"/>
              </a:rPr>
              <a:t>	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63500" marR="55880">
              <a:lnSpc>
                <a:spcPct val="102600"/>
              </a:lnSpc>
              <a:spcBef>
                <a:spcPts val="39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slab</a:t>
            </a:r>
            <a:r>
              <a:rPr dirty="0" sz="1100">
                <a:latin typeface="Tahoma"/>
                <a:cs typeface="Tahoma"/>
              </a:rPr>
              <a:t> is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subjected</a:t>
            </a:r>
            <a:r>
              <a:rPr dirty="0" sz="1100">
                <a:latin typeface="Tahoma"/>
                <a:cs typeface="Tahoma"/>
              </a:rPr>
              <a:t> to </a:t>
            </a:r>
            <a:r>
              <a:rPr dirty="0" sz="1100" spc="-10">
                <a:latin typeface="Tahoma"/>
                <a:cs typeface="Tahoma"/>
              </a:rPr>
              <a:t>Initial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condition: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6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|</a:t>
            </a:r>
            <a:r>
              <a:rPr dirty="0" baseline="-10416" sz="12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Sitka Text"/>
                <a:cs typeface="Sitka Text"/>
              </a:rPr>
              <a:t>,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367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 </a:t>
            </a:r>
            <a:r>
              <a:rPr dirty="0" sz="1100" spc="-45">
                <a:latin typeface="Tahoma"/>
                <a:cs typeface="Tahoma"/>
              </a:rPr>
              <a:t>boundary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is:</a:t>
            </a:r>
            <a:r>
              <a:rPr dirty="0" sz="1100" spc="16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50" i="1">
                <a:latin typeface="Arial"/>
                <a:cs typeface="Arial"/>
              </a:rPr>
              <a:t> </a:t>
            </a:r>
            <a:r>
              <a:rPr dirty="0" sz="1100" spc="-70">
                <a:latin typeface="Lucida Sans Unicode"/>
                <a:cs typeface="Lucida Sans Unicode"/>
              </a:rPr>
              <a:t>|</a:t>
            </a:r>
            <a:r>
              <a:rPr dirty="0" baseline="-10416" sz="1200" spc="-104" i="1">
                <a:latin typeface="Arial"/>
                <a:cs typeface="Arial"/>
              </a:rPr>
              <a:t>x</a:t>
            </a:r>
            <a:r>
              <a:rPr dirty="0" baseline="-10416" sz="1200" spc="-225" i="1">
                <a:latin typeface="Arial"/>
                <a:cs typeface="Arial"/>
              </a:rPr>
              <a:t> 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i="1">
                <a:latin typeface="Sitka Text"/>
                <a:cs typeface="Sitka Text"/>
              </a:rPr>
              <a:t>,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3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>
                <a:latin typeface="Tahoma"/>
                <a:cs typeface="Tahoma"/>
              </a:rPr>
              <a:t>0</a:t>
            </a:r>
            <a:r>
              <a:rPr dirty="0" baseline="-10416" sz="1200" spc="27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65" i="1">
                <a:latin typeface="Arial"/>
                <a:cs typeface="Arial"/>
              </a:rPr>
              <a:t>q</a:t>
            </a:r>
            <a:r>
              <a:rPr dirty="0" baseline="27777" sz="1200" spc="-97">
                <a:latin typeface="Lucida Sans Unicode"/>
                <a:cs typeface="Lucida Sans Unicode"/>
              </a:rPr>
              <a:t>rr</a:t>
            </a:r>
            <a:r>
              <a:rPr dirty="0" sz="1100" spc="-65">
                <a:latin typeface="Lucida Sans Unicode"/>
                <a:cs typeface="Lucida Sans Unicode"/>
              </a:rPr>
              <a:t>|</a:t>
            </a:r>
            <a:r>
              <a:rPr dirty="0" baseline="-13888" sz="1200" spc="-97" i="1">
                <a:latin typeface="Arial"/>
                <a:cs typeface="Arial"/>
              </a:rPr>
              <a:t>x</a:t>
            </a:r>
            <a:r>
              <a:rPr dirty="0" baseline="-13888" sz="1200" spc="-217" i="1">
                <a:latin typeface="Arial"/>
                <a:cs typeface="Arial"/>
              </a:rPr>
              <a:t> </a:t>
            </a:r>
            <a:r>
              <a:rPr dirty="0" baseline="-13888" sz="1200">
                <a:latin typeface="Tahoma"/>
                <a:cs typeface="Tahoma"/>
              </a:rPr>
              <a:t>=</a:t>
            </a:r>
            <a:r>
              <a:rPr dirty="0" baseline="-13888" sz="1200" i="1">
                <a:latin typeface="Arial"/>
                <a:cs typeface="Arial"/>
              </a:rPr>
              <a:t>L</a:t>
            </a:r>
            <a:r>
              <a:rPr dirty="0" baseline="-13888" sz="1200" i="1">
                <a:latin typeface="Sitka Text"/>
                <a:cs typeface="Sitka Text"/>
              </a:rPr>
              <a:t>,</a:t>
            </a:r>
            <a:r>
              <a:rPr dirty="0" baseline="-13888" sz="1200" i="1">
                <a:latin typeface="Arial"/>
                <a:cs typeface="Arial"/>
              </a:rPr>
              <a:t>t</a:t>
            </a:r>
            <a:r>
              <a:rPr dirty="0" baseline="-13888" sz="1200" spc="3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82897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35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20"/>
              <a:t>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1266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329208"/>
            <a:ext cx="3103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Develop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Governing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Differential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633" y="689507"/>
            <a:ext cx="156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i="1">
                <a:latin typeface="Calibri"/>
                <a:cs typeface="Calibri"/>
              </a:rPr>
              <a:t>∂</a:t>
            </a:r>
            <a:r>
              <a:rPr dirty="0" sz="1100" spc="4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369" y="499972"/>
            <a:ext cx="788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ρ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dirty="0" u="sng" baseline="-10416" sz="12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-10416" sz="1200" spc="-20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1100" spc="-1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baseline="-37878" sz="1650" spc="-75">
                <a:latin typeface="Tahoma"/>
                <a:cs typeface="Tahoma"/>
              </a:rPr>
              <a:t>=</a:t>
            </a:r>
            <a:endParaRPr baseline="-37878" sz="16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1571" y="711085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 h="0">
                <a:moveTo>
                  <a:pt x="0" y="0"/>
                </a:moveTo>
                <a:lnTo>
                  <a:pt x="157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22945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70582" y="711085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5" h="0">
                <a:moveTo>
                  <a:pt x="0" y="0"/>
                </a:moveTo>
                <a:lnTo>
                  <a:pt x="1601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94266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41903" y="711085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 h="0">
                <a:moveTo>
                  <a:pt x="0" y="0"/>
                </a:moveTo>
                <a:lnTo>
                  <a:pt x="1536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59035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27174" y="501547"/>
            <a:ext cx="2437765" cy="285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025"/>
              </a:lnSpc>
              <a:spcBef>
                <a:spcPts val="90"/>
              </a:spcBef>
              <a:tabLst>
                <a:tab pos="282575" algn="l"/>
                <a:tab pos="769620" algn="l"/>
                <a:tab pos="1054100" algn="l"/>
                <a:tab pos="1537970" algn="l"/>
                <a:tab pos="1818639" algn="l"/>
                <a:tab pos="2328545" algn="l"/>
              </a:tabLst>
            </a:pP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600" spc="-25">
                <a:latin typeface="Lucida Sans Unicode"/>
                <a:cs typeface="Lucida Sans Unicode"/>
              </a:rPr>
              <a:t>′′′</a:t>
            </a:r>
            <a:endParaRPr sz="600">
              <a:latin typeface="Lucida Sans Unicode"/>
              <a:cs typeface="Lucida Sans Unicode"/>
            </a:endParaRPr>
          </a:p>
          <a:p>
            <a:pPr algn="ctr" marL="31750">
              <a:lnSpc>
                <a:spcPts val="1025"/>
              </a:lnSpc>
              <a:tabLst>
                <a:tab pos="389255" algn="l"/>
                <a:tab pos="802640" algn="l"/>
                <a:tab pos="1160780" algn="l"/>
                <a:tab pos="1567815" algn="l"/>
                <a:tab pos="1925320" algn="l"/>
              </a:tabLst>
            </a:pP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9" i="1">
                <a:latin typeface="Arial"/>
                <a:cs typeface="Arial"/>
              </a:rPr>
              <a:t>q</a:t>
            </a:r>
            <a:r>
              <a:rPr dirty="0" sz="1100" spc="-409">
                <a:latin typeface="Tahoma"/>
                <a:cs typeface="Tahoma"/>
              </a:rPr>
              <a:t>˙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66315" y="109749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053615" y="864664"/>
            <a:ext cx="2012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70"/>
              </a:spcBef>
            </a:pPr>
            <a:r>
              <a:rPr dirty="0" sz="1100" spc="45" i="1">
                <a:latin typeface="Calibri"/>
                <a:cs typeface="Calibri"/>
              </a:rPr>
              <a:t>∂</a:t>
            </a:r>
            <a:r>
              <a:rPr dirty="0" sz="1100" spc="4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3471" y="658098"/>
            <a:ext cx="2095500" cy="42100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  <a:tabLst>
                <a:tab pos="377190" algn="l"/>
                <a:tab pos="806450" algn="l"/>
                <a:tab pos="1147445" algn="l"/>
                <a:tab pos="1577975" algn="l"/>
                <a:tab pos="1915160" algn="l"/>
              </a:tabLst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  <a:p>
            <a:pPr algn="ctr" marL="142240">
              <a:lnSpc>
                <a:spcPct val="100000"/>
              </a:lnSpc>
              <a:spcBef>
                <a:spcPts val="240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baseline="27777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64612" y="1097495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 h="0">
                <a:moveTo>
                  <a:pt x="0" y="0"/>
                </a:moveTo>
                <a:lnTo>
                  <a:pt x="25416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75941" y="980895"/>
            <a:ext cx="556895" cy="287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 </a:t>
            </a:r>
            <a:r>
              <a:rPr dirty="0" sz="1100" spc="15" i="1">
                <a:latin typeface="Calibri"/>
                <a:cs typeface="Calibri"/>
              </a:rPr>
              <a:t>α</a:t>
            </a:r>
            <a:endParaRPr sz="1100">
              <a:latin typeface="Calibri"/>
              <a:cs typeface="Calibri"/>
            </a:endParaRPr>
          </a:p>
          <a:p>
            <a:pPr marL="306705">
              <a:lnSpc>
                <a:spcPts val="1035"/>
              </a:lnSpc>
            </a:pPr>
            <a:r>
              <a:rPr dirty="0" sz="1100" spc="-10" i="1">
                <a:latin typeface="Calibri"/>
                <a:cs typeface="Calibri"/>
              </a:rPr>
              <a:t>∂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baseline="20833" sz="1200" spc="-75">
                <a:latin typeface="Tahoma"/>
                <a:cs typeface="Tahoma"/>
              </a:rPr>
              <a:t>2</a:t>
            </a:r>
            <a:endParaRPr baseline="20833"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0456" y="980895"/>
            <a:ext cx="272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(20)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7532" y="1257705"/>
            <a:ext cx="2339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where,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65" i="1">
                <a:latin typeface="Calibri"/>
                <a:cs typeface="Calibri"/>
              </a:rPr>
              <a:t>α</a:t>
            </a:r>
            <a:r>
              <a:rPr dirty="0" sz="1100" spc="10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 </a:t>
            </a:r>
            <a:r>
              <a:rPr dirty="0" sz="1100" spc="-30">
                <a:latin typeface="Tahoma"/>
                <a:cs typeface="Tahoma"/>
              </a:rPr>
              <a:t>thermal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diffusivity,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65" i="1">
                <a:latin typeface="Calibri"/>
                <a:cs typeface="Calibri"/>
              </a:rPr>
              <a:t>α</a:t>
            </a:r>
            <a:r>
              <a:rPr dirty="0" sz="1100" spc="4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u="sng" baseline="31250" sz="1200" spc="35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1250" sz="120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dirty="0" u="sng" baseline="31250" sz="1200" spc="7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31250"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7532" y="1355457"/>
            <a:ext cx="3701415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716280">
              <a:lnSpc>
                <a:spcPts val="815"/>
              </a:lnSpc>
              <a:spcBef>
                <a:spcPts val="95"/>
              </a:spcBef>
            </a:pPr>
            <a:r>
              <a:rPr dirty="0" baseline="6944" sz="1200" spc="-37" i="1">
                <a:latin typeface="Sitka Text"/>
                <a:cs typeface="Sitka Text"/>
              </a:rPr>
              <a:t>ρ</a:t>
            </a:r>
            <a:r>
              <a:rPr dirty="0" baseline="6944" sz="1200" spc="-37" i="1">
                <a:latin typeface="Arial"/>
                <a:cs typeface="Arial"/>
              </a:rPr>
              <a:t>C</a:t>
            </a:r>
            <a:r>
              <a:rPr dirty="0" sz="600" spc="-25" i="1">
                <a:latin typeface="Arial"/>
                <a:cs typeface="Arial"/>
              </a:rPr>
              <a:t>p</a:t>
            </a:r>
            <a:endParaRPr sz="600">
              <a:latin typeface="Arial"/>
              <a:cs typeface="Arial"/>
            </a:endParaRPr>
          </a:p>
          <a:p>
            <a:pPr marL="38100">
              <a:lnSpc>
                <a:spcPts val="1165"/>
              </a:lnSpc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Identify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Initial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Physical</a:t>
            </a:r>
            <a:r>
              <a:rPr dirty="0" sz="1100" spc="-30">
                <a:latin typeface="Tahoma"/>
                <a:cs typeface="Tahoma"/>
              </a:rPr>
              <a:t> Boundary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  <a:p>
            <a:pPr marL="314325" indent="-197485">
              <a:lnSpc>
                <a:spcPts val="1185"/>
              </a:lnSpc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80" i="1">
                <a:latin typeface="Arial"/>
                <a:cs typeface="Arial"/>
              </a:rPr>
              <a:t>t</a:t>
            </a:r>
            <a:r>
              <a:rPr dirty="0" sz="1000" spc="10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0:</a:t>
            </a:r>
            <a:r>
              <a:rPr dirty="0" sz="1000" spc="16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x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spc="20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  <a:p>
            <a:pPr marL="314325" indent="-227329">
              <a:lnSpc>
                <a:spcPts val="1200"/>
              </a:lnSpc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114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0:</a:t>
            </a:r>
            <a:r>
              <a:rPr dirty="0" sz="1000" spc="16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195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t</a:t>
            </a:r>
            <a:r>
              <a:rPr dirty="0" baseline="-11904" sz="1050" spc="31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25206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96265" y="1909272"/>
            <a:ext cx="2652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(iii)</a:t>
            </a:r>
            <a:r>
              <a:rPr dirty="0" sz="1000" spc="24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9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L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40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q</a:t>
            </a:r>
            <a:r>
              <a:rPr dirty="0" baseline="27777" sz="1050" spc="-30">
                <a:latin typeface="Lucida Sans Unicode"/>
                <a:cs typeface="Lucida Sans Unicode"/>
              </a:rPr>
              <a:t>′′</a:t>
            </a:r>
            <a:r>
              <a:rPr dirty="0" sz="1000" spc="-20">
                <a:latin typeface="Lucida Sans Unicode"/>
                <a:cs typeface="Lucida Sans Unicode"/>
              </a:rPr>
              <a:t>|</a:t>
            </a:r>
            <a:r>
              <a:rPr dirty="0" baseline="-11904" sz="1050" spc="-30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 spc="75">
                <a:latin typeface="Tahoma"/>
                <a:cs typeface="Tahoma"/>
              </a:rPr>
              <a:t>=</a:t>
            </a:r>
            <a:r>
              <a:rPr dirty="0" baseline="-11904" sz="1050" spc="75" i="1">
                <a:latin typeface="Arial"/>
                <a:cs typeface="Arial"/>
              </a:rPr>
              <a:t>L</a:t>
            </a:r>
            <a:r>
              <a:rPr dirty="0" baseline="-11904" sz="1050" spc="75" i="1">
                <a:latin typeface="Calibri"/>
                <a:cs typeface="Calibri"/>
              </a:rPr>
              <a:t>,</a:t>
            </a:r>
            <a:r>
              <a:rPr dirty="0" baseline="-11904" sz="1050" spc="75" i="1">
                <a:latin typeface="Arial"/>
                <a:cs typeface="Arial"/>
              </a:rPr>
              <a:t>t</a:t>
            </a:r>
            <a:r>
              <a:rPr dirty="0" baseline="-11904" sz="1050" spc="29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0,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Lucida Sans Unicode"/>
                <a:cs typeface="Lucida Sans Unicode"/>
              </a:rPr>
              <a:t>−</a:t>
            </a:r>
            <a:r>
              <a:rPr dirty="0" sz="1000" spc="-30" i="1">
                <a:latin typeface="Arial"/>
                <a:cs typeface="Arial"/>
              </a:rPr>
              <a:t>k</a:t>
            </a:r>
            <a:r>
              <a:rPr dirty="0" sz="1000" spc="-70" i="1">
                <a:latin typeface="Arial"/>
                <a:cs typeface="Arial"/>
              </a:rPr>
              <a:t> </a:t>
            </a:r>
            <a:r>
              <a:rPr dirty="0" u="sng" baseline="31746" sz="1050" spc="12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baseline="31746" sz="1050" spc="1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baseline="31746" sz="1050" spc="30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 spc="75">
                <a:latin typeface="Tahoma"/>
                <a:cs typeface="Tahoma"/>
              </a:rPr>
              <a:t>=</a:t>
            </a:r>
            <a:r>
              <a:rPr dirty="0" baseline="-11904" sz="1050" spc="75" i="1">
                <a:latin typeface="Arial"/>
                <a:cs typeface="Arial"/>
              </a:rPr>
              <a:t>L</a:t>
            </a:r>
            <a:r>
              <a:rPr dirty="0" baseline="-11904" sz="1050" spc="75" i="1">
                <a:latin typeface="Calibri"/>
                <a:cs typeface="Calibri"/>
              </a:rPr>
              <a:t>,</a:t>
            </a:r>
            <a:r>
              <a:rPr dirty="0" baseline="-11904" sz="1050" spc="75" i="1">
                <a:latin typeface="Arial"/>
                <a:cs typeface="Arial"/>
              </a:rPr>
              <a:t>t</a:t>
            </a:r>
            <a:r>
              <a:rPr dirty="0" baseline="-11904" sz="1050" spc="284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32533"/>
            <a:ext cx="65265" cy="6526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297036"/>
            <a:ext cx="52590" cy="5259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2932" y="1990867"/>
            <a:ext cx="3488054" cy="399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13080">
              <a:lnSpc>
                <a:spcPts val="645"/>
              </a:lnSpc>
              <a:spcBef>
                <a:spcPts val="95"/>
              </a:spcBef>
            </a:pPr>
            <a:r>
              <a:rPr dirty="0" sz="700" spc="-25" i="1">
                <a:latin typeface="Calibri"/>
                <a:cs typeface="Calibri"/>
              </a:rPr>
              <a:t>∂</a:t>
            </a:r>
            <a:r>
              <a:rPr dirty="0" sz="700" spc="-25" i="1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1115"/>
              </a:lnSpc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Domain: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 spc="-20">
                <a:latin typeface="Tahoma"/>
                <a:cs typeface="Tahoma"/>
              </a:rPr>
              <a:t>Discretize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domain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spatial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nodes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levels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n</a:t>
            </a:r>
            <a:r>
              <a:rPr dirty="0" sz="1000" spc="-25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77878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699" y="39549"/>
                </a:lnTo>
                <a:lnTo>
                  <a:pt x="56937" y="28468"/>
                </a:lnTo>
                <a:lnTo>
                  <a:pt x="54699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598510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62023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217884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138514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02014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57891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699" y="39549"/>
                </a:lnTo>
                <a:lnTo>
                  <a:pt x="56937" y="28468"/>
                </a:lnTo>
                <a:lnTo>
                  <a:pt x="54699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678506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3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97897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9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9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218510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4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82022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37904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758514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5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22014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566265" y="2439782"/>
            <a:ext cx="2305685" cy="815340"/>
            <a:chOff x="1566265" y="2439782"/>
            <a:chExt cx="2305685" cy="815340"/>
          </a:xfrm>
        </p:grpSpPr>
        <p:sp>
          <p:nvSpPr>
            <p:cNvPr id="43" name="object 43"/>
            <p:cNvSpPr/>
            <p:nvPr/>
          </p:nvSpPr>
          <p:spPr>
            <a:xfrm>
              <a:off x="1571345" y="3252332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502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571345" y="2847327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5028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571345" y="2442322"/>
              <a:ext cx="2295525" cy="432434"/>
            </a:xfrm>
            <a:custGeom>
              <a:avLst/>
              <a:gdLst/>
              <a:ahLst/>
              <a:cxnLst/>
              <a:rect l="l" t="t" r="r" b="b"/>
              <a:pathLst>
                <a:path w="2295525" h="432435">
                  <a:moveTo>
                    <a:pt x="0" y="0"/>
                  </a:moveTo>
                  <a:lnTo>
                    <a:pt x="2295028" y="0"/>
                  </a:lnTo>
                </a:path>
                <a:path w="2295525" h="432435">
                  <a:moveTo>
                    <a:pt x="135001" y="432006"/>
                  </a:moveTo>
                  <a:lnTo>
                    <a:pt x="135001" y="378002"/>
                  </a:lnTo>
                </a:path>
                <a:path w="2295525" h="432435">
                  <a:moveTo>
                    <a:pt x="675008" y="432006"/>
                  </a:moveTo>
                  <a:lnTo>
                    <a:pt x="675008" y="378002"/>
                  </a:lnTo>
                </a:path>
                <a:path w="2295525" h="432435">
                  <a:moveTo>
                    <a:pt x="1215014" y="432006"/>
                  </a:moveTo>
                  <a:lnTo>
                    <a:pt x="1215014" y="378002"/>
                  </a:lnTo>
                </a:path>
                <a:path w="2295525" h="432435">
                  <a:moveTo>
                    <a:pt x="1755021" y="432006"/>
                  </a:moveTo>
                  <a:lnTo>
                    <a:pt x="1755021" y="378002"/>
                  </a:lnTo>
                </a:path>
                <a:path w="2295525" h="432435">
                  <a:moveTo>
                    <a:pt x="2295028" y="432006"/>
                  </a:moveTo>
                  <a:lnTo>
                    <a:pt x="2295028" y="37800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2742018" y="2835750"/>
            <a:ext cx="889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6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 marL="22860">
              <a:lnSpc>
                <a:spcPts val="960"/>
              </a:lnSpc>
            </a:pPr>
            <a:r>
              <a:rPr dirty="0" sz="1000" spc="-50" i="1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22336" y="2736220"/>
            <a:ext cx="90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13396" y="2339307"/>
            <a:ext cx="311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i="1">
                <a:latin typeface="Arial"/>
                <a:cs typeface="Arial"/>
              </a:rPr>
              <a:t>n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246155" y="3121866"/>
            <a:ext cx="541020" cy="45085"/>
            <a:chOff x="2246155" y="3121866"/>
            <a:chExt cx="541020" cy="45085"/>
          </a:xfrm>
        </p:grpSpPr>
        <p:sp>
          <p:nvSpPr>
            <p:cNvPr id="50" name="object 50"/>
            <p:cNvSpPr/>
            <p:nvPr/>
          </p:nvSpPr>
          <p:spPr>
            <a:xfrm>
              <a:off x="2252173" y="3144332"/>
              <a:ext cx="528955" cy="0"/>
            </a:xfrm>
            <a:custGeom>
              <a:avLst/>
              <a:gdLst/>
              <a:ahLst/>
              <a:cxnLst/>
              <a:rect l="l" t="t" r="r" b="b"/>
              <a:pathLst>
                <a:path w="528955" h="0">
                  <a:moveTo>
                    <a:pt x="0" y="0"/>
                  </a:moveTo>
                  <a:lnTo>
                    <a:pt x="52836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248377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765356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2088413" y="2921310"/>
            <a:ext cx="542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325" i="1">
                <a:latin typeface="Arial"/>
                <a:cs typeface="Arial"/>
              </a:rPr>
              <a:t> </a:t>
            </a:r>
            <a:r>
              <a:rPr dirty="0" baseline="-19444" sz="1500" spc="75">
                <a:latin typeface="Tahoma"/>
                <a:cs typeface="Tahoma"/>
              </a:rPr>
              <a:t>∆</a:t>
            </a:r>
            <a:r>
              <a:rPr dirty="0" baseline="-19444" sz="1500" spc="75" i="1">
                <a:latin typeface="Arial"/>
                <a:cs typeface="Arial"/>
              </a:rPr>
              <a:t>x</a:t>
            </a:r>
            <a:endParaRPr baseline="-19444" sz="15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241273" y="3098749"/>
            <a:ext cx="1085850" cy="91440"/>
            <a:chOff x="2241273" y="3098749"/>
            <a:chExt cx="1085850" cy="91440"/>
          </a:xfrm>
        </p:grpSpPr>
        <p:sp>
          <p:nvSpPr>
            <p:cNvPr id="55" name="object 55"/>
            <p:cNvSpPr/>
            <p:nvPr/>
          </p:nvSpPr>
          <p:spPr>
            <a:xfrm>
              <a:off x="2246353" y="3103829"/>
              <a:ext cx="0" cy="81280"/>
            </a:xfrm>
            <a:custGeom>
              <a:avLst/>
              <a:gdLst/>
              <a:ahLst/>
              <a:cxnLst/>
              <a:rect l="l" t="t" r="r" b="b"/>
              <a:pathLst>
                <a:path w="0" h="81280">
                  <a:moveTo>
                    <a:pt x="0" y="8100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792180" y="3144332"/>
              <a:ext cx="528955" cy="0"/>
            </a:xfrm>
            <a:custGeom>
              <a:avLst/>
              <a:gdLst/>
              <a:ahLst/>
              <a:cxnLst/>
              <a:rect l="l" t="t" r="r" b="b"/>
              <a:pathLst>
                <a:path w="528954" h="0">
                  <a:moveTo>
                    <a:pt x="0" y="0"/>
                  </a:moveTo>
                  <a:lnTo>
                    <a:pt x="52836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788384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305363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2930563" y="2921310"/>
            <a:ext cx="5645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112">
                <a:latin typeface="Tahoma"/>
                <a:cs typeface="Tahoma"/>
              </a:rPr>
              <a:t>∆</a:t>
            </a:r>
            <a:r>
              <a:rPr dirty="0" baseline="-19444" sz="1500" spc="112" i="1">
                <a:latin typeface="Arial"/>
                <a:cs typeface="Arial"/>
              </a:rPr>
              <a:t>x</a:t>
            </a:r>
            <a:r>
              <a:rPr dirty="0" baseline="-19444" sz="1500" spc="367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6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786359" y="3103829"/>
            <a:ext cx="540385" cy="81280"/>
          </a:xfrm>
          <a:custGeom>
            <a:avLst/>
            <a:gdLst/>
            <a:ahLst/>
            <a:cxnLst/>
            <a:rect l="l" t="t" r="r" b="b"/>
            <a:pathLst>
              <a:path w="540385" h="81280">
                <a:moveTo>
                  <a:pt x="0" y="81001"/>
                </a:moveTo>
                <a:lnTo>
                  <a:pt x="0" y="0"/>
                </a:lnTo>
              </a:path>
              <a:path w="540385" h="81280">
                <a:moveTo>
                  <a:pt x="540006" y="81001"/>
                </a:moveTo>
                <a:lnTo>
                  <a:pt x="540006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1616379" y="2442124"/>
            <a:ext cx="45085" cy="405765"/>
            <a:chOff x="1616379" y="2442124"/>
            <a:chExt cx="45085" cy="405765"/>
          </a:xfrm>
        </p:grpSpPr>
        <p:sp>
          <p:nvSpPr>
            <p:cNvPr id="62" name="object 62"/>
            <p:cNvSpPr/>
            <p:nvPr/>
          </p:nvSpPr>
          <p:spPr>
            <a:xfrm>
              <a:off x="1638846" y="2448142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w="0" h="393700">
                  <a:moveTo>
                    <a:pt x="0" y="39336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618602" y="282632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618602" y="2444347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451521" y="2522529"/>
            <a:ext cx="176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616379" y="2847129"/>
            <a:ext cx="45085" cy="405765"/>
            <a:chOff x="1616379" y="2847129"/>
            <a:chExt cx="45085" cy="405765"/>
          </a:xfrm>
        </p:grpSpPr>
        <p:sp>
          <p:nvSpPr>
            <p:cNvPr id="67" name="object 67"/>
            <p:cNvSpPr/>
            <p:nvPr/>
          </p:nvSpPr>
          <p:spPr>
            <a:xfrm>
              <a:off x="1638846" y="2853147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w="0" h="393700">
                  <a:moveTo>
                    <a:pt x="0" y="39336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618602" y="323132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618602" y="2849351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213396" y="2938596"/>
            <a:ext cx="414655" cy="387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8125">
              <a:lnSpc>
                <a:spcPct val="118900"/>
              </a:lnSpc>
              <a:spcBef>
                <a:spcPts val="100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 </a:t>
            </a:r>
            <a:r>
              <a:rPr dirty="0" sz="1000" spc="-40" i="1">
                <a:latin typeface="Arial"/>
                <a:cs typeface="Arial"/>
              </a:rPr>
              <a:t>n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706148" y="2595356"/>
            <a:ext cx="2160905" cy="45085"/>
            <a:chOff x="1706148" y="2595356"/>
            <a:chExt cx="2160905" cy="45085"/>
          </a:xfrm>
        </p:grpSpPr>
        <p:sp>
          <p:nvSpPr>
            <p:cNvPr id="72" name="object 72"/>
            <p:cNvSpPr/>
            <p:nvPr/>
          </p:nvSpPr>
          <p:spPr>
            <a:xfrm>
              <a:off x="1712166" y="2617822"/>
              <a:ext cx="2148840" cy="0"/>
            </a:xfrm>
            <a:custGeom>
              <a:avLst/>
              <a:gdLst/>
              <a:ahLst/>
              <a:cxnLst/>
              <a:rect l="l" t="t" r="r" b="b"/>
              <a:pathLst>
                <a:path w="2148840" h="0">
                  <a:moveTo>
                    <a:pt x="0" y="0"/>
                  </a:moveTo>
                  <a:lnTo>
                    <a:pt x="21483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708371" y="259757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845370" y="259757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2739389" y="2455029"/>
            <a:ext cx="939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701285" y="2572263"/>
            <a:ext cx="2170430" cy="86360"/>
            <a:chOff x="1701285" y="2572263"/>
            <a:chExt cx="2170430" cy="86360"/>
          </a:xfrm>
        </p:grpSpPr>
        <p:sp>
          <p:nvSpPr>
            <p:cNvPr id="77" name="object 77"/>
            <p:cNvSpPr/>
            <p:nvPr/>
          </p:nvSpPr>
          <p:spPr>
            <a:xfrm>
              <a:off x="1706346" y="2577324"/>
              <a:ext cx="2160270" cy="81280"/>
            </a:xfrm>
            <a:custGeom>
              <a:avLst/>
              <a:gdLst/>
              <a:ahLst/>
              <a:cxnLst/>
              <a:rect l="l" t="t" r="r" b="b"/>
              <a:pathLst>
                <a:path w="2160270" h="81280">
                  <a:moveTo>
                    <a:pt x="0" y="81001"/>
                  </a:moveTo>
                  <a:lnTo>
                    <a:pt x="0" y="0"/>
                  </a:lnTo>
                </a:path>
                <a:path w="2160270" h="81280">
                  <a:moveTo>
                    <a:pt x="2160026" y="81001"/>
                  </a:moveTo>
                  <a:lnTo>
                    <a:pt x="2160026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861312" y="257226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5061"/>
                  </a:moveTo>
                  <a:lnTo>
                    <a:pt x="1482" y="1482"/>
                  </a:lnTo>
                  <a:lnTo>
                    <a:pt x="5061" y="0"/>
                  </a:lnTo>
                  <a:lnTo>
                    <a:pt x="8639" y="1482"/>
                  </a:lnTo>
                  <a:lnTo>
                    <a:pt x="10122" y="5061"/>
                  </a:lnTo>
                  <a:lnTo>
                    <a:pt x="8639" y="8639"/>
                  </a:lnTo>
                  <a:lnTo>
                    <a:pt x="5061" y="10122"/>
                  </a:lnTo>
                  <a:lnTo>
                    <a:pt x="1482" y="8639"/>
                  </a:lnTo>
                  <a:lnTo>
                    <a:pt x="0" y="5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627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610120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24276"/>
            <a:ext cx="3453765" cy="3790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Domain: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Forward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Central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Difference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Scheme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(FTCS)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6084" y="91514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22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34272" y="674933"/>
            <a:ext cx="6623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82" i="1">
                <a:latin typeface="Arial"/>
                <a:cs typeface="Arial"/>
              </a:rPr>
              <a:t>T</a:t>
            </a:r>
            <a:r>
              <a:rPr dirty="0" baseline="3968" sz="1050" spc="82" i="1">
                <a:latin typeface="Arial"/>
                <a:cs typeface="Arial"/>
              </a:rPr>
              <a:t>n</a:t>
            </a:r>
            <a:r>
              <a:rPr dirty="0" baseline="3968" sz="1050" spc="82">
                <a:latin typeface="Tahoma"/>
                <a:cs typeface="Tahoma"/>
              </a:rPr>
              <a:t>+1</a:t>
            </a:r>
            <a:r>
              <a:rPr dirty="0" baseline="3968" sz="1050" spc="89">
                <a:latin typeface="Tahoma"/>
                <a:cs typeface="Tahoma"/>
              </a:rPr>
              <a:t> </a:t>
            </a:r>
            <a:r>
              <a:rPr dirty="0" baseline="-19444" sz="1500" spc="-60">
                <a:latin typeface="Lucida Sans Unicode"/>
                <a:cs typeface="Lucida Sans Unicode"/>
              </a:rPr>
              <a:t>−</a:t>
            </a:r>
            <a:r>
              <a:rPr dirty="0" baseline="-19444" sz="1500" spc="-120">
                <a:latin typeface="Lucida Sans Unicode"/>
                <a:cs typeface="Lucida Sans Unicode"/>
              </a:rPr>
              <a:t> </a:t>
            </a: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5542" y="758207"/>
            <a:ext cx="819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06755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97">
                <a:latin typeface="Lucida Sans Unicode"/>
                <a:cs typeface="Lucida Sans Unicode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3384" y="701415"/>
            <a:ext cx="769620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25" i="1">
                <a:latin typeface="Calibri"/>
                <a:cs typeface="Calibri"/>
              </a:rPr>
              <a:t>∂</a:t>
            </a:r>
            <a:r>
              <a:rPr dirty="0" sz="1000" spc="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60"/>
              </a:spcBef>
              <a:tabLst>
                <a:tab pos="605155" algn="l"/>
              </a:tabLst>
            </a:pPr>
            <a:r>
              <a:rPr dirty="0" sz="1000" spc="35" i="1">
                <a:latin typeface="Calibri"/>
                <a:cs typeface="Calibri"/>
              </a:rPr>
              <a:t>∂</a:t>
            </a:r>
            <a:r>
              <a:rPr dirty="0" sz="1000" spc="3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0714" y="1327429"/>
            <a:ext cx="231140" cy="0"/>
          </a:xfrm>
          <a:custGeom>
            <a:avLst/>
            <a:gdLst/>
            <a:ahLst/>
            <a:cxnLst/>
            <a:rect l="l" t="t" r="r" b="b"/>
            <a:pathLst>
              <a:path w="231140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44066" y="1069776"/>
            <a:ext cx="1281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 spc="-60">
                <a:latin typeface="Lucida Sans Unicode"/>
                <a:cs typeface="Lucida Sans Unicode"/>
              </a:rPr>
              <a:t>− </a:t>
            </a:r>
            <a:r>
              <a:rPr dirty="0" baseline="-22222" sz="1500">
                <a:latin typeface="Tahoma"/>
                <a:cs typeface="Tahoma"/>
              </a:rPr>
              <a:t>2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60">
                <a:latin typeface="Tahoma"/>
                <a:cs typeface="Tahoma"/>
              </a:rPr>
              <a:t> </a:t>
            </a:r>
            <a:r>
              <a:rPr dirty="0" baseline="-22222" sz="1500" spc="52" i="1">
                <a:latin typeface="Arial"/>
                <a:cs typeface="Arial"/>
              </a:rPr>
              <a:t>T</a:t>
            </a:r>
            <a:r>
              <a:rPr dirty="0" sz="700" spc="35" i="1">
                <a:latin typeface="Arial"/>
                <a:cs typeface="Arial"/>
              </a:rPr>
              <a:t>n</a:t>
            </a:r>
            <a:r>
              <a:rPr dirty="0" sz="700" spc="3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14" y="1113669"/>
            <a:ext cx="1506220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54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160"/>
              </a:spcBef>
              <a:tabLst>
                <a:tab pos="1134110" algn="l"/>
              </a:tabLst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75" i="1">
                <a:latin typeface="Arial"/>
                <a:cs typeface="Arial"/>
              </a:rPr>
              <a:t> </a:t>
            </a:r>
            <a:r>
              <a:rPr dirty="0" baseline="23809" sz="1050" spc="-75">
                <a:latin typeface="Tahoma"/>
                <a:cs typeface="Tahoma"/>
              </a:rPr>
              <a:t>2</a:t>
            </a:r>
            <a:r>
              <a:rPr dirty="0" baseline="23809" sz="1050">
                <a:latin typeface="Tahoma"/>
                <a:cs typeface="Tahoma"/>
              </a:rPr>
              <a:t>	</a:t>
            </a: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397" y="1167592"/>
            <a:ext cx="18649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17269" algn="l"/>
                <a:tab pos="1451610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|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85">
                <a:latin typeface="Tahoma"/>
                <a:cs typeface="Tahoma"/>
              </a:rPr>
              <a:t> </a:t>
            </a: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82">
                <a:latin typeface="Lucida Sans Unicode"/>
                <a:cs typeface="Lucida Sans Unicode"/>
              </a:rPr>
              <a:t> </a:t>
            </a:r>
            <a:r>
              <a:rPr dirty="0" u="sng" baseline="3968" sz="1050" spc="2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3968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baseline="3968" sz="1050" spc="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baseline="3968" sz="1050" spc="247">
                <a:latin typeface="Tahoma"/>
                <a:cs typeface="Tahoma"/>
              </a:rPr>
              <a:t>  </a:t>
            </a:r>
            <a:r>
              <a:rPr dirty="0" baseline="-22222" sz="1500" spc="30">
                <a:latin typeface="Tahoma"/>
                <a:cs typeface="Tahoma"/>
              </a:rPr>
              <a:t>&amp;</a:t>
            </a:r>
            <a:endParaRPr baseline="-22222" sz="15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95739" y="1327429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857639" y="1113669"/>
            <a:ext cx="290195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160"/>
              </a:spcBef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75" i="1">
                <a:latin typeface="Arial"/>
                <a:cs typeface="Arial"/>
              </a:rPr>
              <a:t> </a:t>
            </a:r>
            <a:r>
              <a:rPr dirty="0" baseline="23809" sz="1050" spc="-75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78847" y="1079009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50843" y="1124920"/>
            <a:ext cx="732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29">
                <a:latin typeface="Lucida Sans Unicode"/>
                <a:cs typeface="Lucida Sans Unicode"/>
              </a:rPr>
              <a:t>—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23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27777" sz="1050" spc="97" i="1">
                <a:latin typeface="Arial"/>
                <a:cs typeface="Arial"/>
              </a:rPr>
              <a:t>n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03435" y="1167592"/>
            <a:ext cx="137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61060" algn="l"/>
                <a:tab pos="1175385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|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 spc="110" i="1">
                <a:latin typeface="Arial"/>
                <a:cs typeface="Arial"/>
              </a:rPr>
              <a:t> </a:t>
            </a: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67">
                <a:latin typeface="Lucida Sans Unicode"/>
                <a:cs typeface="Lucida Sans Unicode"/>
              </a:rPr>
              <a:t> </a:t>
            </a:r>
            <a:r>
              <a:rPr dirty="0" u="sng" baseline="3968" sz="1050" spc="71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3968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28072" y="1306619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89849"/>
            <a:ext cx="52590" cy="5259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80034" y="1505742"/>
            <a:ext cx="2792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By</a:t>
            </a:r>
            <a:r>
              <a:rPr dirty="0" sz="1000" spc="-25">
                <a:latin typeface="Tahoma"/>
                <a:cs typeface="Tahoma"/>
              </a:rPr>
              <a:t> substituting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these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value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Equation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26.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310" y="1759130"/>
            <a:ext cx="4826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1904" y="1878101"/>
            <a:ext cx="593725" cy="0"/>
          </a:xfrm>
          <a:custGeom>
            <a:avLst/>
            <a:gdLst/>
            <a:ahLst/>
            <a:cxnLst/>
            <a:rect l="l" t="t" r="r" b="b"/>
            <a:pathLst>
              <a:path w="593725" h="0">
                <a:moveTo>
                  <a:pt x="0" y="0"/>
                </a:moveTo>
                <a:lnTo>
                  <a:pt x="59372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5929" y="1857304"/>
            <a:ext cx="176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1104" y="1620461"/>
            <a:ext cx="2366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09319" algn="l"/>
                <a:tab pos="1096645" algn="l"/>
              </a:tabLst>
            </a:pPr>
            <a:r>
              <a:rPr dirty="0" baseline="-27777" sz="1500" spc="82" i="1">
                <a:latin typeface="Arial"/>
                <a:cs typeface="Arial"/>
              </a:rPr>
              <a:t>T</a:t>
            </a:r>
            <a:r>
              <a:rPr dirty="0" baseline="-7936" sz="1050" spc="82" i="1">
                <a:latin typeface="Arial"/>
                <a:cs typeface="Arial"/>
              </a:rPr>
              <a:t>n</a:t>
            </a:r>
            <a:r>
              <a:rPr dirty="0" baseline="-7936" sz="1050" spc="82">
                <a:latin typeface="Tahoma"/>
                <a:cs typeface="Tahoma"/>
              </a:rPr>
              <a:t>+1</a:t>
            </a:r>
            <a:r>
              <a:rPr dirty="0" baseline="-7936" sz="1050" spc="89">
                <a:latin typeface="Tahoma"/>
                <a:cs typeface="Tahoma"/>
              </a:rPr>
              <a:t> </a:t>
            </a:r>
            <a:r>
              <a:rPr dirty="0" baseline="-27777" sz="1500" spc="-60">
                <a:latin typeface="Lucida Sans Unicode"/>
                <a:cs typeface="Lucida Sans Unicode"/>
              </a:rPr>
              <a:t>−</a:t>
            </a:r>
            <a:r>
              <a:rPr dirty="0" baseline="-27777" sz="1500" spc="-120">
                <a:latin typeface="Lucida Sans Unicode"/>
                <a:cs typeface="Lucida Sans Unicode"/>
              </a:rPr>
              <a:t> </a:t>
            </a:r>
            <a:r>
              <a:rPr dirty="0" baseline="-27777" sz="1500" spc="97" i="1">
                <a:latin typeface="Arial"/>
                <a:cs typeface="Arial"/>
              </a:rPr>
              <a:t>T</a:t>
            </a:r>
            <a:r>
              <a:rPr dirty="0" baseline="-11904" sz="1050" spc="97" i="1">
                <a:latin typeface="Arial"/>
                <a:cs typeface="Arial"/>
              </a:rPr>
              <a:t>n</a:t>
            </a:r>
            <a:r>
              <a:rPr dirty="0" baseline="-11904" sz="1050" i="1">
                <a:latin typeface="Arial"/>
                <a:cs typeface="Arial"/>
              </a:rPr>
              <a:t>	</a:t>
            </a:r>
            <a:r>
              <a:rPr dirty="0" baseline="-5555" sz="1500" spc="-75">
                <a:latin typeface="Lucida Sans Unicode"/>
                <a:cs typeface="Lucida Sans Unicode"/>
              </a:rPr>
              <a:t>h</a:t>
            </a:r>
            <a:r>
              <a:rPr dirty="0" baseline="-5555" sz="1500">
                <a:latin typeface="Lucida Sans Unicode"/>
                <a:cs typeface="Lucida Sans Unicode"/>
              </a:rPr>
              <a:t>	</a:t>
            </a: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 spc="-60">
                <a:latin typeface="Lucida Sans Unicode"/>
                <a:cs typeface="Lucida Sans Unicode"/>
              </a:rPr>
              <a:t>− </a:t>
            </a:r>
            <a:r>
              <a:rPr dirty="0" baseline="-22222" sz="1500">
                <a:latin typeface="Tahoma"/>
                <a:cs typeface="Tahoma"/>
              </a:rPr>
              <a:t>2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60">
                <a:latin typeface="Tahoma"/>
                <a:cs typeface="Tahoma"/>
              </a:rPr>
              <a:t> </a:t>
            </a:r>
            <a:r>
              <a:rPr dirty="0" baseline="-22222" sz="1500" spc="52" i="1">
                <a:latin typeface="Arial"/>
                <a:cs typeface="Arial"/>
              </a:rPr>
              <a:t>T</a:t>
            </a:r>
            <a:r>
              <a:rPr dirty="0" sz="700" spc="35" i="1">
                <a:latin typeface="Arial"/>
                <a:cs typeface="Arial"/>
              </a:rPr>
              <a:t>n</a:t>
            </a:r>
            <a:r>
              <a:rPr dirty="0" sz="700" spc="3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02053" y="1857304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7859" y="1710631"/>
            <a:ext cx="1754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3619" algn="l"/>
                <a:tab pos="1457960" algn="l"/>
              </a:tabLst>
            </a:pPr>
            <a:r>
              <a:rPr dirty="0" baseline="-25000" sz="1500">
                <a:latin typeface="Tahoma"/>
                <a:cs typeface="Tahoma"/>
              </a:rPr>
              <a:t>=</a:t>
            </a:r>
            <a:r>
              <a:rPr dirty="0" baseline="-25000" sz="1500" spc="-67">
                <a:latin typeface="Tahoma"/>
                <a:cs typeface="Tahoma"/>
              </a:rPr>
              <a:t> </a:t>
            </a:r>
            <a:r>
              <a:rPr dirty="0" baseline="-25000" sz="1500" spc="104" i="1">
                <a:latin typeface="Calibri"/>
                <a:cs typeface="Calibri"/>
              </a:rPr>
              <a:t>α</a:t>
            </a:r>
            <a:r>
              <a:rPr dirty="0" baseline="-25000" sz="1500" spc="359" i="1">
                <a:latin typeface="Calibri"/>
                <a:cs typeface="Calibri"/>
              </a:rPr>
              <a:t> </a:t>
            </a:r>
            <a:r>
              <a:rPr dirty="0" baseline="-25000" sz="1500" i="1">
                <a:latin typeface="Calibri"/>
                <a:cs typeface="Calibri"/>
              </a:rPr>
              <a:t>θ</a:t>
            </a:r>
            <a:r>
              <a:rPr dirty="0" baseline="-25000" sz="1500">
                <a:latin typeface="Tahoma"/>
                <a:cs typeface="Tahoma"/>
              </a:rPr>
              <a:t>(</a:t>
            </a:r>
            <a:r>
              <a:rPr dirty="0" baseline="-25000" sz="1500" spc="-292">
                <a:latin typeface="Tahoma"/>
                <a:cs typeface="Tahoma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700" spc="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sz="700" spc="-60">
                <a:latin typeface="Tahoma"/>
                <a:cs typeface="Tahoma"/>
              </a:rPr>
              <a:t> </a:t>
            </a:r>
            <a:r>
              <a:rPr dirty="0" baseline="-25000" sz="1500" spc="-75">
                <a:latin typeface="Tahoma"/>
                <a:cs typeface="Tahoma"/>
              </a:rPr>
              <a:t>)</a:t>
            </a:r>
            <a:endParaRPr baseline="-25000" sz="15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34042" y="1981497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6038" y="2027407"/>
            <a:ext cx="732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29">
                <a:latin typeface="Lucida Sans Unicode"/>
                <a:cs typeface="Lucida Sans Unicode"/>
              </a:rPr>
              <a:t>—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23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27777" sz="1050" spc="97" i="1">
                <a:latin typeface="Arial"/>
                <a:cs typeface="Arial"/>
              </a:rPr>
              <a:t>n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3266" y="2209106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63901" y="2062434"/>
            <a:ext cx="1736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55700" algn="l"/>
                <a:tab pos="1470025" algn="l"/>
              </a:tabLst>
            </a:pPr>
            <a:r>
              <a:rPr dirty="0" baseline="-25000" sz="1500">
                <a:latin typeface="Tahoma"/>
                <a:cs typeface="Tahoma"/>
              </a:rPr>
              <a:t>+</a:t>
            </a:r>
            <a:r>
              <a:rPr dirty="0" baseline="-25000" sz="1500" spc="-142">
                <a:latin typeface="Tahoma"/>
                <a:cs typeface="Tahoma"/>
              </a:rPr>
              <a:t> </a:t>
            </a:r>
            <a:r>
              <a:rPr dirty="0" baseline="-25000" sz="1500" spc="-52">
                <a:latin typeface="Tahoma"/>
                <a:cs typeface="Tahoma"/>
              </a:rPr>
              <a:t>(1</a:t>
            </a:r>
            <a:r>
              <a:rPr dirty="0" baseline="-25000" sz="1500" spc="-135">
                <a:latin typeface="Tahoma"/>
                <a:cs typeface="Tahoma"/>
              </a:rPr>
              <a:t> </a:t>
            </a:r>
            <a:r>
              <a:rPr dirty="0" baseline="-25000" sz="1500" spc="-60">
                <a:latin typeface="Lucida Sans Unicode"/>
                <a:cs typeface="Lucida Sans Unicode"/>
              </a:rPr>
              <a:t>−</a:t>
            </a:r>
            <a:r>
              <a:rPr dirty="0" baseline="-25000" sz="1500" spc="-142">
                <a:latin typeface="Lucida Sans Unicode"/>
                <a:cs typeface="Lucida Sans Unicode"/>
              </a:rPr>
              <a:t> </a:t>
            </a:r>
            <a:r>
              <a:rPr dirty="0" baseline="-25000" sz="1500" i="1">
                <a:latin typeface="Calibri"/>
                <a:cs typeface="Calibri"/>
              </a:rPr>
              <a:t>θ</a:t>
            </a:r>
            <a:r>
              <a:rPr dirty="0" baseline="-25000" sz="1500">
                <a:latin typeface="Tahoma"/>
                <a:cs typeface="Tahoma"/>
              </a:rPr>
              <a:t>)(</a:t>
            </a:r>
            <a:r>
              <a:rPr dirty="0" baseline="-25000" sz="1500" spc="-292">
                <a:latin typeface="Tahoma"/>
                <a:cs typeface="Tahoma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sz="700" spc="75">
                <a:latin typeface="Tahoma"/>
                <a:cs typeface="Tahoma"/>
              </a:rPr>
              <a:t> </a:t>
            </a:r>
            <a:r>
              <a:rPr dirty="0" baseline="-25000" sz="1500" spc="-75">
                <a:latin typeface="Tahoma"/>
                <a:cs typeface="Tahoma"/>
              </a:rPr>
              <a:t>)</a:t>
            </a:r>
            <a:endParaRPr baseline="-25000" sz="1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9432" y="1981878"/>
            <a:ext cx="85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Lucida Sans Unicode"/>
                <a:cs typeface="Lucida Sans Unicode"/>
              </a:rPr>
              <a:t>i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7050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0133" y="248183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1351" y="2392238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4435" y="247576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6616" y="2266078"/>
            <a:ext cx="85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0">
                <a:latin typeface="Lucida Sans Unicode"/>
                <a:cs typeface="Lucida Sans Unicode"/>
              </a:rPr>
              <a:t>h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1508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4578" y="2481836"/>
            <a:ext cx="1771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4027" y="2406528"/>
            <a:ext cx="16840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0040" algn="l"/>
                <a:tab pos="1394460" algn="l"/>
              </a:tabLst>
            </a:pP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120" i="1">
                <a:latin typeface="Arial"/>
                <a:cs typeface="Arial"/>
              </a:rPr>
              <a:t> 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229" i="1">
                <a:latin typeface="Arial"/>
                <a:cs typeface="Arial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θ</a:t>
            </a:r>
            <a:r>
              <a:rPr dirty="0" sz="1000" spc="-25">
                <a:latin typeface="Tahoma"/>
                <a:cs typeface="Tahoma"/>
              </a:rPr>
              <a:t>(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82152" y="2391679"/>
            <a:ext cx="212725" cy="2222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6510">
              <a:lnSpc>
                <a:spcPts val="710"/>
              </a:lnSpc>
              <a:spcBef>
                <a:spcPts val="229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 spc="500">
                <a:latin typeface="Tahoma"/>
                <a:cs typeface="Tahoma"/>
              </a:rPr>
              <a:t> 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33370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16454" y="2481836"/>
            <a:ext cx="1828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03818" y="2406528"/>
            <a:ext cx="480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8465" algn="l"/>
              </a:tabLst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23832" y="2684886"/>
            <a:ext cx="1816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-30" i="1">
                <a:latin typeface="Calibri"/>
                <a:cs typeface="Calibri"/>
              </a:rPr>
              <a:t>θ</a:t>
            </a:r>
            <a:r>
              <a:rPr dirty="0" sz="1000" spc="-30">
                <a:latin typeface="Tahoma"/>
                <a:cs typeface="Tahoma"/>
              </a:rPr>
              <a:t>)(</a:t>
            </a:r>
            <a:r>
              <a:rPr dirty="0" sz="1000" spc="-30" i="1">
                <a:latin typeface="Arial"/>
                <a:cs typeface="Arial"/>
              </a:rPr>
              <a:t>T</a:t>
            </a:r>
            <a:r>
              <a:rPr dirty="0" baseline="-19841" sz="1050" spc="-44" i="1">
                <a:latin typeface="Arial"/>
                <a:cs typeface="Arial"/>
              </a:rPr>
              <a:t>i</a:t>
            </a:r>
            <a:r>
              <a:rPr dirty="0" baseline="31746" sz="1050" spc="-44" i="1">
                <a:latin typeface="Arial"/>
                <a:cs typeface="Arial"/>
              </a:rPr>
              <a:t>n</a:t>
            </a:r>
            <a:r>
              <a:rPr dirty="0" baseline="-19841" sz="1050" spc="-44">
                <a:latin typeface="Tahoma"/>
                <a:cs typeface="Tahoma"/>
              </a:rPr>
              <a:t>+1</a:t>
            </a:r>
            <a:r>
              <a:rPr dirty="0" baseline="-19841" sz="1050" spc="89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9841" sz="1050" i="1">
                <a:latin typeface="Arial"/>
                <a:cs typeface="Arial"/>
              </a:rPr>
              <a:t>i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4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T</a:t>
            </a:r>
            <a:r>
              <a:rPr dirty="0" baseline="-19841" sz="1050" spc="-15" i="1">
                <a:latin typeface="Arial"/>
                <a:cs typeface="Arial"/>
              </a:rPr>
              <a:t>i</a:t>
            </a:r>
            <a:r>
              <a:rPr dirty="0" baseline="31746" sz="1050" spc="-15" i="1">
                <a:latin typeface="Arial"/>
                <a:cs typeface="Arial"/>
              </a:rPr>
              <a:t>n</a:t>
            </a:r>
            <a:r>
              <a:rPr dirty="0" baseline="-19841" sz="1050" spc="-15">
                <a:latin typeface="Lucida Sans Unicode"/>
                <a:cs typeface="Lucida Sans Unicode"/>
              </a:rPr>
              <a:t>−</a:t>
            </a:r>
            <a:r>
              <a:rPr dirty="0" baseline="-19841" sz="1050" spc="-15">
                <a:latin typeface="Tahoma"/>
                <a:cs typeface="Tahoma"/>
              </a:rPr>
              <a:t>1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baseline="61111" sz="1500" spc="-15">
                <a:latin typeface="Lucida Sans Unicode"/>
                <a:cs typeface="Lucida Sans Unicode"/>
              </a:rPr>
              <a:t>i</a:t>
            </a:r>
            <a:endParaRPr baseline="61111" sz="15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18931" y="3039658"/>
            <a:ext cx="3130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00" spc="60">
                <a:latin typeface="Tahoma"/>
                <a:cs typeface="Tahoma"/>
              </a:rPr>
              <a:t>(∆</a:t>
            </a:r>
            <a:r>
              <a:rPr dirty="0" sz="700" spc="60" i="1">
                <a:latin typeface="Arial"/>
                <a:cs typeface="Arial"/>
              </a:rPr>
              <a:t>x</a:t>
            </a:r>
            <a:r>
              <a:rPr dirty="0" sz="700" spc="-125" i="1">
                <a:latin typeface="Arial"/>
                <a:cs typeface="Arial"/>
              </a:rPr>
              <a:t> </a:t>
            </a:r>
            <a:r>
              <a:rPr dirty="0" sz="700" spc="-25">
                <a:latin typeface="Tahoma"/>
                <a:cs typeface="Tahoma"/>
              </a:rPr>
              <a:t>)</a:t>
            </a:r>
            <a:r>
              <a:rPr dirty="0" baseline="22222" sz="750" spc="-37">
                <a:latin typeface="Tahoma"/>
                <a:cs typeface="Tahoma"/>
              </a:rPr>
              <a:t>2</a:t>
            </a:r>
            <a:endParaRPr baseline="22222" sz="7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9709" y="2958076"/>
            <a:ext cx="37934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Where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6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Fourier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number,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Fo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u="sng" baseline="31746" sz="1050" spc="89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baseline="31746" sz="1050" spc="179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α</a:t>
            </a:r>
            <a:r>
              <a:rPr dirty="0" u="sng" baseline="31746" sz="1050" spc="179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∆</a:t>
            </a:r>
            <a:r>
              <a:rPr dirty="0" u="sng" baseline="31746" sz="1050" spc="17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31746" sz="1050" spc="6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baseline="31746" sz="1050" spc="292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θ</a:t>
            </a:r>
            <a:r>
              <a:rPr dirty="0" sz="1000" spc="80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weighting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factor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2932" y="3059396"/>
            <a:ext cx="6864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(0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Calibri"/>
                <a:cs typeface="Calibri"/>
              </a:rPr>
              <a:t>θ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1).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26656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39975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589013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291835"/>
            <a:ext cx="3453765" cy="39052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Domain: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0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Fully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Explicit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scheme,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θ</a:t>
            </a:r>
            <a:r>
              <a:rPr dirty="0" sz="1000" spc="35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7136" y="785218"/>
            <a:ext cx="4826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endParaRPr baseline="3968" sz="1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4065" y="695619"/>
            <a:ext cx="10509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  <a:tab pos="988694" algn="l"/>
              </a:tabLst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n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5630" y="709909"/>
            <a:ext cx="198056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45440" algn="l"/>
                <a:tab pos="1285875" algn="l"/>
              </a:tabLst>
            </a:pP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125" i="1">
                <a:latin typeface="Arial"/>
                <a:cs typeface="Arial"/>
              </a:rPr>
              <a:t> 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335" i="1">
                <a:latin typeface="Arial"/>
                <a:cs typeface="Arial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24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31746" sz="1050" spc="97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3538" y="779147"/>
            <a:ext cx="9588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345" algn="l"/>
                <a:tab pos="788035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4701" y="607420"/>
            <a:ext cx="115697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090930" algn="l"/>
              </a:tabLst>
            </a:pP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4065" y="1016447"/>
            <a:ext cx="522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0375" algn="l"/>
              </a:tabLst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0454" y="1016447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5630" y="1030724"/>
            <a:ext cx="198056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52425" algn="l"/>
                <a:tab pos="1285875" algn="l"/>
              </a:tabLst>
            </a:pP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49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350" i="1">
                <a:latin typeface="Arial"/>
                <a:cs typeface="Arial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24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31746" sz="1050" spc="97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7136" y="1106032"/>
            <a:ext cx="19354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1009" algn="l"/>
                <a:tab pos="988694" algn="l"/>
                <a:tab pos="1450340" algn="l"/>
                <a:tab pos="1764664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r>
              <a:rPr dirty="0" baseline="3968" sz="1050" i="1">
                <a:latin typeface="Arial"/>
                <a:cs typeface="Arial"/>
              </a:rPr>
              <a:t>	</a:t>
            </a:r>
            <a:r>
              <a:rPr dirty="0" baseline="3968" sz="1050" spc="-37" i="1">
                <a:latin typeface="Arial"/>
                <a:cs typeface="Arial"/>
              </a:rPr>
              <a:t>i</a:t>
            </a:r>
            <a:r>
              <a:rPr dirty="0" baseline="3968" sz="1050" spc="-37">
                <a:latin typeface="Tahoma"/>
                <a:cs typeface="Tahoma"/>
              </a:rPr>
              <a:t>+1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r>
              <a:rPr dirty="0" baseline="3968" sz="1050" i="1">
                <a:latin typeface="Arial"/>
                <a:cs typeface="Arial"/>
              </a:rPr>
              <a:t>	</a:t>
            </a:r>
            <a:r>
              <a:rPr dirty="0" baseline="3968" sz="1050" spc="-37" i="1">
                <a:latin typeface="Arial"/>
                <a:cs typeface="Arial"/>
              </a:rPr>
              <a:t>i</a:t>
            </a:r>
            <a:r>
              <a:rPr dirty="0" baseline="3968" sz="1050" spc="-37">
                <a:latin typeface="Lucida Sans Unicode"/>
                <a:cs typeface="Lucida Sans Unicode"/>
              </a:rPr>
              <a:t>−</a:t>
            </a:r>
            <a:r>
              <a:rPr dirty="0" baseline="3968" sz="1050" spc="-37">
                <a:latin typeface="Tahoma"/>
                <a:cs typeface="Tahoma"/>
              </a:rPr>
              <a:t>1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64714" y="928235"/>
            <a:ext cx="115697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090930" algn="l"/>
              </a:tabLst>
            </a:pP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385582"/>
            <a:ext cx="52590" cy="5259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80034" y="1301475"/>
            <a:ext cx="343725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Hence,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interior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nodes,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7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1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level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1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2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50" i="1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3271" y="1506466"/>
            <a:ext cx="2277110" cy="207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94"/>
              </a:lnSpc>
              <a:spcBef>
                <a:spcPts val="95"/>
              </a:spcBef>
            </a:pP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20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540" i="1">
                <a:latin typeface="Arial"/>
                <a:cs typeface="Arial"/>
              </a:rPr>
              <a:t> 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7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6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FoT</a:t>
            </a:r>
            <a:r>
              <a:rPr dirty="0" baseline="31746" sz="1050" spc="-30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  <a:p>
            <a:pPr marL="136525">
              <a:lnSpc>
                <a:spcPts val="535"/>
              </a:lnSpc>
              <a:tabLst>
                <a:tab pos="716915" algn="l"/>
                <a:tab pos="1640839" algn="l"/>
                <a:tab pos="2086610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baseline="3968" sz="1050" spc="-37" i="1">
                <a:latin typeface="Arial"/>
                <a:cs typeface="Arial"/>
              </a:rPr>
              <a:t>i</a:t>
            </a:r>
            <a:r>
              <a:rPr dirty="0" baseline="3968" sz="1050" spc="-37">
                <a:latin typeface="Lucida Sans Unicode"/>
                <a:cs typeface="Lucida Sans Unicode"/>
              </a:rPr>
              <a:t>−</a:t>
            </a:r>
            <a:r>
              <a:rPr dirty="0" baseline="3968" sz="1050" spc="-37">
                <a:latin typeface="Tahoma"/>
                <a:cs typeface="Tahoma"/>
              </a:rPr>
              <a:t>1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r>
              <a:rPr dirty="0" baseline="3968" sz="1050" i="1">
                <a:latin typeface="Arial"/>
                <a:cs typeface="Arial"/>
              </a:rPr>
              <a:t>	</a:t>
            </a:r>
            <a:r>
              <a:rPr dirty="0" baseline="3968" sz="1050" spc="-37" i="1">
                <a:latin typeface="Arial"/>
                <a:cs typeface="Arial"/>
              </a:rPr>
              <a:t>i</a:t>
            </a:r>
            <a:r>
              <a:rPr dirty="0" baseline="3968" sz="1050" spc="-37">
                <a:latin typeface="Tahoma"/>
                <a:cs typeface="Tahoma"/>
              </a:rPr>
              <a:t>+1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1817" y="1506466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(21)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39404"/>
            <a:ext cx="52590" cy="5259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492514" y="183060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4634" y="1755297"/>
            <a:ext cx="3541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Tahoma"/>
                <a:cs typeface="Tahoma"/>
              </a:rPr>
              <a:t>Therefore,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new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temperature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172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can </a:t>
            </a:r>
            <a:r>
              <a:rPr dirty="0" sz="1000" spc="-10">
                <a:latin typeface="Tahoma"/>
                <a:cs typeface="Tahoma"/>
              </a:rPr>
              <a:t>be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calculated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4634" y="1907126"/>
            <a:ext cx="2037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Tahoma"/>
                <a:cs typeface="Tahoma"/>
              </a:rPr>
              <a:t>previous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temperature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2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explicitly.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932" y="1962388"/>
            <a:ext cx="3702685" cy="3498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R="613410">
              <a:lnSpc>
                <a:spcPct val="100000"/>
              </a:lnSpc>
              <a:spcBef>
                <a:spcPts val="254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100" b="1">
                <a:latin typeface="Arial"/>
                <a:cs typeface="Arial"/>
              </a:rPr>
              <a:t>Step-IV: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-20">
                <a:latin typeface="Tahoma"/>
                <a:cs typeface="Tahoma"/>
              </a:rPr>
              <a:t> Initial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Physical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Boundary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03526"/>
            <a:ext cx="65265" cy="6526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694179" y="2381659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6717" y="2308687"/>
            <a:ext cx="1622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(i)</a:t>
            </a:r>
            <a:r>
              <a:rPr dirty="0" sz="1000" spc="17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10">
                <a:latin typeface="Tahoma"/>
                <a:cs typeface="Tahoma"/>
              </a:rPr>
              <a:t> time </a:t>
            </a:r>
            <a:r>
              <a:rPr dirty="0" sz="1000" spc="-25">
                <a:latin typeface="Tahoma"/>
                <a:cs typeface="Tahoma"/>
              </a:rPr>
              <a:t>level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17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3791" y="2532512"/>
            <a:ext cx="2381885" cy="207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94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(ii)</a:t>
            </a:r>
            <a:r>
              <a:rPr dirty="0" sz="1000" spc="2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1:</a:t>
            </a:r>
            <a:r>
              <a:rPr dirty="0" sz="1000" spc="12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5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0</a:t>
            </a:r>
            <a:r>
              <a:rPr dirty="0" baseline="-11904" sz="1050" spc="247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15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  <a:p>
            <a:pPr marL="1060450">
              <a:lnSpc>
                <a:spcPts val="535"/>
              </a:lnSpc>
              <a:tabLst>
                <a:tab pos="1835150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=1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1665" y="2800571"/>
            <a:ext cx="1087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(iii)</a:t>
            </a:r>
            <a:r>
              <a:rPr dirty="0" sz="1000" spc="19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 </a:t>
            </a:r>
            <a:r>
              <a:rPr dirty="0" sz="1000">
                <a:latin typeface="Tahoma"/>
                <a:cs typeface="Tahoma"/>
              </a:rPr>
              <a:t>5:</a:t>
            </a:r>
            <a:r>
              <a:rPr dirty="0" sz="1000" spc="100">
                <a:latin typeface="Tahoma"/>
                <a:cs typeface="Tahoma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45818" y="2788719"/>
            <a:ext cx="1384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dT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85632" y="2768948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27809" y="2758493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58099" y="2889138"/>
            <a:ext cx="3467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968" sz="1050" i="1">
                <a:latin typeface="Arial"/>
                <a:cs typeface="Arial"/>
              </a:rPr>
              <a:t>dx</a:t>
            </a:r>
            <a:r>
              <a:rPr dirty="0" baseline="3968" sz="1050" spc="615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=5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39594" y="2800571"/>
            <a:ext cx="633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r>
              <a:rPr dirty="0" sz="1000" spc="-25">
                <a:latin typeface="Tahoma"/>
                <a:cs typeface="Tahoma"/>
              </a:rPr>
              <a:t>[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75432" y="2759299"/>
            <a:ext cx="147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n</a:t>
            </a:r>
            <a:r>
              <a:rPr dirty="0" sz="500" spc="-25">
                <a:latin typeface="Tahoma"/>
                <a:cs typeface="Tahoma"/>
              </a:rPr>
              <a:t>+1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63672" y="2824615"/>
            <a:ext cx="5905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58528" y="2759299"/>
            <a:ext cx="147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n</a:t>
            </a:r>
            <a:r>
              <a:rPr dirty="0" sz="500" spc="-25">
                <a:latin typeface="Tahoma"/>
                <a:cs typeface="Tahoma"/>
              </a:rPr>
              <a:t>+1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46768" y="2824615"/>
            <a:ext cx="5905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62796" y="2772184"/>
            <a:ext cx="5861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729" algn="l"/>
                <a:tab pos="535940" algn="l"/>
              </a:tabLst>
            </a:pPr>
            <a:r>
              <a:rPr dirty="0" sz="700" spc="25">
                <a:latin typeface="Tahoma"/>
                <a:cs typeface="Tahoma"/>
              </a:rPr>
              <a:t>(</a:t>
            </a:r>
            <a:r>
              <a:rPr dirty="0" sz="700" spc="25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40">
                <a:latin typeface="Lucida Sans Unicode"/>
                <a:cs typeface="Lucida Sans Unicode"/>
              </a:rPr>
              <a:t>−</a:t>
            </a:r>
            <a:r>
              <a:rPr dirty="0" sz="700" spc="4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575496" y="2908173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5" h="0">
                <a:moveTo>
                  <a:pt x="0" y="0"/>
                </a:moveTo>
                <a:lnTo>
                  <a:pt x="56031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778010" y="2882166"/>
            <a:ext cx="147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55">
                <a:latin typeface="Tahoma"/>
                <a:cs typeface="Tahoma"/>
              </a:rPr>
              <a:t>∆</a:t>
            </a:r>
            <a:r>
              <a:rPr dirty="0" sz="700" spc="55" i="1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dirty="0" spc="-10"/>
              <a:t>24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3138284" y="2800571"/>
            <a:ext cx="3295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1934" y="3046760"/>
            <a:ext cx="1413510" cy="20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85"/>
              </a:lnSpc>
              <a:spcBef>
                <a:spcPts val="95"/>
              </a:spcBef>
            </a:pPr>
            <a:r>
              <a:rPr dirty="0" sz="1000" spc="-40">
                <a:latin typeface="Tahoma"/>
                <a:cs typeface="Tahoma"/>
              </a:rPr>
              <a:t>Hence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89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502284">
              <a:lnSpc>
                <a:spcPts val="525"/>
              </a:lnSpc>
              <a:tabLst>
                <a:tab pos="936625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42526" y="3248732"/>
            <a:ext cx="203200" cy="55880"/>
            <a:chOff x="3242526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0569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4252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17976" y="3247467"/>
            <a:ext cx="203200" cy="58419"/>
            <a:chOff x="3517976" y="3247467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06877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1797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94177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93439" y="3247467"/>
            <a:ext cx="203200" cy="58419"/>
            <a:chOff x="3793439" y="324746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69640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93439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69640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5090" y="327666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12700" y="0"/>
                </a:moveTo>
                <a:lnTo>
                  <a:pt x="50800" y="0"/>
                </a:lnTo>
              </a:path>
              <a:path w="50800" h="25400">
                <a:moveTo>
                  <a:pt x="0" y="12700"/>
                </a:moveTo>
                <a:lnTo>
                  <a:pt x="381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392417"/>
            <a:ext cx="65265" cy="6526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08761"/>
            <a:ext cx="52590" cy="5259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02932" y="308964"/>
            <a:ext cx="3817620" cy="49339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25">
                <a:latin typeface="Tahoma"/>
                <a:cs typeface="Tahoma"/>
              </a:rPr>
              <a:t> Equations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Gauss-</a:t>
            </a:r>
            <a:r>
              <a:rPr dirty="0" sz="1100" spc="-30">
                <a:latin typeface="Tahoma"/>
                <a:cs typeface="Tahoma"/>
              </a:rPr>
              <a:t>Seidel </a:t>
            </a:r>
            <a:r>
              <a:rPr dirty="0" sz="1100" spc="-10">
                <a:latin typeface="Tahoma"/>
                <a:cs typeface="Tahoma"/>
              </a:rPr>
              <a:t>Method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dirty="0" sz="1000" spc="6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equations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25">
                <a:latin typeface="Tahoma"/>
                <a:cs typeface="Tahoma"/>
              </a:rPr>
              <a:t> as: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41792" y="849467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4634" y="776483"/>
            <a:ext cx="15716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 </a:t>
            </a:r>
            <a:r>
              <a:rPr dirty="0" sz="1000" spc="-30">
                <a:latin typeface="Tahoma"/>
                <a:cs typeface="Tahoma"/>
              </a:rPr>
              <a:t>level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>
                <a:latin typeface="Tahoma"/>
                <a:cs typeface="Tahoma"/>
              </a:rPr>
              <a:t>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179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75305" y="873549"/>
            <a:ext cx="6578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35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=</a:t>
            </a:r>
            <a:r>
              <a:rPr dirty="0" baseline="-22222" sz="1500" spc="-7">
                <a:latin typeface="Tahoma"/>
                <a:cs typeface="Tahoma"/>
              </a:rPr>
              <a:t> </a:t>
            </a:r>
            <a:r>
              <a:rPr dirty="0" baseline="-22222" sz="1500" spc="-37" i="1">
                <a:latin typeface="Arial"/>
                <a:cs typeface="Arial"/>
              </a:rPr>
              <a:t>T</a:t>
            </a:r>
            <a:r>
              <a:rPr dirty="0" baseline="-43650" sz="1050" spc="-37">
                <a:latin typeface="Tahoma"/>
                <a:cs typeface="Tahoma"/>
              </a:rPr>
              <a:t>0</a:t>
            </a:r>
            <a:endParaRPr baseline="-43650" sz="10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18513" y="979455"/>
            <a:ext cx="2138680" cy="35877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r" marR="502284">
              <a:lnSpc>
                <a:spcPct val="100000"/>
              </a:lnSpc>
              <a:spcBef>
                <a:spcPts val="250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  <a:p>
            <a:pPr marL="63500">
              <a:lnSpc>
                <a:spcPts val="885"/>
              </a:lnSpc>
              <a:spcBef>
                <a:spcPts val="215"/>
              </a:spcBef>
            </a:pP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2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8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8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FoT</a:t>
            </a:r>
            <a:r>
              <a:rPr dirty="0" baseline="31746" sz="1050" spc="-30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  <a:p>
            <a:pPr marL="149225">
              <a:lnSpc>
                <a:spcPts val="525"/>
              </a:lnSpc>
              <a:tabLst>
                <a:tab pos="729615" algn="l"/>
                <a:tab pos="1563370" algn="l"/>
                <a:tab pos="2009139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1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2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3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31213" y="1340528"/>
            <a:ext cx="2113280" cy="20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85"/>
              </a:lnSpc>
              <a:spcBef>
                <a:spcPts val="95"/>
              </a:spcBef>
            </a:pP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2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8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8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FoT</a:t>
            </a:r>
            <a:r>
              <a:rPr dirty="0" baseline="31746" sz="1050" spc="-30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  <a:p>
            <a:pPr marL="136525">
              <a:lnSpc>
                <a:spcPts val="525"/>
              </a:lnSpc>
              <a:tabLst>
                <a:tab pos="716915" algn="l"/>
                <a:tab pos="1550670" algn="l"/>
                <a:tab pos="1996439" algn="l"/>
              </a:tabLst>
            </a:pP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2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3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4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43913" y="1547614"/>
            <a:ext cx="2087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2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8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87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FoT</a:t>
            </a:r>
            <a:r>
              <a:rPr dirty="0" baseline="31746" sz="1050" spc="-30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55432" y="1620357"/>
            <a:ext cx="19323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2455" algn="l"/>
                <a:tab pos="1426210" algn="l"/>
                <a:tab pos="1871980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3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4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5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28734" y="182745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63036" y="182745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18816" y="1701906"/>
            <a:ext cx="1120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>
                <a:latin typeface="Lucida Sans Unicode"/>
                <a:cs typeface="Lucida Sans Unicode"/>
              </a:rPr>
              <a:t>−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5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52">
                <a:latin typeface="Tahoma"/>
                <a:cs typeface="Tahoma"/>
              </a:rPr>
              <a:t> </a:t>
            </a: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20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=</a:t>
            </a:r>
            <a:r>
              <a:rPr dirty="0" baseline="-22222" sz="1500" spc="67">
                <a:latin typeface="Tahoma"/>
                <a:cs typeface="Tahoma"/>
              </a:rPr>
              <a:t> </a:t>
            </a:r>
            <a:r>
              <a:rPr dirty="0" baseline="-22222" sz="1500" spc="-75">
                <a:latin typeface="Tahoma"/>
                <a:cs typeface="Tahoma"/>
              </a:rPr>
              <a:t>0</a:t>
            </a:r>
            <a:endParaRPr baseline="-22222" sz="15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31817" y="1339474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(22)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040102"/>
            <a:ext cx="52590" cy="5259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118741" y="2028980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4634" y="1956008"/>
            <a:ext cx="1845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level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7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 spc="-10">
                <a:latin typeface="Lucida Sans Unicode"/>
                <a:cs typeface="Lucida Sans Unicode"/>
              </a:rPr>
              <a:t>|</a:t>
            </a:r>
            <a:r>
              <a:rPr dirty="0" baseline="27777" sz="1050" spc="-15">
                <a:latin typeface="Tahoma"/>
                <a:cs typeface="Tahoma"/>
              </a:rPr>
              <a:t>0</a:t>
            </a:r>
            <a:r>
              <a:rPr dirty="0" baseline="27777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43923" y="2174547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32417" y="2105309"/>
            <a:ext cx="534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79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97367" y="2311824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0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0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0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97367" y="2518351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0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0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0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97367" y="2724879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0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0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0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699181" y="2931406"/>
            <a:ext cx="87439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9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80034" y="3000644"/>
            <a:ext cx="3521075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41550">
              <a:lnSpc>
                <a:spcPts val="800"/>
              </a:lnSpc>
              <a:spcBef>
                <a:spcPts val="95"/>
              </a:spcBef>
              <a:tabLst>
                <a:tab pos="2552700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  <a:p>
            <a:pPr marL="12700">
              <a:lnSpc>
                <a:spcPts val="1155"/>
              </a:lnSpc>
            </a:pPr>
            <a:r>
              <a:rPr dirty="0" sz="1000" spc="-40">
                <a:latin typeface="Tahoma"/>
                <a:cs typeface="Tahoma"/>
              </a:rPr>
              <a:t>Temperatures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new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30">
                <a:latin typeface="Tahoma"/>
                <a:cs typeface="Tahoma"/>
              </a:rPr>
              <a:t> level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30">
                <a:latin typeface="Tahoma"/>
                <a:cs typeface="Tahoma"/>
              </a:rPr>
              <a:t> obtained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directly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</a:t>
            </a:r>
            <a:r>
              <a:rPr dirty="0" u="heavy" sz="1000" spc="-25">
                <a:uFill>
                  <a:solidFill>
                    <a:srgbClr val="ADADE0"/>
                  </a:solidFill>
                </a:uFill>
                <a:latin typeface="Tahoma"/>
                <a:cs typeface="Tahoma"/>
              </a:rPr>
              <a:t>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dirty="0" sz="1000" spc="-45">
                <a:latin typeface="Tahoma"/>
                <a:cs typeface="Tahoma"/>
              </a:rPr>
              <a:t>previous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level.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31817" y="2517576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(23)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3180803"/>
            <a:ext cx="52590" cy="52590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4286097" y="3323099"/>
            <a:ext cx="2540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7F7F7F"/>
                </a:solidFill>
                <a:latin typeface="Tahoma"/>
                <a:cs typeface="Tahoma"/>
              </a:rPr>
              <a:t>37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dirty="0" sz="600" spc="-35">
                <a:solidFill>
                  <a:srgbClr val="7F7F7F"/>
                </a:solidFill>
                <a:latin typeface="Tahoma"/>
                <a:cs typeface="Tahoma"/>
              </a:rPr>
              <a:t>44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842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44753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44968"/>
            <a:ext cx="3817620" cy="49339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25">
                <a:latin typeface="Tahoma"/>
                <a:cs typeface="Tahoma"/>
              </a:rPr>
              <a:t> Equations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Gauss-</a:t>
            </a:r>
            <a:r>
              <a:rPr dirty="0" sz="1100" spc="-30">
                <a:latin typeface="Tahoma"/>
                <a:cs typeface="Tahoma"/>
              </a:rPr>
              <a:t>Seidel </a:t>
            </a:r>
            <a:r>
              <a:rPr dirty="0" sz="1100">
                <a:latin typeface="Tahoma"/>
                <a:cs typeface="Tahoma"/>
              </a:rPr>
              <a:t>Method: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dirty="0" sz="1000" spc="-25">
                <a:latin typeface="Tahoma"/>
                <a:cs typeface="Tahoma"/>
              </a:rPr>
              <a:t>Similarly,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step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size: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1,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3923" y="904775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32417" y="835538"/>
            <a:ext cx="534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79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7367" y="1042052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1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7367" y="1248580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1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7367" y="1455107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1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9100" y="1730873"/>
            <a:ext cx="3835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3215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99181" y="1661635"/>
            <a:ext cx="87439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9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1817" y="1247805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(24)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947024"/>
            <a:ext cx="52590" cy="5259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80034" y="1862930"/>
            <a:ext cx="15144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Similarly,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step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size: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43923" y="210704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32417" y="2037809"/>
            <a:ext cx="534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3</a:t>
            </a:r>
            <a:r>
              <a:rPr dirty="0" baseline="31746" sz="1050" spc="179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7367" y="2244323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3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2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97367" y="2450851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3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2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97367" y="2657378"/>
            <a:ext cx="1982470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3</a:t>
            </a:r>
            <a:r>
              <a:rPr dirty="0" baseline="31746" sz="1050" spc="1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2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2</a:t>
            </a:r>
            <a:endParaRPr baseline="31746" sz="1050">
              <a:latin typeface="Tahoma"/>
              <a:cs typeface="Tahoma"/>
            </a:endParaRPr>
          </a:p>
          <a:p>
            <a:pPr marL="136525">
              <a:lnSpc>
                <a:spcPts val="515"/>
              </a:lnSpc>
              <a:tabLst>
                <a:tab pos="593725" algn="l"/>
                <a:tab pos="1424305" algn="l"/>
                <a:tab pos="1866900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99181" y="2863906"/>
            <a:ext cx="87439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3</a:t>
            </a:r>
            <a:r>
              <a:rPr dirty="0" baseline="31746" sz="1050" spc="9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3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4634" y="2933143"/>
            <a:ext cx="2716530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83185">
              <a:lnSpc>
                <a:spcPts val="800"/>
              </a:lnSpc>
              <a:spcBef>
                <a:spcPts val="95"/>
              </a:spcBef>
              <a:tabLst>
                <a:tab pos="310515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  <a:p>
            <a:pPr marL="38100">
              <a:lnSpc>
                <a:spcPts val="1155"/>
              </a:lnSpc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solution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proceeds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sequentially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time.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Hence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</a:pP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5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27777" sz="1050">
                <a:latin typeface="Tahoma"/>
                <a:cs typeface="Tahoma"/>
              </a:rPr>
              <a:t>0</a:t>
            </a:r>
            <a:r>
              <a:rPr dirty="0" baseline="27777" sz="1050" spc="15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5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27777" sz="1050">
                <a:latin typeface="Tahoma"/>
                <a:cs typeface="Tahoma"/>
              </a:rPr>
              <a:t>1</a:t>
            </a:r>
            <a:r>
              <a:rPr dirty="0" baseline="27777" sz="1050" spc="15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27777" sz="1050">
                <a:latin typeface="Tahoma"/>
                <a:cs typeface="Tahoma"/>
              </a:rPr>
              <a:t>2</a:t>
            </a:r>
            <a:r>
              <a:rPr dirty="0" baseline="27777" sz="1050" spc="15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27777" sz="1050" spc="97" i="1">
                <a:latin typeface="Arial"/>
                <a:cs typeface="Arial"/>
              </a:rPr>
              <a:t>n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1817" y="2450076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(25)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3113303"/>
            <a:ext cx="52590" cy="52590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38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Ex-2:1-</a:t>
            </a:r>
            <a:r>
              <a:rPr dirty="0"/>
              <a:t>D</a:t>
            </a:r>
            <a:r>
              <a:rPr dirty="0" spc="-15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15"/>
              <a:t> </a:t>
            </a:r>
            <a:r>
              <a:rPr dirty="0" spc="-35"/>
              <a:t>heat</a:t>
            </a:r>
            <a:r>
              <a:rPr dirty="0" spc="-15"/>
              <a:t> </a:t>
            </a:r>
            <a:r>
              <a:rPr dirty="0" spc="-35"/>
              <a:t>conduction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50"/>
              <a:t>plane</a:t>
            </a:r>
            <a:r>
              <a:rPr dirty="0" spc="-15"/>
              <a:t> </a:t>
            </a:r>
            <a:r>
              <a:rPr dirty="0" spc="-20"/>
              <a:t>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5429"/>
            <a:ext cx="65265" cy="652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68129" y="954223"/>
            <a:ext cx="52705" cy="24765"/>
          </a:xfrm>
          <a:custGeom>
            <a:avLst/>
            <a:gdLst/>
            <a:ahLst/>
            <a:cxnLst/>
            <a:rect l="l" t="t" r="r" b="b"/>
            <a:pathLst>
              <a:path w="52705" h="24765">
                <a:moveTo>
                  <a:pt x="0" y="24671"/>
                </a:moveTo>
                <a:lnTo>
                  <a:pt x="8044" y="20816"/>
                </a:lnTo>
                <a:lnTo>
                  <a:pt x="16242" y="13569"/>
                </a:lnTo>
                <a:lnTo>
                  <a:pt x="22898" y="5705"/>
                </a:lnTo>
                <a:lnTo>
                  <a:pt x="26316" y="0"/>
                </a:lnTo>
                <a:lnTo>
                  <a:pt x="29734" y="5705"/>
                </a:lnTo>
                <a:lnTo>
                  <a:pt x="36391" y="13569"/>
                </a:lnTo>
                <a:lnTo>
                  <a:pt x="44589" y="20816"/>
                </a:lnTo>
                <a:lnTo>
                  <a:pt x="52633" y="24671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2932" y="481989"/>
            <a:ext cx="3683635" cy="5568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1-</a:t>
            </a:r>
            <a:r>
              <a:rPr dirty="0" sz="1100">
                <a:latin typeface="Tahoma"/>
                <a:cs typeface="Tahoma"/>
              </a:rPr>
              <a:t>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unsteady-</a:t>
            </a:r>
            <a:r>
              <a:rPr dirty="0" sz="1100" spc="-25">
                <a:latin typeface="Tahoma"/>
                <a:cs typeface="Tahoma"/>
              </a:rPr>
              <a:t>state heat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conduction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plane</a:t>
            </a:r>
            <a:r>
              <a:rPr dirty="0" sz="1100" spc="-25">
                <a:latin typeface="Tahoma"/>
                <a:cs typeface="Tahoma"/>
              </a:rPr>
              <a:t> slab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35">
                <a:latin typeface="Tahoma"/>
                <a:cs typeface="Tahoma"/>
              </a:rPr>
              <a:t>thickness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L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algn="ctr" marR="295275">
              <a:lnSpc>
                <a:spcPct val="100000"/>
              </a:lnSpc>
              <a:spcBef>
                <a:spcPts val="200"/>
              </a:spcBef>
            </a:pPr>
            <a:r>
              <a:rPr dirty="0" sz="1100" spc="10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52728" y="2444861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96470" y="1210730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18978" y="40487"/>
                </a:moveTo>
                <a:lnTo>
                  <a:pt x="16013" y="34300"/>
                </a:lnTo>
                <a:lnTo>
                  <a:pt x="10438" y="27993"/>
                </a:lnTo>
                <a:lnTo>
                  <a:pt x="4388" y="22873"/>
                </a:lnTo>
                <a:lnTo>
                  <a:pt x="0" y="20243"/>
                </a:lnTo>
                <a:lnTo>
                  <a:pt x="4388" y="17614"/>
                </a:lnTo>
                <a:lnTo>
                  <a:pt x="10438" y="12494"/>
                </a:lnTo>
                <a:lnTo>
                  <a:pt x="16013" y="6187"/>
                </a:lnTo>
                <a:lnTo>
                  <a:pt x="18978" y="0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09445" y="1210730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685183" y="1705615"/>
            <a:ext cx="298450" cy="192405"/>
            <a:chOff x="1685183" y="1705615"/>
            <a:chExt cx="298450" cy="192405"/>
          </a:xfrm>
        </p:grpSpPr>
        <p:sp>
          <p:nvSpPr>
            <p:cNvPr id="11" name="object 11"/>
            <p:cNvSpPr/>
            <p:nvPr/>
          </p:nvSpPr>
          <p:spPr>
            <a:xfrm>
              <a:off x="1690244" y="1710676"/>
              <a:ext cx="285115" cy="171450"/>
            </a:xfrm>
            <a:custGeom>
              <a:avLst/>
              <a:gdLst/>
              <a:ahLst/>
              <a:cxnLst/>
              <a:rect l="l" t="t" r="r" b="b"/>
              <a:pathLst>
                <a:path w="285114" h="171450">
                  <a:moveTo>
                    <a:pt x="0" y="0"/>
                  </a:moveTo>
                  <a:lnTo>
                    <a:pt x="284797" y="1708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44576" y="1848832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081" y="0"/>
                  </a:moveTo>
                  <a:lnTo>
                    <a:pt x="26248" y="8881"/>
                  </a:lnTo>
                  <a:lnTo>
                    <a:pt x="28244" y="19640"/>
                  </a:lnTo>
                  <a:lnTo>
                    <a:pt x="31563" y="29394"/>
                  </a:lnTo>
                  <a:lnTo>
                    <a:pt x="34697" y="35261"/>
                  </a:lnTo>
                  <a:lnTo>
                    <a:pt x="28046" y="35256"/>
                  </a:lnTo>
                  <a:lnTo>
                    <a:pt x="17877" y="36918"/>
                  </a:lnTo>
                  <a:lnTo>
                    <a:pt x="7444" y="40219"/>
                  </a:lnTo>
                  <a:lnTo>
                    <a:pt x="0" y="451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12736" y="1678284"/>
            <a:ext cx="765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89" i="1">
                <a:latin typeface="Arial"/>
                <a:cs typeface="Arial"/>
              </a:rPr>
              <a:t>T</a:t>
            </a:r>
            <a:r>
              <a:rPr dirty="0" baseline="8333" sz="1500" spc="-165" i="1">
                <a:latin typeface="Arial"/>
                <a:cs typeface="Arial"/>
              </a:rPr>
              <a:t> </a:t>
            </a:r>
            <a:r>
              <a:rPr dirty="0" baseline="8333" sz="1500" spc="-97">
                <a:latin typeface="Lucida Sans Unicode"/>
                <a:cs typeface="Lucida Sans Unicode"/>
              </a:rPr>
              <a:t>|</a:t>
            </a:r>
            <a:r>
              <a:rPr dirty="0" sz="700" spc="-65" i="1">
                <a:latin typeface="Arial"/>
                <a:cs typeface="Arial"/>
              </a:rPr>
              <a:t>x</a:t>
            </a:r>
            <a:r>
              <a:rPr dirty="0" sz="700" spc="-120" i="1">
                <a:latin typeface="Arial"/>
                <a:cs typeface="Arial"/>
              </a:rPr>
              <a:t> </a:t>
            </a:r>
            <a:r>
              <a:rPr dirty="0" sz="700">
                <a:latin typeface="Tahoma"/>
                <a:cs typeface="Tahoma"/>
              </a:rPr>
              <a:t>=0</a:t>
            </a:r>
            <a:r>
              <a:rPr dirty="0" sz="700" i="1">
                <a:latin typeface="Calibri"/>
                <a:cs typeface="Calibri"/>
              </a:rPr>
              <a:t>,</a:t>
            </a:r>
            <a:r>
              <a:rPr dirty="0" sz="700" i="1">
                <a:latin typeface="Arial"/>
                <a:cs typeface="Arial"/>
              </a:rPr>
              <a:t>t</a:t>
            </a:r>
            <a:r>
              <a:rPr dirty="0" sz="700" spc="290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</a:t>
            </a:r>
            <a:r>
              <a:rPr dirty="0" baseline="8333" sz="1500" spc="67">
                <a:latin typeface="Tahoma"/>
                <a:cs typeface="Tahoma"/>
              </a:rPr>
              <a:t> </a:t>
            </a:r>
            <a:r>
              <a:rPr dirty="0" baseline="8333" sz="1500" spc="-37" i="1">
                <a:latin typeface="Arial"/>
                <a:cs typeface="Arial"/>
              </a:rPr>
              <a:t>T</a:t>
            </a:r>
            <a:r>
              <a:rPr dirty="0" sz="700" spc="-25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41572" y="1705615"/>
            <a:ext cx="298450" cy="192405"/>
            <a:chOff x="2941572" y="1705615"/>
            <a:chExt cx="298450" cy="192405"/>
          </a:xfrm>
        </p:grpSpPr>
        <p:sp>
          <p:nvSpPr>
            <p:cNvPr id="15" name="object 15"/>
            <p:cNvSpPr/>
            <p:nvPr/>
          </p:nvSpPr>
          <p:spPr>
            <a:xfrm>
              <a:off x="2949852" y="1710676"/>
              <a:ext cx="285115" cy="171450"/>
            </a:xfrm>
            <a:custGeom>
              <a:avLst/>
              <a:gdLst/>
              <a:ahLst/>
              <a:cxnLst/>
              <a:rect l="l" t="t" r="r" b="b"/>
              <a:pathLst>
                <a:path w="285114" h="171450">
                  <a:moveTo>
                    <a:pt x="284797" y="0"/>
                  </a:moveTo>
                  <a:lnTo>
                    <a:pt x="0" y="17087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45621" y="1848832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34697" y="45133"/>
                  </a:moveTo>
                  <a:lnTo>
                    <a:pt x="27252" y="40219"/>
                  </a:lnTo>
                  <a:lnTo>
                    <a:pt x="16819" y="36918"/>
                  </a:lnTo>
                  <a:lnTo>
                    <a:pt x="6650" y="35256"/>
                  </a:lnTo>
                  <a:lnTo>
                    <a:pt x="0" y="35261"/>
                  </a:lnTo>
                  <a:lnTo>
                    <a:pt x="3133" y="29394"/>
                  </a:lnTo>
                  <a:lnTo>
                    <a:pt x="6452" y="19640"/>
                  </a:lnTo>
                  <a:lnTo>
                    <a:pt x="8448" y="8881"/>
                  </a:lnTo>
                  <a:lnTo>
                    <a:pt x="7615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241230" y="1678399"/>
            <a:ext cx="7315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-30" i="1">
                <a:latin typeface="Arial"/>
                <a:cs typeface="Arial"/>
              </a:rPr>
              <a:t>q</a:t>
            </a:r>
            <a:r>
              <a:rPr dirty="0" baseline="39682" sz="1050" spc="-30">
                <a:latin typeface="Lucida Sans Unicode"/>
                <a:cs typeface="Lucida Sans Unicode"/>
              </a:rPr>
              <a:t>′′</a:t>
            </a:r>
            <a:r>
              <a:rPr dirty="0" baseline="8333" sz="1500" spc="-30">
                <a:latin typeface="Lucida Sans Unicode"/>
                <a:cs typeface="Lucida Sans Unicode"/>
              </a:rPr>
              <a:t>|</a:t>
            </a:r>
            <a:r>
              <a:rPr dirty="0" sz="700" spc="-20" i="1">
                <a:latin typeface="Arial"/>
                <a:cs typeface="Arial"/>
              </a:rPr>
              <a:t>x</a:t>
            </a:r>
            <a:r>
              <a:rPr dirty="0" sz="700" spc="-130" i="1">
                <a:latin typeface="Arial"/>
                <a:cs typeface="Arial"/>
              </a:rPr>
              <a:t> </a:t>
            </a:r>
            <a:r>
              <a:rPr dirty="0" sz="700" spc="50">
                <a:latin typeface="Tahoma"/>
                <a:cs typeface="Tahoma"/>
              </a:rPr>
              <a:t>=</a:t>
            </a:r>
            <a:r>
              <a:rPr dirty="0" sz="700" spc="50" i="1">
                <a:latin typeface="Arial"/>
                <a:cs typeface="Arial"/>
              </a:rPr>
              <a:t>L</a:t>
            </a:r>
            <a:r>
              <a:rPr dirty="0" sz="700" spc="50" i="1">
                <a:latin typeface="Calibri"/>
                <a:cs typeface="Calibri"/>
              </a:rPr>
              <a:t>,</a:t>
            </a:r>
            <a:r>
              <a:rPr dirty="0" sz="700" spc="50" i="1">
                <a:latin typeface="Arial"/>
                <a:cs typeface="Arial"/>
              </a:rPr>
              <a:t>t</a:t>
            </a:r>
            <a:r>
              <a:rPr dirty="0" sz="700" spc="235" i="1">
                <a:latin typeface="Arial"/>
                <a:cs typeface="Arial"/>
              </a:rPr>
              <a:t> </a:t>
            </a:r>
            <a:r>
              <a:rPr dirty="0" baseline="8333" sz="1500">
                <a:latin typeface="Tahoma"/>
                <a:cs typeface="Tahoma"/>
              </a:rPr>
              <a:t>= </a:t>
            </a:r>
            <a:r>
              <a:rPr dirty="0" baseline="8333" sz="1500" spc="-75"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989385" y="954096"/>
          <a:ext cx="1364615" cy="151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990"/>
                <a:gridCol w="342265"/>
              </a:tblGrid>
              <a:tr h="271780">
                <a:tc gridSpan="2">
                  <a:txBody>
                    <a:bodyPr/>
                    <a:lstStyle/>
                    <a:p>
                      <a:pPr algn="ctr" marR="3340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100" spc="-50" i="1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69670">
                <a:tc>
                  <a:txBody>
                    <a:bodyPr/>
                    <a:lstStyle/>
                    <a:p>
                      <a:pPr marL="128270" marR="135890" indent="170815">
                        <a:lnSpc>
                          <a:spcPct val="233199"/>
                        </a:lnSpc>
                        <a:spcBef>
                          <a:spcPts val="509"/>
                        </a:spcBef>
                      </a:pPr>
                      <a:r>
                        <a:rPr dirty="0" sz="1000" i="1"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000" spc="9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00" spc="500" i="1">
                          <a:latin typeface="Arial"/>
                          <a:cs typeface="Arial"/>
                        </a:rPr>
                        <a:t>  </a:t>
                      </a:r>
                      <a:r>
                        <a:rPr dirty="0" baseline="8333" sz="1500" spc="89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8333" sz="1500" spc="-16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8333" sz="150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dirty="0" sz="70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70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>
                          <a:latin typeface="Tahoma"/>
                          <a:cs typeface="Tahoma"/>
                        </a:rPr>
                        <a:t>=0</a:t>
                      </a:r>
                      <a:r>
                        <a:rPr dirty="0" sz="700" spc="2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baseline="8333" sz="15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baseline="8333" sz="1500" spc="67">
                          <a:latin typeface="Tahoma"/>
                          <a:cs typeface="Tahoma"/>
                        </a:rPr>
                        <a:t> </a:t>
                      </a:r>
                      <a:r>
                        <a:rPr dirty="0" baseline="8333" sz="1500" spc="-37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00" spc="-25" i="1">
                          <a:latin typeface="Arial"/>
                          <a:cs typeface="Arial"/>
                        </a:rPr>
                        <a:t>i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352132" y="2350717"/>
            <a:ext cx="3794125" cy="758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80055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477010">
              <a:lnSpc>
                <a:spcPct val="100000"/>
              </a:lnSpc>
              <a:spcBef>
                <a:spcPts val="40"/>
              </a:spcBef>
              <a:tabLst>
                <a:tab pos="2409825" algn="l"/>
              </a:tabLst>
            </a:pPr>
            <a:r>
              <a:rPr dirty="0" baseline="2525" sz="1650" i="1">
                <a:latin typeface="Arial"/>
                <a:cs typeface="Arial"/>
              </a:rPr>
              <a:t>x</a:t>
            </a:r>
            <a:r>
              <a:rPr dirty="0" baseline="2525" sz="1650" spc="127" i="1">
                <a:latin typeface="Arial"/>
                <a:cs typeface="Arial"/>
              </a:rPr>
              <a:t> </a:t>
            </a:r>
            <a:r>
              <a:rPr dirty="0" baseline="2525" sz="1650">
                <a:latin typeface="Tahoma"/>
                <a:cs typeface="Tahoma"/>
              </a:rPr>
              <a:t>=</a:t>
            </a:r>
            <a:r>
              <a:rPr dirty="0" baseline="2525" sz="1650" spc="-60">
                <a:latin typeface="Tahoma"/>
                <a:cs typeface="Tahoma"/>
              </a:rPr>
              <a:t> </a:t>
            </a:r>
            <a:r>
              <a:rPr dirty="0" baseline="2525" sz="1650" spc="-75">
                <a:latin typeface="Tahoma"/>
                <a:cs typeface="Tahoma"/>
              </a:rPr>
              <a:t>0</a:t>
            </a:r>
            <a:r>
              <a:rPr dirty="0" baseline="2525" sz="1650">
                <a:latin typeface="Tahoma"/>
                <a:cs typeface="Tahoma"/>
              </a:rPr>
              <a:t>	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63500" marR="55880">
              <a:lnSpc>
                <a:spcPct val="102600"/>
              </a:lnSpc>
              <a:spcBef>
                <a:spcPts val="39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slab</a:t>
            </a:r>
            <a:r>
              <a:rPr dirty="0" sz="1100">
                <a:latin typeface="Tahoma"/>
                <a:cs typeface="Tahoma"/>
              </a:rPr>
              <a:t> is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subjected</a:t>
            </a:r>
            <a:r>
              <a:rPr dirty="0" sz="1100">
                <a:latin typeface="Tahoma"/>
                <a:cs typeface="Tahoma"/>
              </a:rPr>
              <a:t> to </a:t>
            </a:r>
            <a:r>
              <a:rPr dirty="0" sz="1100" spc="-10">
                <a:latin typeface="Tahoma"/>
                <a:cs typeface="Tahoma"/>
              </a:rPr>
              <a:t>Initial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condition: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6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|</a:t>
            </a:r>
            <a:r>
              <a:rPr dirty="0" baseline="-10416" sz="1200" i="1">
                <a:latin typeface="Arial"/>
                <a:cs typeface="Arial"/>
              </a:rPr>
              <a:t>x</a:t>
            </a:r>
            <a:r>
              <a:rPr dirty="0" baseline="-10416" sz="1200" i="1">
                <a:latin typeface="Sitka Text"/>
                <a:cs typeface="Sitka Text"/>
              </a:rPr>
              <a:t>,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367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 </a:t>
            </a:r>
            <a:r>
              <a:rPr dirty="0" sz="1100" spc="-45">
                <a:latin typeface="Tahoma"/>
                <a:cs typeface="Tahoma"/>
              </a:rPr>
              <a:t>boundary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is:</a:t>
            </a:r>
            <a:r>
              <a:rPr dirty="0" sz="1100" spc="160">
                <a:latin typeface="Tahoma"/>
                <a:cs typeface="Tahoma"/>
              </a:rPr>
              <a:t> </a:t>
            </a:r>
            <a:r>
              <a:rPr dirty="0" sz="1100" spc="60" i="1">
                <a:latin typeface="Arial"/>
                <a:cs typeface="Arial"/>
              </a:rPr>
              <a:t>T</a:t>
            </a:r>
            <a:r>
              <a:rPr dirty="0" sz="1100" spc="-150" i="1">
                <a:latin typeface="Arial"/>
                <a:cs typeface="Arial"/>
              </a:rPr>
              <a:t> </a:t>
            </a:r>
            <a:r>
              <a:rPr dirty="0" sz="1100" spc="-70">
                <a:latin typeface="Lucida Sans Unicode"/>
                <a:cs typeface="Lucida Sans Unicode"/>
              </a:rPr>
              <a:t>|</a:t>
            </a:r>
            <a:r>
              <a:rPr dirty="0" baseline="-10416" sz="1200" spc="-104" i="1">
                <a:latin typeface="Arial"/>
                <a:cs typeface="Arial"/>
              </a:rPr>
              <a:t>x</a:t>
            </a:r>
            <a:r>
              <a:rPr dirty="0" baseline="-10416" sz="1200" spc="-225" i="1">
                <a:latin typeface="Arial"/>
                <a:cs typeface="Arial"/>
              </a:rPr>
              <a:t> </a:t>
            </a:r>
            <a:r>
              <a:rPr dirty="0" baseline="-10416" sz="1200">
                <a:latin typeface="Tahoma"/>
                <a:cs typeface="Tahoma"/>
              </a:rPr>
              <a:t>=0</a:t>
            </a:r>
            <a:r>
              <a:rPr dirty="0" baseline="-10416" sz="1200" i="1">
                <a:latin typeface="Sitka Text"/>
                <a:cs typeface="Sitka Text"/>
              </a:rPr>
              <a:t>,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3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>
                <a:latin typeface="Tahoma"/>
                <a:cs typeface="Tahoma"/>
              </a:rPr>
              <a:t>0</a:t>
            </a:r>
            <a:r>
              <a:rPr dirty="0" baseline="-10416" sz="1200" spc="27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65" i="1">
                <a:latin typeface="Arial"/>
                <a:cs typeface="Arial"/>
              </a:rPr>
              <a:t>q</a:t>
            </a:r>
            <a:r>
              <a:rPr dirty="0" baseline="27777" sz="1200" spc="-97">
                <a:latin typeface="Lucida Sans Unicode"/>
                <a:cs typeface="Lucida Sans Unicode"/>
              </a:rPr>
              <a:t>rr</a:t>
            </a:r>
            <a:r>
              <a:rPr dirty="0" sz="1100" spc="-65">
                <a:latin typeface="Lucida Sans Unicode"/>
                <a:cs typeface="Lucida Sans Unicode"/>
              </a:rPr>
              <a:t>|</a:t>
            </a:r>
            <a:r>
              <a:rPr dirty="0" baseline="-13888" sz="1200" spc="-97" i="1">
                <a:latin typeface="Arial"/>
                <a:cs typeface="Arial"/>
              </a:rPr>
              <a:t>x</a:t>
            </a:r>
            <a:r>
              <a:rPr dirty="0" baseline="-13888" sz="1200" spc="-217" i="1">
                <a:latin typeface="Arial"/>
                <a:cs typeface="Arial"/>
              </a:rPr>
              <a:t> </a:t>
            </a:r>
            <a:r>
              <a:rPr dirty="0" baseline="-13888" sz="1200">
                <a:latin typeface="Tahoma"/>
                <a:cs typeface="Tahoma"/>
              </a:rPr>
              <a:t>=</a:t>
            </a:r>
            <a:r>
              <a:rPr dirty="0" baseline="-13888" sz="1200" i="1">
                <a:latin typeface="Arial"/>
                <a:cs typeface="Arial"/>
              </a:rPr>
              <a:t>L</a:t>
            </a:r>
            <a:r>
              <a:rPr dirty="0" baseline="-13888" sz="1200" i="1">
                <a:latin typeface="Sitka Text"/>
                <a:cs typeface="Sitka Text"/>
              </a:rPr>
              <a:t>,</a:t>
            </a:r>
            <a:r>
              <a:rPr dirty="0" baseline="-13888" sz="1200" i="1">
                <a:latin typeface="Arial"/>
                <a:cs typeface="Arial"/>
              </a:rPr>
              <a:t>t</a:t>
            </a:r>
            <a:r>
              <a:rPr dirty="0" baseline="-13888" sz="1200" spc="3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82897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38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35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20"/>
              <a:t>slab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1266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329208"/>
            <a:ext cx="3103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I: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Develop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Governing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Differential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Equation: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633" y="689507"/>
            <a:ext cx="156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i="1">
                <a:latin typeface="Calibri"/>
                <a:cs typeface="Calibri"/>
              </a:rPr>
              <a:t>∂</a:t>
            </a:r>
            <a:r>
              <a:rPr dirty="0" sz="1100" spc="4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7369" y="499972"/>
            <a:ext cx="788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ρ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dirty="0" u="sng" baseline="-10416" sz="12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-10416" sz="1200" spc="-20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sz="1100" spc="-1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baseline="-37878" sz="1650" spc="-75">
                <a:latin typeface="Tahoma"/>
                <a:cs typeface="Tahoma"/>
              </a:rPr>
              <a:t>=</a:t>
            </a:r>
            <a:endParaRPr baseline="-37878" sz="16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1571" y="711085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 h="0">
                <a:moveTo>
                  <a:pt x="0" y="0"/>
                </a:moveTo>
                <a:lnTo>
                  <a:pt x="157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22945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70582" y="711085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5" h="0">
                <a:moveTo>
                  <a:pt x="0" y="0"/>
                </a:moveTo>
                <a:lnTo>
                  <a:pt x="1601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94266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41903" y="711085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 h="0">
                <a:moveTo>
                  <a:pt x="0" y="0"/>
                </a:moveTo>
                <a:lnTo>
                  <a:pt x="1536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59035" y="7110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27174" y="501547"/>
            <a:ext cx="2437765" cy="285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025"/>
              </a:lnSpc>
              <a:spcBef>
                <a:spcPts val="90"/>
              </a:spcBef>
              <a:tabLst>
                <a:tab pos="282575" algn="l"/>
                <a:tab pos="769620" algn="l"/>
                <a:tab pos="1054100" algn="l"/>
                <a:tab pos="1537970" algn="l"/>
                <a:tab pos="1818639" algn="l"/>
                <a:tab pos="2328545" algn="l"/>
              </a:tabLst>
            </a:pP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 i="1">
                <a:latin typeface="Calibri"/>
                <a:cs typeface="Calibri"/>
              </a:rPr>
              <a:t>∂</a:t>
            </a:r>
            <a:r>
              <a:rPr dirty="0" sz="1100" i="1">
                <a:latin typeface="Calibri"/>
                <a:cs typeface="Calibri"/>
              </a:rPr>
              <a:t>	</a:t>
            </a: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600" spc="-25">
                <a:latin typeface="Lucida Sans Unicode"/>
                <a:cs typeface="Lucida Sans Unicode"/>
              </a:rPr>
              <a:t>′′′</a:t>
            </a:r>
            <a:endParaRPr sz="600">
              <a:latin typeface="Lucida Sans Unicode"/>
              <a:cs typeface="Lucida Sans Unicode"/>
            </a:endParaRPr>
          </a:p>
          <a:p>
            <a:pPr algn="ctr" marL="31750">
              <a:lnSpc>
                <a:spcPts val="1025"/>
              </a:lnSpc>
              <a:tabLst>
                <a:tab pos="389255" algn="l"/>
                <a:tab pos="802640" algn="l"/>
                <a:tab pos="1160780" algn="l"/>
                <a:tab pos="1567815" algn="l"/>
                <a:tab pos="1925320" algn="l"/>
              </a:tabLst>
            </a:pP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+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9" i="1">
                <a:latin typeface="Arial"/>
                <a:cs typeface="Arial"/>
              </a:rPr>
              <a:t>q</a:t>
            </a:r>
            <a:r>
              <a:rPr dirty="0" sz="1100" spc="-409">
                <a:latin typeface="Tahoma"/>
                <a:cs typeface="Tahoma"/>
              </a:rPr>
              <a:t>˙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66315" y="109749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 h="0">
                <a:moveTo>
                  <a:pt x="0" y="0"/>
                </a:moveTo>
                <a:lnTo>
                  <a:pt x="19406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053615" y="864664"/>
            <a:ext cx="2012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25" i="1">
                <a:latin typeface="Calibri"/>
                <a:cs typeface="Calibri"/>
              </a:rPr>
              <a:t>∂</a:t>
            </a:r>
            <a:r>
              <a:rPr dirty="0" sz="1100" spc="2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70"/>
              </a:spcBef>
            </a:pPr>
            <a:r>
              <a:rPr dirty="0" sz="1100" spc="45" i="1">
                <a:latin typeface="Calibri"/>
                <a:cs typeface="Calibri"/>
              </a:rPr>
              <a:t>∂</a:t>
            </a:r>
            <a:r>
              <a:rPr dirty="0" sz="1100" spc="4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3471" y="658098"/>
            <a:ext cx="2095500" cy="42100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  <a:tabLst>
                <a:tab pos="377190" algn="l"/>
                <a:tab pos="806450" algn="l"/>
                <a:tab pos="1147445" algn="l"/>
                <a:tab pos="1577975" algn="l"/>
                <a:tab pos="1915160" algn="l"/>
              </a:tabLst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y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sz="1100" spc="-25" i="1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  <a:p>
            <a:pPr algn="ctr" marL="142240">
              <a:lnSpc>
                <a:spcPct val="100000"/>
              </a:lnSpc>
              <a:spcBef>
                <a:spcPts val="240"/>
              </a:spcBef>
            </a:pPr>
            <a:r>
              <a:rPr dirty="0" sz="1100" spc="-25" i="1">
                <a:latin typeface="Calibri"/>
                <a:cs typeface="Calibri"/>
              </a:rPr>
              <a:t>∂</a:t>
            </a:r>
            <a:r>
              <a:rPr dirty="0" baseline="27777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64612" y="1097495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 h="0">
                <a:moveTo>
                  <a:pt x="0" y="0"/>
                </a:moveTo>
                <a:lnTo>
                  <a:pt x="25416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75941" y="980895"/>
            <a:ext cx="556895" cy="287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 </a:t>
            </a:r>
            <a:r>
              <a:rPr dirty="0" sz="1100" spc="15" i="1">
                <a:latin typeface="Calibri"/>
                <a:cs typeface="Calibri"/>
              </a:rPr>
              <a:t>α</a:t>
            </a:r>
            <a:endParaRPr sz="1100">
              <a:latin typeface="Calibri"/>
              <a:cs typeface="Calibri"/>
            </a:endParaRPr>
          </a:p>
          <a:p>
            <a:pPr marL="306705">
              <a:lnSpc>
                <a:spcPts val="1035"/>
              </a:lnSpc>
            </a:pPr>
            <a:r>
              <a:rPr dirty="0" sz="1100" spc="-10" i="1">
                <a:latin typeface="Calibri"/>
                <a:cs typeface="Calibri"/>
              </a:rPr>
              <a:t>∂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baseline="20833" sz="1200" spc="-75">
                <a:latin typeface="Tahoma"/>
                <a:cs typeface="Tahoma"/>
              </a:rPr>
              <a:t>2</a:t>
            </a:r>
            <a:endParaRPr baseline="20833"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0456" y="980895"/>
            <a:ext cx="272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(26)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7532" y="1257705"/>
            <a:ext cx="2339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where,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65" i="1">
                <a:latin typeface="Calibri"/>
                <a:cs typeface="Calibri"/>
              </a:rPr>
              <a:t>α</a:t>
            </a:r>
            <a:r>
              <a:rPr dirty="0" sz="1100" spc="10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 </a:t>
            </a:r>
            <a:r>
              <a:rPr dirty="0" sz="1100" spc="-30">
                <a:latin typeface="Tahoma"/>
                <a:cs typeface="Tahoma"/>
              </a:rPr>
              <a:t>thermal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diffusivity,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65" i="1">
                <a:latin typeface="Calibri"/>
                <a:cs typeface="Calibri"/>
              </a:rPr>
              <a:t>α</a:t>
            </a:r>
            <a:r>
              <a:rPr dirty="0" sz="1100" spc="4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u="sng" baseline="31250" sz="1200" spc="35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1250" sz="120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dirty="0" u="sng" baseline="31250" sz="1200" spc="7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31250"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7532" y="1355457"/>
            <a:ext cx="3701415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716280">
              <a:lnSpc>
                <a:spcPts val="815"/>
              </a:lnSpc>
              <a:spcBef>
                <a:spcPts val="95"/>
              </a:spcBef>
            </a:pPr>
            <a:r>
              <a:rPr dirty="0" baseline="6944" sz="1200" spc="-37" i="1">
                <a:latin typeface="Sitka Text"/>
                <a:cs typeface="Sitka Text"/>
              </a:rPr>
              <a:t>ρ</a:t>
            </a:r>
            <a:r>
              <a:rPr dirty="0" baseline="6944" sz="1200" spc="-37" i="1">
                <a:latin typeface="Arial"/>
                <a:cs typeface="Arial"/>
              </a:rPr>
              <a:t>C</a:t>
            </a:r>
            <a:r>
              <a:rPr dirty="0" sz="600" spc="-25" i="1">
                <a:latin typeface="Arial"/>
                <a:cs typeface="Arial"/>
              </a:rPr>
              <a:t>p</a:t>
            </a:r>
            <a:endParaRPr sz="600">
              <a:latin typeface="Arial"/>
              <a:cs typeface="Arial"/>
            </a:endParaRPr>
          </a:p>
          <a:p>
            <a:pPr marL="38100">
              <a:lnSpc>
                <a:spcPts val="1165"/>
              </a:lnSpc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Identify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Initial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Physical</a:t>
            </a:r>
            <a:r>
              <a:rPr dirty="0" sz="1100" spc="-30">
                <a:latin typeface="Tahoma"/>
                <a:cs typeface="Tahoma"/>
              </a:rPr>
              <a:t> Boundary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  <a:p>
            <a:pPr marL="314325" indent="-197485">
              <a:lnSpc>
                <a:spcPts val="1185"/>
              </a:lnSpc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80" i="1">
                <a:latin typeface="Arial"/>
                <a:cs typeface="Arial"/>
              </a:rPr>
              <a:t>t</a:t>
            </a:r>
            <a:r>
              <a:rPr dirty="0" sz="1000" spc="10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0:</a:t>
            </a:r>
            <a:r>
              <a:rPr dirty="0" sz="1000" spc="16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-11904" sz="1050" i="1">
                <a:latin typeface="Arial"/>
                <a:cs typeface="Arial"/>
              </a:rPr>
              <a:t>x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spc="20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  <a:p>
            <a:pPr marL="314325" indent="-227329">
              <a:lnSpc>
                <a:spcPts val="1200"/>
              </a:lnSpc>
              <a:buClr>
                <a:srgbClr val="3333B2"/>
              </a:buClr>
              <a:buAutoNum type="romanLcParenBoth"/>
              <a:tabLst>
                <a:tab pos="314325" algn="l"/>
              </a:tabLst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114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0:</a:t>
            </a:r>
            <a:r>
              <a:rPr dirty="0" sz="1000" spc="16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195" i="1">
                <a:latin typeface="Arial"/>
                <a:cs typeface="Arial"/>
              </a:rPr>
              <a:t> </a:t>
            </a:r>
            <a:r>
              <a:rPr dirty="0" baseline="-11904" sz="1050">
                <a:latin typeface="Tahoma"/>
                <a:cs typeface="Tahoma"/>
              </a:rPr>
              <a:t>=0</a:t>
            </a:r>
            <a:r>
              <a:rPr dirty="0" baseline="-11904" sz="1050" i="1">
                <a:latin typeface="Calibri"/>
                <a:cs typeface="Calibri"/>
              </a:rPr>
              <a:t>,</a:t>
            </a:r>
            <a:r>
              <a:rPr dirty="0" baseline="-11904" sz="1050" i="1">
                <a:latin typeface="Arial"/>
                <a:cs typeface="Arial"/>
              </a:rPr>
              <a:t>t</a:t>
            </a:r>
            <a:r>
              <a:rPr dirty="0" baseline="-11904" sz="1050" spc="31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25206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96265" y="1909272"/>
            <a:ext cx="2652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(iii)</a:t>
            </a:r>
            <a:r>
              <a:rPr dirty="0" sz="1000" spc="24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9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L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140">
                <a:latin typeface="Tahoma"/>
                <a:cs typeface="Tahoma"/>
              </a:rPr>
              <a:t> </a:t>
            </a:r>
            <a:r>
              <a:rPr dirty="0" sz="1000" spc="-20" i="1">
                <a:latin typeface="Arial"/>
                <a:cs typeface="Arial"/>
              </a:rPr>
              <a:t>q</a:t>
            </a:r>
            <a:r>
              <a:rPr dirty="0" baseline="27777" sz="1050" spc="-30">
                <a:latin typeface="Lucida Sans Unicode"/>
                <a:cs typeface="Lucida Sans Unicode"/>
              </a:rPr>
              <a:t>′′</a:t>
            </a:r>
            <a:r>
              <a:rPr dirty="0" sz="1000" spc="-20">
                <a:latin typeface="Lucida Sans Unicode"/>
                <a:cs typeface="Lucida Sans Unicode"/>
              </a:rPr>
              <a:t>|</a:t>
            </a:r>
            <a:r>
              <a:rPr dirty="0" baseline="-11904" sz="1050" spc="-30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 spc="75">
                <a:latin typeface="Tahoma"/>
                <a:cs typeface="Tahoma"/>
              </a:rPr>
              <a:t>=</a:t>
            </a:r>
            <a:r>
              <a:rPr dirty="0" baseline="-11904" sz="1050" spc="75" i="1">
                <a:latin typeface="Arial"/>
                <a:cs typeface="Arial"/>
              </a:rPr>
              <a:t>L</a:t>
            </a:r>
            <a:r>
              <a:rPr dirty="0" baseline="-11904" sz="1050" spc="75" i="1">
                <a:latin typeface="Calibri"/>
                <a:cs typeface="Calibri"/>
              </a:rPr>
              <a:t>,</a:t>
            </a:r>
            <a:r>
              <a:rPr dirty="0" baseline="-11904" sz="1050" spc="75" i="1">
                <a:latin typeface="Arial"/>
                <a:cs typeface="Arial"/>
              </a:rPr>
              <a:t>t</a:t>
            </a:r>
            <a:r>
              <a:rPr dirty="0" baseline="-11904" sz="1050" spc="29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0,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Lucida Sans Unicode"/>
                <a:cs typeface="Lucida Sans Unicode"/>
              </a:rPr>
              <a:t>−</a:t>
            </a:r>
            <a:r>
              <a:rPr dirty="0" sz="1000" spc="-30" i="1">
                <a:latin typeface="Arial"/>
                <a:cs typeface="Arial"/>
              </a:rPr>
              <a:t>k</a:t>
            </a:r>
            <a:r>
              <a:rPr dirty="0" sz="1000" spc="-70" i="1">
                <a:latin typeface="Arial"/>
                <a:cs typeface="Arial"/>
              </a:rPr>
              <a:t> </a:t>
            </a:r>
            <a:r>
              <a:rPr dirty="0" u="sng" baseline="31746" sz="1050" spc="12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baseline="31746" sz="1050" spc="1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baseline="31746" sz="1050" spc="30" i="1">
                <a:latin typeface="Arial"/>
                <a:cs typeface="Arial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|</a:t>
            </a:r>
            <a:r>
              <a:rPr dirty="0" baseline="-11904" sz="1050" spc="-97" i="1">
                <a:latin typeface="Arial"/>
                <a:cs typeface="Arial"/>
              </a:rPr>
              <a:t>x</a:t>
            </a:r>
            <a:r>
              <a:rPr dirty="0" baseline="-11904" sz="1050" spc="-202" i="1">
                <a:latin typeface="Arial"/>
                <a:cs typeface="Arial"/>
              </a:rPr>
              <a:t> </a:t>
            </a:r>
            <a:r>
              <a:rPr dirty="0" baseline="-11904" sz="1050" spc="75">
                <a:latin typeface="Tahoma"/>
                <a:cs typeface="Tahoma"/>
              </a:rPr>
              <a:t>=</a:t>
            </a:r>
            <a:r>
              <a:rPr dirty="0" baseline="-11904" sz="1050" spc="75" i="1">
                <a:latin typeface="Arial"/>
                <a:cs typeface="Arial"/>
              </a:rPr>
              <a:t>L</a:t>
            </a:r>
            <a:r>
              <a:rPr dirty="0" baseline="-11904" sz="1050" spc="75" i="1">
                <a:latin typeface="Calibri"/>
                <a:cs typeface="Calibri"/>
              </a:rPr>
              <a:t>,</a:t>
            </a:r>
            <a:r>
              <a:rPr dirty="0" baseline="-11904" sz="1050" spc="75" i="1">
                <a:latin typeface="Arial"/>
                <a:cs typeface="Arial"/>
              </a:rPr>
              <a:t>t</a:t>
            </a:r>
            <a:r>
              <a:rPr dirty="0" baseline="-11904" sz="1050" spc="284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32533"/>
            <a:ext cx="65265" cy="6526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297036"/>
            <a:ext cx="52590" cy="5259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2932" y="1990867"/>
            <a:ext cx="3488054" cy="399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13080">
              <a:lnSpc>
                <a:spcPts val="645"/>
              </a:lnSpc>
              <a:spcBef>
                <a:spcPts val="95"/>
              </a:spcBef>
            </a:pPr>
            <a:r>
              <a:rPr dirty="0" sz="700" spc="-25" i="1">
                <a:latin typeface="Calibri"/>
                <a:cs typeface="Calibri"/>
              </a:rPr>
              <a:t>∂</a:t>
            </a:r>
            <a:r>
              <a:rPr dirty="0" sz="700" spc="-25" i="1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1115"/>
              </a:lnSpc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6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Domain: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 spc="-20">
                <a:latin typeface="Tahoma"/>
                <a:cs typeface="Tahoma"/>
              </a:rPr>
              <a:t>Discretize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domain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spatial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nodes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levels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n</a:t>
            </a:r>
            <a:r>
              <a:rPr dirty="0" sz="1000" spc="-25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77878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699" y="39549"/>
                </a:lnTo>
                <a:lnTo>
                  <a:pt x="56937" y="28468"/>
                </a:lnTo>
                <a:lnTo>
                  <a:pt x="54699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598510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1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62023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217884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138514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2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02014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57891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699" y="39549"/>
                </a:lnTo>
                <a:lnTo>
                  <a:pt x="56937" y="28468"/>
                </a:lnTo>
                <a:lnTo>
                  <a:pt x="54699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678506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3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97897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9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9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218510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4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82022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37904" y="2818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468" y="0"/>
                </a:moveTo>
                <a:lnTo>
                  <a:pt x="17387" y="2237"/>
                </a:lnTo>
                <a:lnTo>
                  <a:pt x="8338" y="8338"/>
                </a:lnTo>
                <a:lnTo>
                  <a:pt x="2237" y="17387"/>
                </a:lnTo>
                <a:lnTo>
                  <a:pt x="0" y="28468"/>
                </a:lnTo>
                <a:lnTo>
                  <a:pt x="2237" y="39549"/>
                </a:lnTo>
                <a:lnTo>
                  <a:pt x="8338" y="48598"/>
                </a:lnTo>
                <a:lnTo>
                  <a:pt x="17387" y="54699"/>
                </a:lnTo>
                <a:lnTo>
                  <a:pt x="28468" y="56937"/>
                </a:lnTo>
                <a:lnTo>
                  <a:pt x="39549" y="54699"/>
                </a:lnTo>
                <a:lnTo>
                  <a:pt x="48598" y="48598"/>
                </a:lnTo>
                <a:lnTo>
                  <a:pt x="54700" y="39549"/>
                </a:lnTo>
                <a:lnTo>
                  <a:pt x="56937" y="28468"/>
                </a:lnTo>
                <a:lnTo>
                  <a:pt x="54700" y="17387"/>
                </a:lnTo>
                <a:lnTo>
                  <a:pt x="48598" y="8338"/>
                </a:lnTo>
                <a:lnTo>
                  <a:pt x="39549" y="2237"/>
                </a:lnTo>
                <a:lnTo>
                  <a:pt x="28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758514" y="2617424"/>
            <a:ext cx="209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5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22014" y="283575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566265" y="2439782"/>
            <a:ext cx="2305685" cy="815340"/>
            <a:chOff x="1566265" y="2439782"/>
            <a:chExt cx="2305685" cy="815340"/>
          </a:xfrm>
        </p:grpSpPr>
        <p:sp>
          <p:nvSpPr>
            <p:cNvPr id="43" name="object 43"/>
            <p:cNvSpPr/>
            <p:nvPr/>
          </p:nvSpPr>
          <p:spPr>
            <a:xfrm>
              <a:off x="1571345" y="3252332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502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571345" y="2847327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5028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571345" y="2442322"/>
              <a:ext cx="2295525" cy="432434"/>
            </a:xfrm>
            <a:custGeom>
              <a:avLst/>
              <a:gdLst/>
              <a:ahLst/>
              <a:cxnLst/>
              <a:rect l="l" t="t" r="r" b="b"/>
              <a:pathLst>
                <a:path w="2295525" h="432435">
                  <a:moveTo>
                    <a:pt x="0" y="0"/>
                  </a:moveTo>
                  <a:lnTo>
                    <a:pt x="2295028" y="0"/>
                  </a:lnTo>
                </a:path>
                <a:path w="2295525" h="432435">
                  <a:moveTo>
                    <a:pt x="135001" y="432006"/>
                  </a:moveTo>
                  <a:lnTo>
                    <a:pt x="135001" y="378002"/>
                  </a:lnTo>
                </a:path>
                <a:path w="2295525" h="432435">
                  <a:moveTo>
                    <a:pt x="675008" y="432006"/>
                  </a:moveTo>
                  <a:lnTo>
                    <a:pt x="675008" y="378002"/>
                  </a:lnTo>
                </a:path>
                <a:path w="2295525" h="432435">
                  <a:moveTo>
                    <a:pt x="1215014" y="432006"/>
                  </a:moveTo>
                  <a:lnTo>
                    <a:pt x="1215014" y="378002"/>
                  </a:lnTo>
                </a:path>
                <a:path w="2295525" h="432435">
                  <a:moveTo>
                    <a:pt x="1755021" y="432006"/>
                  </a:moveTo>
                  <a:lnTo>
                    <a:pt x="1755021" y="378002"/>
                  </a:lnTo>
                </a:path>
                <a:path w="2295525" h="432435">
                  <a:moveTo>
                    <a:pt x="2295028" y="432006"/>
                  </a:moveTo>
                  <a:lnTo>
                    <a:pt x="2295028" y="37800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2742018" y="2835750"/>
            <a:ext cx="889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6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 marL="22860">
              <a:lnSpc>
                <a:spcPts val="960"/>
              </a:lnSpc>
            </a:pPr>
            <a:r>
              <a:rPr dirty="0" sz="1000" spc="-50" i="1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22336" y="2736220"/>
            <a:ext cx="90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13396" y="2339307"/>
            <a:ext cx="311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i="1">
                <a:latin typeface="Arial"/>
                <a:cs typeface="Arial"/>
              </a:rPr>
              <a:t>n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246155" y="3121866"/>
            <a:ext cx="541020" cy="45085"/>
            <a:chOff x="2246155" y="3121866"/>
            <a:chExt cx="541020" cy="45085"/>
          </a:xfrm>
        </p:grpSpPr>
        <p:sp>
          <p:nvSpPr>
            <p:cNvPr id="50" name="object 50"/>
            <p:cNvSpPr/>
            <p:nvPr/>
          </p:nvSpPr>
          <p:spPr>
            <a:xfrm>
              <a:off x="2252173" y="3144332"/>
              <a:ext cx="528955" cy="0"/>
            </a:xfrm>
            <a:custGeom>
              <a:avLst/>
              <a:gdLst/>
              <a:ahLst/>
              <a:cxnLst/>
              <a:rect l="l" t="t" r="r" b="b"/>
              <a:pathLst>
                <a:path w="528955" h="0">
                  <a:moveTo>
                    <a:pt x="0" y="0"/>
                  </a:moveTo>
                  <a:lnTo>
                    <a:pt x="52836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248377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765356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2088413" y="2921310"/>
            <a:ext cx="542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325" i="1">
                <a:latin typeface="Arial"/>
                <a:cs typeface="Arial"/>
              </a:rPr>
              <a:t> </a:t>
            </a:r>
            <a:r>
              <a:rPr dirty="0" baseline="-19444" sz="1500" spc="75">
                <a:latin typeface="Tahoma"/>
                <a:cs typeface="Tahoma"/>
              </a:rPr>
              <a:t>∆</a:t>
            </a:r>
            <a:r>
              <a:rPr dirty="0" baseline="-19444" sz="1500" spc="75" i="1">
                <a:latin typeface="Arial"/>
                <a:cs typeface="Arial"/>
              </a:rPr>
              <a:t>x</a:t>
            </a:r>
            <a:endParaRPr baseline="-19444" sz="15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241273" y="3098749"/>
            <a:ext cx="1085850" cy="91440"/>
            <a:chOff x="2241273" y="3098749"/>
            <a:chExt cx="1085850" cy="91440"/>
          </a:xfrm>
        </p:grpSpPr>
        <p:sp>
          <p:nvSpPr>
            <p:cNvPr id="55" name="object 55"/>
            <p:cNvSpPr/>
            <p:nvPr/>
          </p:nvSpPr>
          <p:spPr>
            <a:xfrm>
              <a:off x="2246353" y="3103829"/>
              <a:ext cx="0" cy="81280"/>
            </a:xfrm>
            <a:custGeom>
              <a:avLst/>
              <a:gdLst/>
              <a:ahLst/>
              <a:cxnLst/>
              <a:rect l="l" t="t" r="r" b="b"/>
              <a:pathLst>
                <a:path w="0" h="81280">
                  <a:moveTo>
                    <a:pt x="0" y="8100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792180" y="3144332"/>
              <a:ext cx="528955" cy="0"/>
            </a:xfrm>
            <a:custGeom>
              <a:avLst/>
              <a:gdLst/>
              <a:ahLst/>
              <a:cxnLst/>
              <a:rect l="l" t="t" r="r" b="b"/>
              <a:pathLst>
                <a:path w="528954" h="0">
                  <a:moveTo>
                    <a:pt x="0" y="0"/>
                  </a:moveTo>
                  <a:lnTo>
                    <a:pt x="52836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788384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305363" y="312408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2930563" y="2921310"/>
            <a:ext cx="5645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112">
                <a:latin typeface="Tahoma"/>
                <a:cs typeface="Tahoma"/>
              </a:rPr>
              <a:t>∆</a:t>
            </a:r>
            <a:r>
              <a:rPr dirty="0" baseline="-19444" sz="1500" spc="112" i="1">
                <a:latin typeface="Arial"/>
                <a:cs typeface="Arial"/>
              </a:rPr>
              <a:t>x</a:t>
            </a:r>
            <a:r>
              <a:rPr dirty="0" baseline="-19444" sz="1500" spc="367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6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786359" y="3103829"/>
            <a:ext cx="540385" cy="81280"/>
          </a:xfrm>
          <a:custGeom>
            <a:avLst/>
            <a:gdLst/>
            <a:ahLst/>
            <a:cxnLst/>
            <a:rect l="l" t="t" r="r" b="b"/>
            <a:pathLst>
              <a:path w="540385" h="81280">
                <a:moveTo>
                  <a:pt x="0" y="81001"/>
                </a:moveTo>
                <a:lnTo>
                  <a:pt x="0" y="0"/>
                </a:lnTo>
              </a:path>
              <a:path w="540385" h="81280">
                <a:moveTo>
                  <a:pt x="540006" y="81001"/>
                </a:moveTo>
                <a:lnTo>
                  <a:pt x="540006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1616379" y="2442124"/>
            <a:ext cx="45085" cy="405765"/>
            <a:chOff x="1616379" y="2442124"/>
            <a:chExt cx="45085" cy="405765"/>
          </a:xfrm>
        </p:grpSpPr>
        <p:sp>
          <p:nvSpPr>
            <p:cNvPr id="62" name="object 62"/>
            <p:cNvSpPr/>
            <p:nvPr/>
          </p:nvSpPr>
          <p:spPr>
            <a:xfrm>
              <a:off x="1638846" y="2448142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w="0" h="393700">
                  <a:moveTo>
                    <a:pt x="0" y="39336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618602" y="282632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618602" y="2444347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451521" y="2522529"/>
            <a:ext cx="176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616379" y="2847129"/>
            <a:ext cx="45085" cy="405765"/>
            <a:chOff x="1616379" y="2847129"/>
            <a:chExt cx="45085" cy="405765"/>
          </a:xfrm>
        </p:grpSpPr>
        <p:sp>
          <p:nvSpPr>
            <p:cNvPr id="67" name="object 67"/>
            <p:cNvSpPr/>
            <p:nvPr/>
          </p:nvSpPr>
          <p:spPr>
            <a:xfrm>
              <a:off x="1638846" y="2853147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w="0" h="393700">
                  <a:moveTo>
                    <a:pt x="0" y="39336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618602" y="323132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618602" y="2849351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213396" y="2938596"/>
            <a:ext cx="414655" cy="387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8125">
              <a:lnSpc>
                <a:spcPct val="118900"/>
              </a:lnSpc>
              <a:spcBef>
                <a:spcPts val="100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 </a:t>
            </a:r>
            <a:r>
              <a:rPr dirty="0" sz="1000" spc="-40" i="1">
                <a:latin typeface="Arial"/>
                <a:cs typeface="Arial"/>
              </a:rPr>
              <a:t>n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706148" y="2595356"/>
            <a:ext cx="2160905" cy="45085"/>
            <a:chOff x="1706148" y="2595356"/>
            <a:chExt cx="2160905" cy="45085"/>
          </a:xfrm>
        </p:grpSpPr>
        <p:sp>
          <p:nvSpPr>
            <p:cNvPr id="72" name="object 72"/>
            <p:cNvSpPr/>
            <p:nvPr/>
          </p:nvSpPr>
          <p:spPr>
            <a:xfrm>
              <a:off x="1712166" y="2617822"/>
              <a:ext cx="2148840" cy="0"/>
            </a:xfrm>
            <a:custGeom>
              <a:avLst/>
              <a:gdLst/>
              <a:ahLst/>
              <a:cxnLst/>
              <a:rect l="l" t="t" r="r" b="b"/>
              <a:pathLst>
                <a:path w="2148840" h="0">
                  <a:moveTo>
                    <a:pt x="0" y="0"/>
                  </a:moveTo>
                  <a:lnTo>
                    <a:pt x="21483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708371" y="259757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845370" y="259757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2739389" y="2455029"/>
            <a:ext cx="939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latin typeface="Arial"/>
                <a:cs typeface="Arial"/>
              </a:rPr>
              <a:t>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701285" y="2572263"/>
            <a:ext cx="2170430" cy="86360"/>
            <a:chOff x="1701285" y="2572263"/>
            <a:chExt cx="2170430" cy="86360"/>
          </a:xfrm>
        </p:grpSpPr>
        <p:sp>
          <p:nvSpPr>
            <p:cNvPr id="77" name="object 77"/>
            <p:cNvSpPr/>
            <p:nvPr/>
          </p:nvSpPr>
          <p:spPr>
            <a:xfrm>
              <a:off x="1706346" y="2577324"/>
              <a:ext cx="2160270" cy="81280"/>
            </a:xfrm>
            <a:custGeom>
              <a:avLst/>
              <a:gdLst/>
              <a:ahLst/>
              <a:cxnLst/>
              <a:rect l="l" t="t" r="r" b="b"/>
              <a:pathLst>
                <a:path w="2160270" h="81280">
                  <a:moveTo>
                    <a:pt x="0" y="81001"/>
                  </a:moveTo>
                  <a:lnTo>
                    <a:pt x="0" y="0"/>
                  </a:lnTo>
                </a:path>
                <a:path w="2160270" h="81280">
                  <a:moveTo>
                    <a:pt x="2160026" y="81001"/>
                  </a:moveTo>
                  <a:lnTo>
                    <a:pt x="2160026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861312" y="257226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5061"/>
                  </a:moveTo>
                  <a:lnTo>
                    <a:pt x="1482" y="1482"/>
                  </a:lnTo>
                  <a:lnTo>
                    <a:pt x="5061" y="0"/>
                  </a:lnTo>
                  <a:lnTo>
                    <a:pt x="8639" y="1482"/>
                  </a:lnTo>
                  <a:lnTo>
                    <a:pt x="10122" y="5061"/>
                  </a:lnTo>
                  <a:lnTo>
                    <a:pt x="8639" y="8639"/>
                  </a:lnTo>
                  <a:lnTo>
                    <a:pt x="5061" y="10122"/>
                  </a:lnTo>
                  <a:lnTo>
                    <a:pt x="1482" y="8639"/>
                  </a:lnTo>
                  <a:lnTo>
                    <a:pt x="0" y="5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38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2627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610120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24276"/>
            <a:ext cx="3453765" cy="3790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Domain: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Forward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Central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Difference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Scheme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(FTCS)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6084" y="91514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22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34272" y="674933"/>
            <a:ext cx="6623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82" i="1">
                <a:latin typeface="Arial"/>
                <a:cs typeface="Arial"/>
              </a:rPr>
              <a:t>T</a:t>
            </a:r>
            <a:r>
              <a:rPr dirty="0" baseline="3968" sz="1050" spc="82" i="1">
                <a:latin typeface="Arial"/>
                <a:cs typeface="Arial"/>
              </a:rPr>
              <a:t>n</a:t>
            </a:r>
            <a:r>
              <a:rPr dirty="0" baseline="3968" sz="1050" spc="82">
                <a:latin typeface="Tahoma"/>
                <a:cs typeface="Tahoma"/>
              </a:rPr>
              <a:t>+1</a:t>
            </a:r>
            <a:r>
              <a:rPr dirty="0" baseline="3968" sz="1050" spc="89">
                <a:latin typeface="Tahoma"/>
                <a:cs typeface="Tahoma"/>
              </a:rPr>
              <a:t> </a:t>
            </a:r>
            <a:r>
              <a:rPr dirty="0" baseline="-19444" sz="1500" spc="-60">
                <a:latin typeface="Lucida Sans Unicode"/>
                <a:cs typeface="Lucida Sans Unicode"/>
              </a:rPr>
              <a:t>−</a:t>
            </a:r>
            <a:r>
              <a:rPr dirty="0" baseline="-19444" sz="1500" spc="-120">
                <a:latin typeface="Lucida Sans Unicode"/>
                <a:cs typeface="Lucida Sans Unicode"/>
              </a:rPr>
              <a:t> </a:t>
            </a: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5542" y="758207"/>
            <a:ext cx="819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06755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97">
                <a:latin typeface="Lucida Sans Unicode"/>
                <a:cs typeface="Lucida Sans Unicode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3384" y="701415"/>
            <a:ext cx="769620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25" i="1">
                <a:latin typeface="Calibri"/>
                <a:cs typeface="Calibri"/>
              </a:rPr>
              <a:t>∂</a:t>
            </a:r>
            <a:r>
              <a:rPr dirty="0" sz="1000" spc="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60"/>
              </a:spcBef>
              <a:tabLst>
                <a:tab pos="605155" algn="l"/>
              </a:tabLst>
            </a:pPr>
            <a:r>
              <a:rPr dirty="0" sz="1000" spc="35" i="1">
                <a:latin typeface="Calibri"/>
                <a:cs typeface="Calibri"/>
              </a:rPr>
              <a:t>∂</a:t>
            </a:r>
            <a:r>
              <a:rPr dirty="0" sz="1000" spc="3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0714" y="1327429"/>
            <a:ext cx="231140" cy="0"/>
          </a:xfrm>
          <a:custGeom>
            <a:avLst/>
            <a:gdLst/>
            <a:ahLst/>
            <a:cxnLst/>
            <a:rect l="l" t="t" r="r" b="b"/>
            <a:pathLst>
              <a:path w="231140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44066" y="1069776"/>
            <a:ext cx="1281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 spc="-60">
                <a:latin typeface="Lucida Sans Unicode"/>
                <a:cs typeface="Lucida Sans Unicode"/>
              </a:rPr>
              <a:t>− </a:t>
            </a:r>
            <a:r>
              <a:rPr dirty="0" baseline="-22222" sz="1500">
                <a:latin typeface="Tahoma"/>
                <a:cs typeface="Tahoma"/>
              </a:rPr>
              <a:t>2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60">
                <a:latin typeface="Tahoma"/>
                <a:cs typeface="Tahoma"/>
              </a:rPr>
              <a:t> </a:t>
            </a:r>
            <a:r>
              <a:rPr dirty="0" baseline="-22222" sz="1500" spc="52" i="1">
                <a:latin typeface="Arial"/>
                <a:cs typeface="Arial"/>
              </a:rPr>
              <a:t>T</a:t>
            </a:r>
            <a:r>
              <a:rPr dirty="0" sz="700" spc="35" i="1">
                <a:latin typeface="Arial"/>
                <a:cs typeface="Arial"/>
              </a:rPr>
              <a:t>n</a:t>
            </a:r>
            <a:r>
              <a:rPr dirty="0" sz="700" spc="3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14" y="1113669"/>
            <a:ext cx="1506220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54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160"/>
              </a:spcBef>
              <a:tabLst>
                <a:tab pos="1134110" algn="l"/>
              </a:tabLst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75" i="1">
                <a:latin typeface="Arial"/>
                <a:cs typeface="Arial"/>
              </a:rPr>
              <a:t> </a:t>
            </a:r>
            <a:r>
              <a:rPr dirty="0" baseline="23809" sz="1050" spc="-75">
                <a:latin typeface="Tahoma"/>
                <a:cs typeface="Tahoma"/>
              </a:rPr>
              <a:t>2</a:t>
            </a:r>
            <a:r>
              <a:rPr dirty="0" baseline="23809" sz="1050">
                <a:latin typeface="Tahoma"/>
                <a:cs typeface="Tahoma"/>
              </a:rPr>
              <a:t>	</a:t>
            </a: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397" y="1167592"/>
            <a:ext cx="18649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17269" algn="l"/>
                <a:tab pos="1451610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|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85">
                <a:latin typeface="Tahoma"/>
                <a:cs typeface="Tahoma"/>
              </a:rPr>
              <a:t> </a:t>
            </a: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82">
                <a:latin typeface="Lucida Sans Unicode"/>
                <a:cs typeface="Lucida Sans Unicode"/>
              </a:rPr>
              <a:t> </a:t>
            </a:r>
            <a:r>
              <a:rPr dirty="0" u="sng" baseline="3968" sz="1050" spc="2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3968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baseline="3968" sz="1050" spc="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baseline="3968" sz="1050" spc="247">
                <a:latin typeface="Tahoma"/>
                <a:cs typeface="Tahoma"/>
              </a:rPr>
              <a:t>  </a:t>
            </a:r>
            <a:r>
              <a:rPr dirty="0" baseline="-22222" sz="1500" spc="30">
                <a:latin typeface="Tahoma"/>
                <a:cs typeface="Tahoma"/>
              </a:rPr>
              <a:t>&amp;</a:t>
            </a:r>
            <a:endParaRPr baseline="-22222" sz="15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95739" y="1327429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 h="0">
                <a:moveTo>
                  <a:pt x="0" y="0"/>
                </a:moveTo>
                <a:lnTo>
                  <a:pt x="2306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857639" y="1113669"/>
            <a:ext cx="290195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dirty="0" sz="1000" spc="-25" i="1">
                <a:latin typeface="Calibri"/>
                <a:cs typeface="Calibri"/>
              </a:rPr>
              <a:t>∂</a:t>
            </a:r>
            <a:r>
              <a:rPr dirty="0" baseline="27777" sz="1050" spc="-37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160"/>
              </a:spcBef>
            </a:pPr>
            <a:r>
              <a:rPr dirty="0" sz="1000" spc="-10" i="1">
                <a:latin typeface="Calibri"/>
                <a:cs typeface="Calibri"/>
              </a:rPr>
              <a:t>∂</a:t>
            </a: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sz="1000" spc="-175" i="1">
                <a:latin typeface="Arial"/>
                <a:cs typeface="Arial"/>
              </a:rPr>
              <a:t> </a:t>
            </a:r>
            <a:r>
              <a:rPr dirty="0" baseline="23809" sz="1050" spc="-75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78847" y="1079009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50843" y="1124920"/>
            <a:ext cx="732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29">
                <a:latin typeface="Lucida Sans Unicode"/>
                <a:cs typeface="Lucida Sans Unicode"/>
              </a:rPr>
              <a:t>—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23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27777" sz="1050" spc="97" i="1">
                <a:latin typeface="Arial"/>
                <a:cs typeface="Arial"/>
              </a:rPr>
              <a:t>n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03435" y="1167592"/>
            <a:ext cx="137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61060" algn="l"/>
                <a:tab pos="1175385" algn="l"/>
              </a:tabLst>
            </a:pPr>
            <a:r>
              <a:rPr dirty="0" baseline="-22222" sz="1500">
                <a:latin typeface="Lucida Sans Unicode"/>
                <a:cs typeface="Lucida Sans Unicode"/>
              </a:rPr>
              <a:t>|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 spc="110" i="1">
                <a:latin typeface="Arial"/>
                <a:cs typeface="Arial"/>
              </a:rPr>
              <a:t> </a:t>
            </a:r>
            <a:r>
              <a:rPr dirty="0" baseline="-22222" sz="1500">
                <a:latin typeface="Lucida Sans Unicode"/>
                <a:cs typeface="Lucida Sans Unicode"/>
              </a:rPr>
              <a:t>≈</a:t>
            </a:r>
            <a:r>
              <a:rPr dirty="0" baseline="-22222" sz="1500" spc="67">
                <a:latin typeface="Lucida Sans Unicode"/>
                <a:cs typeface="Lucida Sans Unicode"/>
              </a:rPr>
              <a:t> </a:t>
            </a:r>
            <a:r>
              <a:rPr dirty="0" u="sng" baseline="3968" sz="1050" spc="71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baseline="3968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3968" sz="1050" spc="-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baseline="3968" sz="105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baseline="3968" sz="1050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28072" y="1306619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89849"/>
            <a:ext cx="52590" cy="5259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80034" y="1505742"/>
            <a:ext cx="2792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By</a:t>
            </a:r>
            <a:r>
              <a:rPr dirty="0" sz="1000" spc="-25">
                <a:latin typeface="Tahoma"/>
                <a:cs typeface="Tahoma"/>
              </a:rPr>
              <a:t> substituting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these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value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Equation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26.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310" y="1759130"/>
            <a:ext cx="4826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1904" y="1878101"/>
            <a:ext cx="593725" cy="0"/>
          </a:xfrm>
          <a:custGeom>
            <a:avLst/>
            <a:gdLst/>
            <a:ahLst/>
            <a:cxnLst/>
            <a:rect l="l" t="t" r="r" b="b"/>
            <a:pathLst>
              <a:path w="593725" h="0">
                <a:moveTo>
                  <a:pt x="0" y="0"/>
                </a:moveTo>
                <a:lnTo>
                  <a:pt x="59372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5929" y="1857304"/>
            <a:ext cx="176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latin typeface="Tahoma"/>
                <a:cs typeface="Tahoma"/>
              </a:rPr>
              <a:t>∆</a:t>
            </a:r>
            <a:r>
              <a:rPr dirty="0" sz="1000" spc="114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38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1104" y="1620461"/>
            <a:ext cx="2366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09319" algn="l"/>
                <a:tab pos="1096645" algn="l"/>
              </a:tabLst>
            </a:pPr>
            <a:r>
              <a:rPr dirty="0" baseline="-27777" sz="1500" spc="82" i="1">
                <a:latin typeface="Arial"/>
                <a:cs typeface="Arial"/>
              </a:rPr>
              <a:t>T</a:t>
            </a:r>
            <a:r>
              <a:rPr dirty="0" baseline="-7936" sz="1050" spc="82" i="1">
                <a:latin typeface="Arial"/>
                <a:cs typeface="Arial"/>
              </a:rPr>
              <a:t>n</a:t>
            </a:r>
            <a:r>
              <a:rPr dirty="0" baseline="-7936" sz="1050" spc="82">
                <a:latin typeface="Tahoma"/>
                <a:cs typeface="Tahoma"/>
              </a:rPr>
              <a:t>+1</a:t>
            </a:r>
            <a:r>
              <a:rPr dirty="0" baseline="-7936" sz="1050" spc="89">
                <a:latin typeface="Tahoma"/>
                <a:cs typeface="Tahoma"/>
              </a:rPr>
              <a:t> </a:t>
            </a:r>
            <a:r>
              <a:rPr dirty="0" baseline="-27777" sz="1500" spc="-60">
                <a:latin typeface="Lucida Sans Unicode"/>
                <a:cs typeface="Lucida Sans Unicode"/>
              </a:rPr>
              <a:t>−</a:t>
            </a:r>
            <a:r>
              <a:rPr dirty="0" baseline="-27777" sz="1500" spc="-120">
                <a:latin typeface="Lucida Sans Unicode"/>
                <a:cs typeface="Lucida Sans Unicode"/>
              </a:rPr>
              <a:t> </a:t>
            </a:r>
            <a:r>
              <a:rPr dirty="0" baseline="-27777" sz="1500" spc="97" i="1">
                <a:latin typeface="Arial"/>
                <a:cs typeface="Arial"/>
              </a:rPr>
              <a:t>T</a:t>
            </a:r>
            <a:r>
              <a:rPr dirty="0" baseline="-11904" sz="1050" spc="97" i="1">
                <a:latin typeface="Arial"/>
                <a:cs typeface="Arial"/>
              </a:rPr>
              <a:t>n</a:t>
            </a:r>
            <a:r>
              <a:rPr dirty="0" baseline="-11904" sz="1050" i="1">
                <a:latin typeface="Arial"/>
                <a:cs typeface="Arial"/>
              </a:rPr>
              <a:t>	</a:t>
            </a:r>
            <a:r>
              <a:rPr dirty="0" baseline="-5555" sz="1500" spc="-75">
                <a:latin typeface="Lucida Sans Unicode"/>
                <a:cs typeface="Lucida Sans Unicode"/>
              </a:rPr>
              <a:t>h</a:t>
            </a:r>
            <a:r>
              <a:rPr dirty="0" baseline="-5555" sz="1500">
                <a:latin typeface="Lucida Sans Unicode"/>
                <a:cs typeface="Lucida Sans Unicode"/>
              </a:rPr>
              <a:t>	</a:t>
            </a: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 spc="-60">
                <a:latin typeface="Lucida Sans Unicode"/>
                <a:cs typeface="Lucida Sans Unicode"/>
              </a:rPr>
              <a:t>− </a:t>
            </a:r>
            <a:r>
              <a:rPr dirty="0" baseline="-22222" sz="1500">
                <a:latin typeface="Tahoma"/>
                <a:cs typeface="Tahoma"/>
              </a:rPr>
              <a:t>2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60">
                <a:latin typeface="Tahoma"/>
                <a:cs typeface="Tahoma"/>
              </a:rPr>
              <a:t> </a:t>
            </a:r>
            <a:r>
              <a:rPr dirty="0" baseline="-22222" sz="1500" spc="52" i="1">
                <a:latin typeface="Arial"/>
                <a:cs typeface="Arial"/>
              </a:rPr>
              <a:t>T</a:t>
            </a:r>
            <a:r>
              <a:rPr dirty="0" sz="700" spc="35" i="1">
                <a:latin typeface="Arial"/>
                <a:cs typeface="Arial"/>
              </a:rPr>
              <a:t>n</a:t>
            </a:r>
            <a:r>
              <a:rPr dirty="0" sz="700" spc="3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02053" y="1857304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7859" y="1710631"/>
            <a:ext cx="1754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3619" algn="l"/>
                <a:tab pos="1457960" algn="l"/>
              </a:tabLst>
            </a:pPr>
            <a:r>
              <a:rPr dirty="0" baseline="-25000" sz="1500">
                <a:latin typeface="Tahoma"/>
                <a:cs typeface="Tahoma"/>
              </a:rPr>
              <a:t>=</a:t>
            </a:r>
            <a:r>
              <a:rPr dirty="0" baseline="-25000" sz="1500" spc="-67">
                <a:latin typeface="Tahoma"/>
                <a:cs typeface="Tahoma"/>
              </a:rPr>
              <a:t> </a:t>
            </a:r>
            <a:r>
              <a:rPr dirty="0" baseline="-25000" sz="1500" spc="104" i="1">
                <a:latin typeface="Calibri"/>
                <a:cs typeface="Calibri"/>
              </a:rPr>
              <a:t>α</a:t>
            </a:r>
            <a:r>
              <a:rPr dirty="0" baseline="-25000" sz="1500" spc="359" i="1">
                <a:latin typeface="Calibri"/>
                <a:cs typeface="Calibri"/>
              </a:rPr>
              <a:t> </a:t>
            </a:r>
            <a:r>
              <a:rPr dirty="0" baseline="-25000" sz="1500" i="1">
                <a:latin typeface="Calibri"/>
                <a:cs typeface="Calibri"/>
              </a:rPr>
              <a:t>θ</a:t>
            </a:r>
            <a:r>
              <a:rPr dirty="0" baseline="-25000" sz="1500">
                <a:latin typeface="Tahoma"/>
                <a:cs typeface="Tahoma"/>
              </a:rPr>
              <a:t>(</a:t>
            </a:r>
            <a:r>
              <a:rPr dirty="0" baseline="-25000" sz="1500" spc="-292">
                <a:latin typeface="Tahoma"/>
                <a:cs typeface="Tahoma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700" spc="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sz="700" spc="-60">
                <a:latin typeface="Tahoma"/>
                <a:cs typeface="Tahoma"/>
              </a:rPr>
              <a:t> </a:t>
            </a:r>
            <a:r>
              <a:rPr dirty="0" baseline="-25000" sz="1500" spc="-75">
                <a:latin typeface="Tahoma"/>
                <a:cs typeface="Tahoma"/>
              </a:rPr>
              <a:t>)</a:t>
            </a:r>
            <a:endParaRPr baseline="-25000" sz="15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34042" y="1981497"/>
            <a:ext cx="227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97" i="1">
                <a:latin typeface="Arial"/>
                <a:cs typeface="Arial"/>
              </a:rPr>
              <a:t>T</a:t>
            </a:r>
            <a:r>
              <a:rPr dirty="0" sz="700" spc="65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6038" y="2027407"/>
            <a:ext cx="732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29">
                <a:latin typeface="Lucida Sans Unicode"/>
                <a:cs typeface="Lucida Sans Unicode"/>
              </a:rPr>
              <a:t>—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23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27777" sz="1050" spc="97" i="1">
                <a:latin typeface="Arial"/>
                <a:cs typeface="Arial"/>
              </a:rPr>
              <a:t>n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3266" y="2209106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Arial"/>
                <a:cs typeface="Arial"/>
              </a:rPr>
              <a:t>x</a:t>
            </a:r>
            <a:r>
              <a:rPr dirty="0" sz="1000" spc="-1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3809" sz="1050" spc="-37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63901" y="2062434"/>
            <a:ext cx="1736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55700" algn="l"/>
                <a:tab pos="1470025" algn="l"/>
              </a:tabLst>
            </a:pPr>
            <a:r>
              <a:rPr dirty="0" baseline="-25000" sz="1500">
                <a:latin typeface="Tahoma"/>
                <a:cs typeface="Tahoma"/>
              </a:rPr>
              <a:t>+</a:t>
            </a:r>
            <a:r>
              <a:rPr dirty="0" baseline="-25000" sz="1500" spc="-142">
                <a:latin typeface="Tahoma"/>
                <a:cs typeface="Tahoma"/>
              </a:rPr>
              <a:t> </a:t>
            </a:r>
            <a:r>
              <a:rPr dirty="0" baseline="-25000" sz="1500" spc="-52">
                <a:latin typeface="Tahoma"/>
                <a:cs typeface="Tahoma"/>
              </a:rPr>
              <a:t>(1</a:t>
            </a:r>
            <a:r>
              <a:rPr dirty="0" baseline="-25000" sz="1500" spc="-135">
                <a:latin typeface="Tahoma"/>
                <a:cs typeface="Tahoma"/>
              </a:rPr>
              <a:t> </a:t>
            </a:r>
            <a:r>
              <a:rPr dirty="0" baseline="-25000" sz="1500" spc="-60">
                <a:latin typeface="Lucida Sans Unicode"/>
                <a:cs typeface="Lucida Sans Unicode"/>
              </a:rPr>
              <a:t>−</a:t>
            </a:r>
            <a:r>
              <a:rPr dirty="0" baseline="-25000" sz="1500" spc="-142">
                <a:latin typeface="Lucida Sans Unicode"/>
                <a:cs typeface="Lucida Sans Unicode"/>
              </a:rPr>
              <a:t> </a:t>
            </a:r>
            <a:r>
              <a:rPr dirty="0" baseline="-25000" sz="1500" i="1">
                <a:latin typeface="Calibri"/>
                <a:cs typeface="Calibri"/>
              </a:rPr>
              <a:t>θ</a:t>
            </a:r>
            <a:r>
              <a:rPr dirty="0" baseline="-25000" sz="1500">
                <a:latin typeface="Tahoma"/>
                <a:cs typeface="Tahoma"/>
              </a:rPr>
              <a:t>)(</a:t>
            </a:r>
            <a:r>
              <a:rPr dirty="0" baseline="-25000" sz="1500" spc="-292">
                <a:latin typeface="Tahoma"/>
                <a:cs typeface="Tahoma"/>
              </a:rPr>
              <a:t> </a:t>
            </a:r>
            <a:r>
              <a:rPr dirty="0" u="sng" sz="700" spc="1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+1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sz="7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i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sz="700" spc="75">
                <a:latin typeface="Tahoma"/>
                <a:cs typeface="Tahoma"/>
              </a:rPr>
              <a:t> </a:t>
            </a:r>
            <a:r>
              <a:rPr dirty="0" baseline="-25000" sz="1500" spc="-75">
                <a:latin typeface="Tahoma"/>
                <a:cs typeface="Tahoma"/>
              </a:rPr>
              <a:t>)</a:t>
            </a:r>
            <a:endParaRPr baseline="-25000" sz="1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9432" y="1981878"/>
            <a:ext cx="85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Lucida Sans Unicode"/>
                <a:cs typeface="Lucida Sans Unicode"/>
              </a:rPr>
              <a:t>i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7050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0133" y="248183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1351" y="2392238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4435" y="247576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26616" y="2266078"/>
            <a:ext cx="85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0">
                <a:latin typeface="Lucida Sans Unicode"/>
                <a:cs typeface="Lucida Sans Unicode"/>
              </a:rPr>
              <a:t>h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1508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4578" y="2481836"/>
            <a:ext cx="1771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4027" y="2406528"/>
            <a:ext cx="16840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0040" algn="l"/>
                <a:tab pos="1394460" algn="l"/>
              </a:tabLst>
            </a:pP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120" i="1">
                <a:latin typeface="Arial"/>
                <a:cs typeface="Arial"/>
              </a:rPr>
              <a:t> 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229" i="1">
                <a:latin typeface="Arial"/>
                <a:cs typeface="Arial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θ</a:t>
            </a:r>
            <a:r>
              <a:rPr dirty="0" sz="1000" spc="-25">
                <a:latin typeface="Tahoma"/>
                <a:cs typeface="Tahoma"/>
              </a:rPr>
              <a:t>(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82152" y="2391679"/>
            <a:ext cx="212725" cy="2222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6510">
              <a:lnSpc>
                <a:spcPts val="710"/>
              </a:lnSpc>
              <a:spcBef>
                <a:spcPts val="229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 spc="500">
                <a:latin typeface="Tahoma"/>
                <a:cs typeface="Tahoma"/>
              </a:rPr>
              <a:t> 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33370" y="2391679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16454" y="2481836"/>
            <a:ext cx="1828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03818" y="2406528"/>
            <a:ext cx="480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8465" algn="l"/>
              </a:tabLst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23832" y="2684886"/>
            <a:ext cx="1816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-30" i="1">
                <a:latin typeface="Calibri"/>
                <a:cs typeface="Calibri"/>
              </a:rPr>
              <a:t>θ</a:t>
            </a:r>
            <a:r>
              <a:rPr dirty="0" sz="1000" spc="-30">
                <a:latin typeface="Tahoma"/>
                <a:cs typeface="Tahoma"/>
              </a:rPr>
              <a:t>)(</a:t>
            </a:r>
            <a:r>
              <a:rPr dirty="0" sz="1000" spc="-30" i="1">
                <a:latin typeface="Arial"/>
                <a:cs typeface="Arial"/>
              </a:rPr>
              <a:t>T</a:t>
            </a:r>
            <a:r>
              <a:rPr dirty="0" baseline="-19841" sz="1050" spc="-44" i="1">
                <a:latin typeface="Arial"/>
                <a:cs typeface="Arial"/>
              </a:rPr>
              <a:t>i</a:t>
            </a:r>
            <a:r>
              <a:rPr dirty="0" baseline="31746" sz="1050" spc="-44" i="1">
                <a:latin typeface="Arial"/>
                <a:cs typeface="Arial"/>
              </a:rPr>
              <a:t>n</a:t>
            </a:r>
            <a:r>
              <a:rPr dirty="0" baseline="-19841" sz="1050" spc="-44">
                <a:latin typeface="Tahoma"/>
                <a:cs typeface="Tahoma"/>
              </a:rPr>
              <a:t>+1</a:t>
            </a:r>
            <a:r>
              <a:rPr dirty="0" baseline="-19841" sz="1050" spc="89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9841" sz="1050" i="1">
                <a:latin typeface="Arial"/>
                <a:cs typeface="Arial"/>
              </a:rPr>
              <a:t>i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 spc="14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T</a:t>
            </a:r>
            <a:r>
              <a:rPr dirty="0" baseline="-19841" sz="1050" spc="-15" i="1">
                <a:latin typeface="Arial"/>
                <a:cs typeface="Arial"/>
              </a:rPr>
              <a:t>i</a:t>
            </a:r>
            <a:r>
              <a:rPr dirty="0" baseline="31746" sz="1050" spc="-15" i="1">
                <a:latin typeface="Arial"/>
                <a:cs typeface="Arial"/>
              </a:rPr>
              <a:t>n</a:t>
            </a:r>
            <a:r>
              <a:rPr dirty="0" baseline="-19841" sz="1050" spc="-15">
                <a:latin typeface="Lucida Sans Unicode"/>
                <a:cs typeface="Lucida Sans Unicode"/>
              </a:rPr>
              <a:t>−</a:t>
            </a:r>
            <a:r>
              <a:rPr dirty="0" baseline="-19841" sz="1050" spc="-15">
                <a:latin typeface="Tahoma"/>
                <a:cs typeface="Tahoma"/>
              </a:rPr>
              <a:t>1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baseline="61111" sz="1500" spc="-15">
                <a:latin typeface="Lucida Sans Unicode"/>
                <a:cs typeface="Lucida Sans Unicode"/>
              </a:rPr>
              <a:t>i</a:t>
            </a:r>
            <a:endParaRPr baseline="61111" sz="15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18931" y="3039658"/>
            <a:ext cx="3130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00" spc="60">
                <a:latin typeface="Tahoma"/>
                <a:cs typeface="Tahoma"/>
              </a:rPr>
              <a:t>(∆</a:t>
            </a:r>
            <a:r>
              <a:rPr dirty="0" sz="700" spc="60" i="1">
                <a:latin typeface="Arial"/>
                <a:cs typeface="Arial"/>
              </a:rPr>
              <a:t>x</a:t>
            </a:r>
            <a:r>
              <a:rPr dirty="0" sz="700" spc="-125" i="1">
                <a:latin typeface="Arial"/>
                <a:cs typeface="Arial"/>
              </a:rPr>
              <a:t> </a:t>
            </a:r>
            <a:r>
              <a:rPr dirty="0" sz="700" spc="-25">
                <a:latin typeface="Tahoma"/>
                <a:cs typeface="Tahoma"/>
              </a:rPr>
              <a:t>)</a:t>
            </a:r>
            <a:r>
              <a:rPr dirty="0" baseline="22222" sz="750" spc="-37">
                <a:latin typeface="Tahoma"/>
                <a:cs typeface="Tahoma"/>
              </a:rPr>
              <a:t>2</a:t>
            </a:r>
            <a:endParaRPr baseline="22222" sz="7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9709" y="2958076"/>
            <a:ext cx="37934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Where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6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Fourier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number,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Fo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u="sng" baseline="31746" sz="1050" spc="89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baseline="31746" sz="1050" spc="179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α</a:t>
            </a:r>
            <a:r>
              <a:rPr dirty="0" u="sng" baseline="31746" sz="1050" spc="179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∆</a:t>
            </a:r>
            <a:r>
              <a:rPr dirty="0" u="sng" baseline="31746" sz="1050" spc="17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31746" sz="1050" spc="6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baseline="31746" sz="1050" spc="292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θ</a:t>
            </a:r>
            <a:r>
              <a:rPr dirty="0" sz="1000" spc="80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weighting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factor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2932" y="3059396"/>
            <a:ext cx="6864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(0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Calibri"/>
                <a:cs typeface="Calibri"/>
              </a:rPr>
              <a:t>θ </a:t>
            </a:r>
            <a:r>
              <a:rPr dirty="0" sz="1000">
                <a:latin typeface="Lucida Sans Unicode"/>
                <a:cs typeface="Lucida Sans Unicode"/>
              </a:rPr>
              <a:t>≤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1).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40"/>
              <a:t> </a:t>
            </a:r>
            <a:r>
              <a:rPr dirty="0" spc="-60"/>
              <a:t>unsteady-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6480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654621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56272"/>
            <a:ext cx="3453765" cy="39179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1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III: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Computational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Domain:</a:t>
            </a:r>
            <a:r>
              <a:rPr dirty="0" sz="1100" spc="1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Fully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Implicit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scheme,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θ</a:t>
            </a:r>
            <a:r>
              <a:rPr dirty="0" sz="1000" spc="25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1089" y="762586"/>
            <a:ext cx="11722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  <a:tab pos="988694" algn="l"/>
              </a:tabLst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n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4172" y="852185"/>
            <a:ext cx="11537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  <a:tab pos="988694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r>
              <a:rPr dirty="0" baseline="3968" sz="105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066" y="776876"/>
            <a:ext cx="15855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0040" algn="l"/>
                <a:tab pos="1296670" algn="l"/>
              </a:tabLst>
            </a:pP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125" i="1">
                <a:latin typeface="Arial"/>
                <a:cs typeface="Arial"/>
              </a:rPr>
              <a:t> 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 spc="335" i="1">
                <a:latin typeface="Arial"/>
                <a:cs typeface="Arial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0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8134" y="762028"/>
            <a:ext cx="212725" cy="2222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6510">
              <a:lnSpc>
                <a:spcPts val="710"/>
              </a:lnSpc>
              <a:spcBef>
                <a:spcPts val="229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 spc="500">
                <a:latin typeface="Tahoma"/>
                <a:cs typeface="Tahoma"/>
              </a:rPr>
              <a:t> </a:t>
            </a: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9813" y="776876"/>
            <a:ext cx="238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2436" y="762028"/>
            <a:ext cx="212725" cy="2222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6510">
              <a:lnSpc>
                <a:spcPts val="710"/>
              </a:lnSpc>
              <a:spcBef>
                <a:spcPts val="229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 spc="500">
                <a:latin typeface="Tahoma"/>
                <a:cs typeface="Tahoma"/>
              </a:rPr>
              <a:t> 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1737" y="674387"/>
            <a:ext cx="134239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276350" algn="l"/>
              </a:tabLst>
            </a:pPr>
            <a:r>
              <a:rPr dirty="0" sz="1000">
                <a:latin typeface="Lucida Sans Unicode"/>
                <a:cs typeface="Lucida Sans Unicode"/>
              </a:rPr>
              <a:t>	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934" y="1099063"/>
            <a:ext cx="3891279" cy="641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54380">
              <a:lnSpc>
                <a:spcPts val="894"/>
              </a:lnSpc>
              <a:spcBef>
                <a:spcPts val="95"/>
              </a:spcBef>
            </a:pP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23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90" i="1">
                <a:latin typeface="Arial"/>
                <a:cs typeface="Arial"/>
              </a:rPr>
              <a:t>T</a:t>
            </a:r>
            <a:r>
              <a:rPr dirty="0" baseline="31746" sz="1050" spc="135" i="1">
                <a:latin typeface="Arial"/>
                <a:cs typeface="Arial"/>
              </a:rPr>
              <a:t>n</a:t>
            </a:r>
            <a:r>
              <a:rPr dirty="0" baseline="31746" sz="1050" spc="19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42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4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0" i="1">
                <a:latin typeface="Arial"/>
                <a:cs typeface="Arial"/>
              </a:rPr>
              <a:t>FoT</a:t>
            </a:r>
            <a:r>
              <a:rPr dirty="0" baseline="31746" sz="1050" spc="-15" i="1">
                <a:latin typeface="Arial"/>
                <a:cs typeface="Arial"/>
              </a:rPr>
              <a:t>n</a:t>
            </a:r>
            <a:r>
              <a:rPr dirty="0" baseline="31746" sz="1050" spc="-15">
                <a:latin typeface="Tahoma"/>
                <a:cs typeface="Tahoma"/>
              </a:rPr>
              <a:t>+1</a:t>
            </a:r>
            <a:endParaRPr baseline="31746" sz="1050">
              <a:latin typeface="Tahoma"/>
              <a:cs typeface="Tahoma"/>
            </a:endParaRPr>
          </a:p>
          <a:p>
            <a:pPr algn="r" marR="795655">
              <a:lnSpc>
                <a:spcPts val="535"/>
              </a:lnSpc>
              <a:tabLst>
                <a:tab pos="447675" algn="l"/>
                <a:tab pos="894080" algn="l"/>
                <a:tab pos="1523365" algn="l"/>
                <a:tab pos="2089150" algn="l"/>
              </a:tabLst>
            </a:pP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r>
              <a:rPr dirty="0" baseline="3968" sz="105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60"/>
              </a:spcBef>
            </a:pPr>
            <a:r>
              <a:rPr dirty="0" sz="1000" spc="-30">
                <a:latin typeface="Tahoma"/>
                <a:cs typeface="Tahoma"/>
              </a:rPr>
              <a:t>Hence,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interior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nodes,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3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9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1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level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</a:t>
            </a:r>
            <a:r>
              <a:rPr dirty="0" sz="1000" spc="-2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1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15">
                <a:latin typeface="Tahoma"/>
                <a:cs typeface="Tahoma"/>
              </a:rPr>
              <a:t>2</a:t>
            </a:r>
            <a:r>
              <a:rPr dirty="0" sz="1000" spc="-15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-50" i="1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760095">
              <a:lnSpc>
                <a:spcPts val="894"/>
              </a:lnSpc>
              <a:spcBef>
                <a:spcPts val="425"/>
              </a:spcBef>
              <a:tabLst>
                <a:tab pos="3602354" algn="l"/>
              </a:tabLst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26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31746" sz="1050" spc="97" i="1">
                <a:latin typeface="Arial"/>
                <a:cs typeface="Arial"/>
              </a:rPr>
              <a:t>n</a:t>
            </a:r>
            <a:r>
              <a:rPr dirty="0" baseline="31746" sz="1050" i="1">
                <a:latin typeface="Arial"/>
                <a:cs typeface="Arial"/>
              </a:rPr>
              <a:t>	</a:t>
            </a:r>
            <a:r>
              <a:rPr dirty="0" sz="1000" spc="-20">
                <a:latin typeface="Tahoma"/>
                <a:cs typeface="Tahoma"/>
              </a:rPr>
              <a:t>(27)</a:t>
            </a:r>
            <a:endParaRPr sz="1000">
              <a:latin typeface="Tahoma"/>
              <a:cs typeface="Tahoma"/>
            </a:endParaRPr>
          </a:p>
          <a:p>
            <a:pPr algn="r" marR="815975">
              <a:lnSpc>
                <a:spcPts val="535"/>
              </a:lnSpc>
              <a:tabLst>
                <a:tab pos="953769" algn="l"/>
                <a:tab pos="1519555" algn="l"/>
                <a:tab pos="1967864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Lucida Sans Unicode"/>
                <a:cs typeface="Lucida Sans Unicode"/>
              </a:rPr>
              <a:t>−</a:t>
            </a:r>
            <a:r>
              <a:rPr dirty="0" sz="700" spc="-25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 i="1">
                <a:latin typeface="Arial"/>
                <a:cs typeface="Arial"/>
              </a:rPr>
              <a:t>i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+1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 i="1">
                <a:latin typeface="Arial"/>
                <a:cs typeface="Arial"/>
              </a:rPr>
              <a:t>i</a:t>
            </a:r>
            <a:endParaRPr baseline="3968" sz="10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410906"/>
            <a:ext cx="52590" cy="525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67446"/>
            <a:ext cx="52590" cy="5259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79852" y="1858660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4634" y="1783351"/>
            <a:ext cx="3852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Tahoma"/>
                <a:cs typeface="Tahoma"/>
              </a:rPr>
              <a:t>Therefore,</a:t>
            </a:r>
            <a:r>
              <a:rPr dirty="0" sz="1000" spc="-25">
                <a:latin typeface="Tahoma"/>
                <a:cs typeface="Tahoma"/>
              </a:rPr>
              <a:t> 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75">
                <a:latin typeface="Tahoma"/>
                <a:cs typeface="Tahoma"/>
              </a:rPr>
              <a:t>new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temperature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202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can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calculated</a:t>
            </a:r>
            <a:r>
              <a:rPr dirty="0" sz="1000" spc="-20">
                <a:latin typeface="Tahoma"/>
                <a:cs typeface="Tahoma"/>
              </a:rPr>
              <a:t> simultaneously.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05875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2932" y="2022423"/>
            <a:ext cx="3702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Step-IV: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Descretized</a:t>
            </a:r>
            <a:r>
              <a:rPr dirty="0" sz="1100" spc="-20">
                <a:latin typeface="Tahoma"/>
                <a:cs typeface="Tahoma"/>
              </a:rPr>
              <a:t> Initial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Physical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Boundary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Conditions: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94179" y="2284554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6717" y="2211583"/>
            <a:ext cx="1622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(i)</a:t>
            </a:r>
            <a:r>
              <a:rPr dirty="0" sz="1000" spc="17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10">
                <a:latin typeface="Tahoma"/>
                <a:cs typeface="Tahoma"/>
              </a:rPr>
              <a:t> time </a:t>
            </a:r>
            <a:r>
              <a:rPr dirty="0" sz="1000" spc="-25">
                <a:latin typeface="Tahoma"/>
                <a:cs typeface="Tahoma"/>
              </a:rPr>
              <a:t>level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>
                <a:latin typeface="Tahoma"/>
                <a:cs typeface="Tahoma"/>
              </a:rPr>
              <a:t>: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172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3791" y="2435407"/>
            <a:ext cx="2381885" cy="207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94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(ii)</a:t>
            </a:r>
            <a:r>
              <a:rPr dirty="0" sz="1000" spc="2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1:</a:t>
            </a:r>
            <a:r>
              <a:rPr dirty="0" sz="1000" spc="12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5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-11904" sz="1050">
                <a:latin typeface="Tahoma"/>
                <a:cs typeface="Tahoma"/>
              </a:rPr>
              <a:t>0</a:t>
            </a:r>
            <a:r>
              <a:rPr dirty="0" baseline="-11904" sz="1050" spc="247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15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  <a:p>
            <a:pPr marL="1060450">
              <a:lnSpc>
                <a:spcPts val="535"/>
              </a:lnSpc>
              <a:tabLst>
                <a:tab pos="1835150" algn="l"/>
              </a:tabLst>
            </a:pP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=1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665" y="2703466"/>
            <a:ext cx="1087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(iii)</a:t>
            </a:r>
            <a:r>
              <a:rPr dirty="0" sz="1000" spc="19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 </a:t>
            </a:r>
            <a:r>
              <a:rPr dirty="0" sz="1000">
                <a:latin typeface="Tahoma"/>
                <a:cs typeface="Tahoma"/>
              </a:rPr>
              <a:t>5:</a:t>
            </a:r>
            <a:r>
              <a:rPr dirty="0" sz="1000" spc="100">
                <a:latin typeface="Tahoma"/>
                <a:cs typeface="Tahoma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5818" y="2691602"/>
            <a:ext cx="1384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7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dT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85632" y="2671831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 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27809" y="2661376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58099" y="2792034"/>
            <a:ext cx="3467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968" sz="1050" i="1">
                <a:latin typeface="Arial"/>
                <a:cs typeface="Arial"/>
              </a:rPr>
              <a:t>dx</a:t>
            </a:r>
            <a:r>
              <a:rPr dirty="0" baseline="3968" sz="1050" spc="615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i</a:t>
            </a:r>
            <a:r>
              <a:rPr dirty="0" sz="700" spc="-25">
                <a:latin typeface="Tahoma"/>
                <a:cs typeface="Tahoma"/>
              </a:rPr>
              <a:t>=5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39594" y="2703466"/>
            <a:ext cx="633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k</a:t>
            </a:r>
            <a:r>
              <a:rPr dirty="0" sz="1000" spc="-25">
                <a:latin typeface="Tahoma"/>
                <a:cs typeface="Tahoma"/>
              </a:rPr>
              <a:t>[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75432" y="2662195"/>
            <a:ext cx="147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n</a:t>
            </a:r>
            <a:r>
              <a:rPr dirty="0" sz="500" spc="-25">
                <a:latin typeface="Tahoma"/>
                <a:cs typeface="Tahoma"/>
              </a:rPr>
              <a:t>+1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58528" y="2662195"/>
            <a:ext cx="1473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 i="1">
                <a:latin typeface="Arial"/>
                <a:cs typeface="Arial"/>
              </a:rPr>
              <a:t>n</a:t>
            </a:r>
            <a:r>
              <a:rPr dirty="0" sz="500" spc="-25">
                <a:latin typeface="Tahoma"/>
                <a:cs typeface="Tahoma"/>
              </a:rPr>
              <a:t>+1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63672" y="2727511"/>
            <a:ext cx="34226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5275" algn="l"/>
              </a:tabLst>
            </a:pPr>
            <a:r>
              <a:rPr dirty="0" sz="500" spc="-50">
                <a:latin typeface="Tahoma"/>
                <a:cs typeface="Tahoma"/>
              </a:rPr>
              <a:t>5</a:t>
            </a:r>
            <a:r>
              <a:rPr dirty="0" sz="500">
                <a:latin typeface="Tahoma"/>
                <a:cs typeface="Tahoma"/>
              </a:rPr>
              <a:t>	</a:t>
            </a:r>
            <a:r>
              <a:rPr dirty="0" sz="500" spc="-50"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2796" y="2675067"/>
            <a:ext cx="5861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729" algn="l"/>
                <a:tab pos="535940" algn="l"/>
              </a:tabLst>
            </a:pPr>
            <a:r>
              <a:rPr dirty="0" sz="700" spc="25">
                <a:latin typeface="Tahoma"/>
                <a:cs typeface="Tahoma"/>
              </a:rPr>
              <a:t>(</a:t>
            </a:r>
            <a:r>
              <a:rPr dirty="0" sz="700" spc="25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40">
                <a:latin typeface="Lucida Sans Unicode"/>
                <a:cs typeface="Lucida Sans Unicode"/>
              </a:rPr>
              <a:t>−</a:t>
            </a:r>
            <a:r>
              <a:rPr dirty="0" sz="700" spc="4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	</a:t>
            </a:r>
            <a:r>
              <a:rPr dirty="0" sz="700" spc="-5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575496" y="2811056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5" h="0">
                <a:moveTo>
                  <a:pt x="0" y="0"/>
                </a:moveTo>
                <a:lnTo>
                  <a:pt x="56031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778010" y="2785061"/>
            <a:ext cx="147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55">
                <a:latin typeface="Tahoma"/>
                <a:cs typeface="Tahoma"/>
              </a:rPr>
              <a:t>∆</a:t>
            </a:r>
            <a:r>
              <a:rPr dirty="0" sz="700" spc="55" i="1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38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138284" y="2703466"/>
            <a:ext cx="3295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1934" y="2949656"/>
            <a:ext cx="1413510" cy="20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85"/>
              </a:lnSpc>
              <a:spcBef>
                <a:spcPts val="95"/>
              </a:spcBef>
            </a:pPr>
            <a:r>
              <a:rPr dirty="0" sz="1000" spc="-40">
                <a:latin typeface="Tahoma"/>
                <a:cs typeface="Tahoma"/>
              </a:rPr>
              <a:t>Hence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89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55" i="1">
                <a:latin typeface="Arial"/>
                <a:cs typeface="Arial"/>
              </a:rPr>
              <a:t>T</a:t>
            </a:r>
            <a:r>
              <a:rPr dirty="0" baseline="31746" sz="1050" spc="82" i="1">
                <a:latin typeface="Arial"/>
                <a:cs typeface="Arial"/>
              </a:rPr>
              <a:t>n</a:t>
            </a:r>
            <a:r>
              <a:rPr dirty="0" baseline="31746" sz="1050" spc="82">
                <a:latin typeface="Tahoma"/>
                <a:cs typeface="Tahoma"/>
              </a:rPr>
              <a:t>+1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502284">
              <a:lnSpc>
                <a:spcPts val="525"/>
              </a:lnSpc>
              <a:tabLst>
                <a:tab pos="936625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6128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96404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377836"/>
            <a:ext cx="3320415" cy="51180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27559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using Gauss-</a:t>
            </a:r>
            <a:r>
              <a:rPr dirty="0" sz="1100" spc="-25">
                <a:latin typeface="Tahoma"/>
                <a:cs typeface="Tahoma"/>
              </a:rPr>
              <a:t>Elimination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Method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0"/>
              </a:spcBef>
            </a:pPr>
            <a:r>
              <a:rPr dirty="0" sz="1000" spc="6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equations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25">
                <a:latin typeface="Tahoma"/>
                <a:cs typeface="Tahoma"/>
              </a:rPr>
              <a:t> as: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1792" y="937110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634" y="864138"/>
            <a:ext cx="15716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 </a:t>
            </a:r>
            <a:r>
              <a:rPr dirty="0" sz="1000" spc="-30">
                <a:latin typeface="Tahoma"/>
                <a:cs typeface="Tahoma"/>
              </a:rPr>
              <a:t>level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>
                <a:latin typeface="Tahoma"/>
                <a:cs typeface="Tahoma"/>
              </a:rPr>
              <a:t>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|</a:t>
            </a:r>
            <a:r>
              <a:rPr dirty="0" baseline="27777" sz="1050" i="1">
                <a:latin typeface="Arial"/>
                <a:cs typeface="Arial"/>
              </a:rPr>
              <a:t>n</a:t>
            </a:r>
            <a:r>
              <a:rPr dirty="0" baseline="27777" sz="1050" spc="179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9070" y="1008143"/>
            <a:ext cx="2479040" cy="464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5880">
              <a:lnSpc>
                <a:spcPts val="1095"/>
              </a:lnSpc>
              <a:spcBef>
                <a:spcPts val="95"/>
              </a:spcBef>
            </a:pP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135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=</a:t>
            </a:r>
            <a:r>
              <a:rPr dirty="0" baseline="-22222" sz="1500" spc="-7">
                <a:latin typeface="Tahoma"/>
                <a:cs typeface="Tahoma"/>
              </a:rPr>
              <a:t> </a:t>
            </a:r>
            <a:r>
              <a:rPr dirty="0" baseline="-22222" sz="1500" spc="-37" i="1">
                <a:latin typeface="Arial"/>
                <a:cs typeface="Arial"/>
              </a:rPr>
              <a:t>T</a:t>
            </a:r>
            <a:r>
              <a:rPr dirty="0" baseline="-43650" sz="1050" spc="-37">
                <a:latin typeface="Tahoma"/>
                <a:cs typeface="Tahoma"/>
              </a:rPr>
              <a:t>0</a:t>
            </a:r>
            <a:endParaRPr baseline="-43650" sz="1050">
              <a:latin typeface="Tahoma"/>
              <a:cs typeface="Tahoma"/>
            </a:endParaRPr>
          </a:p>
          <a:p>
            <a:pPr algn="r" marR="504190">
              <a:lnSpc>
                <a:spcPts val="735"/>
              </a:lnSpc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  <a:p>
            <a:pPr marL="63500">
              <a:lnSpc>
                <a:spcPts val="885"/>
              </a:lnSpc>
              <a:spcBef>
                <a:spcPts val="21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26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31746" sz="1050" spc="97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  <a:p>
            <a:pPr marL="379730">
              <a:lnSpc>
                <a:spcPts val="525"/>
              </a:lnSpc>
              <a:tabLst>
                <a:tab pos="1333500" algn="l"/>
                <a:tab pos="1899285" algn="l"/>
                <a:tab pos="2348230" algn="l"/>
              </a:tabLst>
            </a:pP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2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1770" y="1475135"/>
            <a:ext cx="2452370" cy="20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85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26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31746" sz="1050" spc="97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  <a:p>
            <a:pPr marL="367030">
              <a:lnSpc>
                <a:spcPts val="525"/>
              </a:lnSpc>
              <a:tabLst>
                <a:tab pos="1320800" algn="l"/>
                <a:tab pos="1886585" algn="l"/>
                <a:tab pos="2335530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3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4470" y="1682221"/>
            <a:ext cx="2426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i="1">
                <a:latin typeface="Arial"/>
                <a:cs typeface="Arial"/>
              </a:rPr>
              <a:t>Fo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165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Arial"/>
                <a:cs typeface="Arial"/>
              </a:rPr>
              <a:t>FoT</a:t>
            </a:r>
            <a:r>
              <a:rPr dirty="0" baseline="31746" sz="1050" i="1">
                <a:latin typeface="Arial"/>
                <a:cs typeface="Arial"/>
              </a:rPr>
              <a:t>n</a:t>
            </a:r>
            <a:r>
              <a:rPr dirty="0" baseline="31746" sz="1050">
                <a:latin typeface="Tahoma"/>
                <a:cs typeface="Tahoma"/>
              </a:rPr>
              <a:t>+1</a:t>
            </a:r>
            <a:r>
              <a:rPr dirty="0" baseline="31746" sz="1050" spc="262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65" i="1">
                <a:latin typeface="Arial"/>
                <a:cs typeface="Arial"/>
              </a:rPr>
              <a:t>T</a:t>
            </a:r>
            <a:r>
              <a:rPr dirty="0" baseline="31746" sz="1050" spc="97" i="1">
                <a:latin typeface="Arial"/>
                <a:cs typeface="Arial"/>
              </a:rPr>
              <a:t>n</a:t>
            </a:r>
            <a:endParaRPr baseline="31746"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6189" y="1754964"/>
            <a:ext cx="20415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66469" algn="l"/>
                <a:tab pos="1532255" algn="l"/>
                <a:tab pos="1980564" algn="l"/>
              </a:tabLst>
            </a:pP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baseline="3968" sz="1050" spc="-75">
                <a:latin typeface="Tahoma"/>
                <a:cs typeface="Tahoma"/>
              </a:rPr>
              <a:t>4</a:t>
            </a:r>
            <a:endParaRPr baseline="3968" sz="10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334" y="1836514"/>
            <a:ext cx="3819525" cy="442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58670">
              <a:lnSpc>
                <a:spcPts val="1095"/>
              </a:lnSpc>
              <a:spcBef>
                <a:spcPts val="95"/>
              </a:spcBef>
            </a:pPr>
            <a:r>
              <a:rPr dirty="0" baseline="-22222" sz="1500">
                <a:latin typeface="Lucida Sans Unicode"/>
                <a:cs typeface="Lucida Sans Unicode"/>
              </a:rPr>
              <a:t>−</a:t>
            </a:r>
            <a:r>
              <a:rPr dirty="0" baseline="-22222" sz="1500" i="1">
                <a:latin typeface="Arial"/>
                <a:cs typeface="Arial"/>
              </a:rPr>
              <a:t>T</a:t>
            </a:r>
            <a:r>
              <a:rPr dirty="0" sz="700" i="1">
                <a:latin typeface="Arial"/>
                <a:cs typeface="Arial"/>
              </a:rPr>
              <a:t>n</a:t>
            </a:r>
            <a:r>
              <a:rPr dirty="0" sz="700">
                <a:latin typeface="Tahoma"/>
                <a:cs typeface="Tahoma"/>
              </a:rPr>
              <a:t>+1</a:t>
            </a:r>
            <a:r>
              <a:rPr dirty="0" sz="700" spc="125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+</a:t>
            </a:r>
            <a:r>
              <a:rPr dirty="0" baseline="-22222" sz="1500" spc="-52">
                <a:latin typeface="Tahoma"/>
                <a:cs typeface="Tahoma"/>
              </a:rPr>
              <a:t> </a:t>
            </a:r>
            <a:r>
              <a:rPr dirty="0" baseline="-22222" sz="1500" spc="82" i="1">
                <a:latin typeface="Arial"/>
                <a:cs typeface="Arial"/>
              </a:rPr>
              <a:t>T</a:t>
            </a:r>
            <a:r>
              <a:rPr dirty="0" sz="700" spc="55" i="1">
                <a:latin typeface="Arial"/>
                <a:cs typeface="Arial"/>
              </a:rPr>
              <a:t>n</a:t>
            </a:r>
            <a:r>
              <a:rPr dirty="0" sz="700" spc="55">
                <a:latin typeface="Tahoma"/>
                <a:cs typeface="Tahoma"/>
              </a:rPr>
              <a:t>+1</a:t>
            </a:r>
            <a:r>
              <a:rPr dirty="0" sz="700" spc="200">
                <a:latin typeface="Tahoma"/>
                <a:cs typeface="Tahoma"/>
              </a:rPr>
              <a:t> </a:t>
            </a:r>
            <a:r>
              <a:rPr dirty="0" baseline="-22222" sz="1500">
                <a:latin typeface="Tahoma"/>
                <a:cs typeface="Tahoma"/>
              </a:rPr>
              <a:t>=</a:t>
            </a:r>
            <a:r>
              <a:rPr dirty="0" baseline="-22222" sz="1500" spc="67">
                <a:latin typeface="Tahoma"/>
                <a:cs typeface="Tahoma"/>
              </a:rPr>
              <a:t> </a:t>
            </a:r>
            <a:r>
              <a:rPr dirty="0" baseline="-22222" sz="1500" spc="-75">
                <a:latin typeface="Tahoma"/>
                <a:cs typeface="Tahoma"/>
              </a:rPr>
              <a:t>0</a:t>
            </a:r>
            <a:endParaRPr baseline="-22222" sz="1500">
              <a:latin typeface="Tahoma"/>
              <a:cs typeface="Tahoma"/>
            </a:endParaRPr>
          </a:p>
          <a:p>
            <a:pPr marL="2243455">
              <a:lnSpc>
                <a:spcPts val="735"/>
              </a:lnSpc>
              <a:tabLst>
                <a:tab pos="2677795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254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35">
                <a:latin typeface="Tahoma"/>
                <a:cs typeface="Tahoma"/>
              </a:rPr>
              <a:t> equations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first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form: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1830" y="1474081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(28)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185670"/>
            <a:ext cx="52590" cy="5259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80034" y="2253391"/>
            <a:ext cx="6369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latin typeface="Tahoma"/>
                <a:cs typeface="Tahoma"/>
              </a:rPr>
              <a:t>[</a:t>
            </a:r>
            <a:r>
              <a:rPr dirty="0" sz="1000" spc="-75" i="1">
                <a:latin typeface="Arial"/>
                <a:cs typeface="Arial"/>
              </a:rPr>
              <a:t>A</a:t>
            </a:r>
            <a:r>
              <a:rPr dirty="0" sz="1000" spc="-75">
                <a:latin typeface="Tahoma"/>
                <a:cs typeface="Tahoma"/>
              </a:rPr>
              <a:t>][</a:t>
            </a:r>
            <a:r>
              <a:rPr dirty="0" sz="1000" spc="-75" i="1">
                <a:latin typeface="Arial"/>
                <a:cs typeface="Arial"/>
              </a:rPr>
              <a:t>x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>
                <a:latin typeface="Tahoma"/>
                <a:cs typeface="Tahoma"/>
              </a:rPr>
              <a:t> = </a:t>
            </a:r>
            <a:r>
              <a:rPr dirty="0" sz="1000" spc="-50">
                <a:latin typeface="Tahoma"/>
                <a:cs typeface="Tahoma"/>
              </a:rPr>
              <a:t>[</a:t>
            </a:r>
            <a:r>
              <a:rPr dirty="0" sz="1000" spc="-50" i="1">
                <a:latin typeface="Arial"/>
                <a:cs typeface="Arial"/>
              </a:rPr>
              <a:t>b</a:t>
            </a:r>
            <a:r>
              <a:rPr dirty="0" sz="1000" spc="-50">
                <a:latin typeface="Tahoma"/>
                <a:cs typeface="Tahoma"/>
              </a:rPr>
              <a:t>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38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7277" y="250326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7277" y="257918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7277" y="2655092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7277" y="2731013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7277" y="2811988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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9286" y="2381801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57997" y="2381801"/>
            <a:ext cx="452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baseline="2777" sz="1500" spc="15" i="1">
                <a:latin typeface="Arial"/>
                <a:cs typeface="Arial"/>
              </a:rPr>
              <a:t>T</a:t>
            </a:r>
            <a:endParaRPr baseline="2777"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01694" y="2359980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84778" y="244757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57982" y="2533629"/>
            <a:ext cx="452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1694" y="2516456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84778" y="2604048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1694" y="2672933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61631" y="2381801"/>
            <a:ext cx="2548890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6260">
              <a:lnSpc>
                <a:spcPts val="1200"/>
              </a:lnSpc>
              <a:spcBef>
                <a:spcPts val="95"/>
              </a:spcBef>
              <a:tabLst>
                <a:tab pos="1104265" algn="l"/>
                <a:tab pos="165227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95"/>
              </a:lnSpc>
              <a:tabLst>
                <a:tab pos="377190" algn="l"/>
                <a:tab pos="1016635" algn="l"/>
                <a:tab pos="165227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00330">
              <a:lnSpc>
                <a:spcPts val="1200"/>
              </a:lnSpc>
              <a:tabLst>
                <a:tab pos="468630" algn="l"/>
                <a:tab pos="925194" algn="l"/>
                <a:tab pos="156464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  <a:p>
            <a:pPr marL="100330">
              <a:lnSpc>
                <a:spcPts val="1170"/>
              </a:lnSpc>
              <a:spcBef>
                <a:spcPts val="50"/>
              </a:spcBef>
              <a:tabLst>
                <a:tab pos="556260" algn="l"/>
                <a:tab pos="1016635" algn="l"/>
                <a:tab pos="1473200" algn="l"/>
                <a:tab pos="2021205" algn="l"/>
                <a:tab pos="2449195" algn="l"/>
              </a:tabLst>
            </a:pPr>
            <a:r>
              <a:rPr dirty="0" baseline="2777" sz="1500" spc="-75">
                <a:latin typeface="Tahoma"/>
                <a:cs typeface="Tahoma"/>
              </a:rPr>
              <a:t>0</a:t>
            </a:r>
            <a:r>
              <a:rPr dirty="0" baseline="2777" sz="1500">
                <a:latin typeface="Tahoma"/>
                <a:cs typeface="Tahoma"/>
              </a:rPr>
              <a:t>	</a:t>
            </a:r>
            <a:r>
              <a:rPr dirty="0" baseline="2777" sz="1500" spc="-75">
                <a:latin typeface="Tahoma"/>
                <a:cs typeface="Tahoma"/>
              </a:rPr>
              <a:t>0</a:t>
            </a:r>
            <a:r>
              <a:rPr dirty="0" baseline="2777" sz="1500">
                <a:latin typeface="Tahoma"/>
                <a:cs typeface="Tahoma"/>
              </a:rPr>
              <a:t>	</a:t>
            </a:r>
            <a:r>
              <a:rPr dirty="0" baseline="2777" sz="1500" spc="-37">
                <a:latin typeface="Lucida Sans Unicode"/>
                <a:cs typeface="Lucida Sans Unicode"/>
              </a:rPr>
              <a:t>−</a:t>
            </a:r>
            <a:r>
              <a:rPr dirty="0" baseline="2777" sz="1500" spc="-37" i="1">
                <a:latin typeface="Arial"/>
                <a:cs typeface="Arial"/>
              </a:rPr>
              <a:t>Fo</a:t>
            </a:r>
            <a:r>
              <a:rPr dirty="0" baseline="2777" sz="1500" i="1">
                <a:latin typeface="Arial"/>
                <a:cs typeface="Arial"/>
              </a:rPr>
              <a:t>	</a:t>
            </a:r>
            <a:r>
              <a:rPr dirty="0" baseline="2777" sz="1500" spc="-82">
                <a:latin typeface="Tahoma"/>
                <a:cs typeface="Tahoma"/>
              </a:rPr>
              <a:t>1</a:t>
            </a:r>
            <a:r>
              <a:rPr dirty="0" baseline="2777" sz="1500" spc="-112">
                <a:latin typeface="Tahoma"/>
                <a:cs typeface="Tahoma"/>
              </a:rPr>
              <a:t> </a:t>
            </a:r>
            <a:r>
              <a:rPr dirty="0" baseline="2777" sz="1500">
                <a:latin typeface="Tahoma"/>
                <a:cs typeface="Tahoma"/>
              </a:rPr>
              <a:t>+</a:t>
            </a:r>
            <a:r>
              <a:rPr dirty="0" baseline="2777" sz="1500" spc="-112">
                <a:latin typeface="Tahoma"/>
                <a:cs typeface="Tahoma"/>
              </a:rPr>
              <a:t> </a:t>
            </a:r>
            <a:r>
              <a:rPr dirty="0" baseline="2777" sz="1500" spc="-37">
                <a:latin typeface="Tahoma"/>
                <a:cs typeface="Tahoma"/>
              </a:rPr>
              <a:t>2</a:t>
            </a:r>
            <a:r>
              <a:rPr dirty="0" baseline="2777" sz="1500" spc="-37" i="1">
                <a:latin typeface="Arial"/>
                <a:cs typeface="Arial"/>
              </a:rPr>
              <a:t>Fo</a:t>
            </a:r>
            <a:r>
              <a:rPr dirty="0" baseline="2777" sz="1500" i="1">
                <a:latin typeface="Arial"/>
                <a:cs typeface="Arial"/>
              </a:rPr>
              <a:t>	</a:t>
            </a:r>
            <a:r>
              <a:rPr dirty="0" baseline="2777" sz="1500" spc="-37">
                <a:latin typeface="Lucida Sans Unicode"/>
                <a:cs typeface="Lucida Sans Unicode"/>
              </a:rPr>
              <a:t>−</a:t>
            </a:r>
            <a:r>
              <a:rPr dirty="0" baseline="2777" sz="1500" spc="-37" i="1">
                <a:latin typeface="Arial"/>
                <a:cs typeface="Arial"/>
              </a:rPr>
              <a:t>Fo</a:t>
            </a:r>
            <a:r>
              <a:rPr dirty="0" baseline="2777" sz="1500" i="1">
                <a:latin typeface="Arial"/>
                <a:cs typeface="Arial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100330">
              <a:lnSpc>
                <a:spcPts val="1170"/>
              </a:lnSpc>
              <a:tabLst>
                <a:tab pos="556260" algn="l"/>
                <a:tab pos="1104265" algn="l"/>
                <a:tab pos="1602740" algn="l"/>
                <a:tab pos="210883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01694" y="2829410"/>
            <a:ext cx="196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latin typeface="Arial"/>
                <a:cs typeface="Arial"/>
              </a:rPr>
              <a:t>n</a:t>
            </a:r>
            <a:r>
              <a:rPr dirty="0" sz="700" spc="-2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84778" y="291700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73272" y="2947941"/>
            <a:ext cx="349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52" i="1">
                <a:latin typeface="Arial"/>
                <a:cs typeface="Arial"/>
              </a:rPr>
              <a:t>T</a:t>
            </a:r>
            <a:r>
              <a:rPr dirty="0" sz="700" spc="35" i="1">
                <a:latin typeface="Arial"/>
                <a:cs typeface="Arial"/>
              </a:rPr>
              <a:t>n</a:t>
            </a:r>
            <a:r>
              <a:rPr dirty="0" sz="700" spc="35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84778" y="3073491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08883" y="2503264"/>
            <a:ext cx="8324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1965" algn="l"/>
                <a:tab pos="73469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40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25696" y="2381801"/>
            <a:ext cx="111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11802" y="243873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5727" y="2533629"/>
            <a:ext cx="111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18762" y="2525677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01846" y="260403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57956" y="2687782"/>
            <a:ext cx="10693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  <a:tab pos="752475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75">
                <a:latin typeface="Tahoma"/>
                <a:cs typeface="Tahoma"/>
              </a:rPr>
              <a:t>  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18762" y="2677505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01846" y="2755864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15727" y="2837286"/>
            <a:ext cx="111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18762" y="2829334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01846" y="2907705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63809" y="2989128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7277" y="2280569"/>
            <a:ext cx="34080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43785" algn="l"/>
                <a:tab pos="2813685" algn="l"/>
                <a:tab pos="3066415" algn="l"/>
                <a:tab pos="3310254" algn="l"/>
              </a:tabLst>
            </a:pPr>
            <a:r>
              <a:rPr dirty="0" sz="1000" spc="-390">
                <a:latin typeface="Lucida Sans Unicode"/>
                <a:cs typeface="Lucida Sans Unicode"/>
              </a:rPr>
              <a:t>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40">
                <a:latin typeface="Lucida Sans Unicode"/>
                <a:cs typeface="Lucida Sans Unicode"/>
              </a:rPr>
              <a:t>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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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75150" y="250326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08883" y="2579184"/>
            <a:ext cx="1076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1965" algn="l"/>
                <a:tab pos="734695" algn="l"/>
                <a:tab pos="97853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40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08883" y="2655092"/>
            <a:ext cx="1076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1965" algn="l"/>
                <a:tab pos="734695" algn="l"/>
                <a:tab pos="97853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40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08883" y="2731013"/>
            <a:ext cx="1076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1965" algn="l"/>
                <a:tab pos="734695" algn="l"/>
                <a:tab pos="97853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40">
                <a:latin typeface="Lucida Sans Unicode"/>
                <a:cs typeface="Lucida Sans Unicode"/>
              </a:rPr>
              <a:t></a:t>
            </a:r>
            <a:r>
              <a:rPr dirty="0" sz="1000" spc="355">
                <a:latin typeface="Lucida Sans Unicode"/>
                <a:cs typeface="Lucida Sans Unicode"/>
              </a:rPr>
              <a:t> </a:t>
            </a:r>
            <a:r>
              <a:rPr dirty="0" baseline="3968" sz="1050" spc="-89">
                <a:latin typeface="Tahoma"/>
                <a:cs typeface="Tahoma"/>
              </a:rPr>
              <a:t>3</a:t>
            </a:r>
            <a:r>
              <a:rPr dirty="0" baseline="3968" sz="1050">
                <a:latin typeface="Tahoma"/>
                <a:cs typeface="Tahoma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208883" y="2811988"/>
            <a:ext cx="1076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1965" algn="l"/>
                <a:tab pos="734695" algn="l"/>
                <a:tab pos="97853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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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400">
                <a:latin typeface="Lucida Sans Unicode"/>
                <a:cs typeface="Lucida Sans Unicode"/>
              </a:rPr>
              <a:t>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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</a:t>
            </a:r>
            <a:endParaRPr sz="1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42526" y="3248732"/>
            <a:ext cx="203200" cy="55880"/>
            <a:chOff x="3242526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0569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4252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17976" y="3247467"/>
            <a:ext cx="203200" cy="58419"/>
            <a:chOff x="3517976" y="3247467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06877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1797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94177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93439" y="3257613"/>
            <a:ext cx="203200" cy="48260"/>
            <a:chOff x="3793439" y="3257613"/>
            <a:chExt cx="203200" cy="48260"/>
          </a:xfrm>
        </p:grpSpPr>
        <p:sp>
          <p:nvSpPr>
            <p:cNvPr id="13" name="object 13"/>
            <p:cNvSpPr/>
            <p:nvPr/>
          </p:nvSpPr>
          <p:spPr>
            <a:xfrm>
              <a:off x="3793439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69640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4145090" y="327666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12700" y="0"/>
                </a:moveTo>
                <a:lnTo>
                  <a:pt x="50800" y="0"/>
                </a:lnTo>
              </a:path>
              <a:path w="50800" h="25400">
                <a:moveTo>
                  <a:pt x="0" y="12700"/>
                </a:moveTo>
                <a:lnTo>
                  <a:pt x="381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7" name="object 17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64870"/>
            <a:ext cx="65265" cy="652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02030"/>
            <a:ext cx="52590" cy="5259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02932" y="381417"/>
            <a:ext cx="3320415" cy="5143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27559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using Gauss-</a:t>
            </a:r>
            <a:r>
              <a:rPr dirty="0" sz="1100" spc="-25">
                <a:latin typeface="Tahoma"/>
                <a:cs typeface="Tahoma"/>
              </a:rPr>
              <a:t>Elimination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Method,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14"/>
              </a:spcBef>
            </a:pPr>
            <a:r>
              <a:rPr dirty="0" sz="1000" spc="6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equations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25">
                <a:latin typeface="Tahoma"/>
                <a:cs typeface="Tahoma"/>
              </a:rPr>
              <a:t> as: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73757" y="942736"/>
            <a:ext cx="482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4634" y="869751"/>
            <a:ext cx="18008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level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n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⇒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sz="1000" spc="-10">
                <a:latin typeface="Lucida Sans Unicode"/>
                <a:cs typeface="Lucida Sans Unicode"/>
              </a:rPr>
              <a:t>|</a:t>
            </a:r>
            <a:r>
              <a:rPr dirty="0" baseline="27777" sz="1050" spc="-15">
                <a:latin typeface="Tahoma"/>
                <a:cs typeface="Tahoma"/>
              </a:rPr>
              <a:t>0</a:t>
            </a:r>
            <a:r>
              <a:rPr dirty="0" baseline="27777" sz="1050" spc="12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 i="1">
                <a:latin typeface="Arial"/>
                <a:cs typeface="Arial"/>
              </a:rPr>
              <a:t>i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93122" y="1140361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81616" y="1071123"/>
            <a:ext cx="534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79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48155" y="1277650"/>
            <a:ext cx="2080895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-30">
                <a:latin typeface="Lucida Sans Unicode"/>
                <a:cs typeface="Lucida Sans Unicode"/>
              </a:rPr>
              <a:t>−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97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0</a:t>
            </a:r>
            <a:endParaRPr baseline="31746" sz="1050">
              <a:latin typeface="Tahoma"/>
              <a:cs typeface="Tahoma"/>
            </a:endParaRPr>
          </a:p>
          <a:p>
            <a:pPr marL="367030">
              <a:lnSpc>
                <a:spcPts val="515"/>
              </a:lnSpc>
              <a:tabLst>
                <a:tab pos="1197610" algn="l"/>
                <a:tab pos="1640205" algn="l"/>
                <a:tab pos="1965325" algn="l"/>
              </a:tabLst>
            </a:pPr>
            <a:r>
              <a:rPr dirty="0" sz="700" spc="-50">
                <a:latin typeface="Tahoma"/>
                <a:cs typeface="Tahoma"/>
              </a:rPr>
              <a:t>1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48155" y="1484165"/>
            <a:ext cx="2080895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-30">
                <a:latin typeface="Lucida Sans Unicode"/>
                <a:cs typeface="Lucida Sans Unicode"/>
              </a:rPr>
              <a:t>−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97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0</a:t>
            </a:r>
            <a:endParaRPr baseline="31746" sz="1050">
              <a:latin typeface="Tahoma"/>
              <a:cs typeface="Tahoma"/>
            </a:endParaRPr>
          </a:p>
          <a:p>
            <a:pPr marL="367030">
              <a:lnSpc>
                <a:spcPts val="515"/>
              </a:lnSpc>
              <a:tabLst>
                <a:tab pos="1197610" algn="l"/>
                <a:tab pos="1640205" algn="l"/>
                <a:tab pos="1965325" algn="l"/>
              </a:tabLst>
            </a:pPr>
            <a:r>
              <a:rPr dirty="0" sz="700" spc="-50">
                <a:latin typeface="Tahoma"/>
                <a:cs typeface="Tahoma"/>
              </a:rPr>
              <a:t>2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48168" y="1690692"/>
            <a:ext cx="2080895" cy="20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875"/>
              </a:lnSpc>
              <a:spcBef>
                <a:spcPts val="95"/>
              </a:spcBef>
            </a:pPr>
            <a:r>
              <a:rPr dirty="0" sz="1000" spc="-30">
                <a:latin typeface="Lucida Sans Unicode"/>
                <a:cs typeface="Lucida Sans Unicode"/>
              </a:rPr>
              <a:t>−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04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2</a:t>
            </a:r>
            <a:r>
              <a:rPr dirty="0" sz="1000" spc="-20" i="1">
                <a:latin typeface="Arial"/>
                <a:cs typeface="Arial"/>
              </a:rPr>
              <a:t>Fo</a:t>
            </a:r>
            <a:r>
              <a:rPr dirty="0" sz="1000" spc="-20">
                <a:latin typeface="Tahoma"/>
                <a:cs typeface="Tahoma"/>
              </a:rPr>
              <a:t>)</a:t>
            </a:r>
            <a:r>
              <a:rPr dirty="0" sz="1000" spc="-2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97">
                <a:latin typeface="Tahoma"/>
                <a:cs typeface="Tahom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−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30" i="1">
                <a:latin typeface="Arial"/>
                <a:cs typeface="Arial"/>
              </a:rPr>
              <a:t>FoT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35" i="1">
                <a:latin typeface="Arial"/>
                <a:cs typeface="Arial"/>
              </a:rPr>
              <a:t> </a:t>
            </a:r>
            <a:r>
              <a:rPr dirty="0" baseline="31746" sz="1050" spc="-75">
                <a:latin typeface="Tahoma"/>
                <a:cs typeface="Tahoma"/>
              </a:rPr>
              <a:t>0</a:t>
            </a:r>
            <a:endParaRPr baseline="31746" sz="1050">
              <a:latin typeface="Tahoma"/>
              <a:cs typeface="Tahoma"/>
            </a:endParaRPr>
          </a:p>
          <a:p>
            <a:pPr marL="367030">
              <a:lnSpc>
                <a:spcPts val="515"/>
              </a:lnSpc>
              <a:tabLst>
                <a:tab pos="1197610" algn="l"/>
                <a:tab pos="1640205" algn="l"/>
                <a:tab pos="1965325" algn="l"/>
              </a:tabLst>
            </a:pPr>
            <a:r>
              <a:rPr dirty="0" sz="700" spc="-50">
                <a:latin typeface="Tahoma"/>
                <a:cs typeface="Tahoma"/>
              </a:rPr>
              <a:t>3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48381" y="1897220"/>
            <a:ext cx="87439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Lucida Sans Unicode"/>
                <a:cs typeface="Lucida Sans Unicode"/>
              </a:rPr>
              <a:t>−</a:t>
            </a:r>
            <a:r>
              <a:rPr dirty="0" sz="100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9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0" i="1">
                <a:latin typeface="Arial"/>
                <a:cs typeface="Arial"/>
              </a:rPr>
              <a:t> </a:t>
            </a:r>
            <a:r>
              <a:rPr dirty="0" baseline="31746" sz="1050">
                <a:latin typeface="Tahoma"/>
                <a:cs typeface="Tahoma"/>
              </a:rPr>
              <a:t>1</a:t>
            </a:r>
            <a:r>
              <a:rPr dirty="0" baseline="31746" sz="1050" spc="187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0034" y="1937168"/>
            <a:ext cx="3794125" cy="35496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290445">
              <a:lnSpc>
                <a:spcPct val="100000"/>
              </a:lnSpc>
              <a:spcBef>
                <a:spcPts val="325"/>
              </a:spcBef>
              <a:tabLst>
                <a:tab pos="2601595" algn="l"/>
              </a:tabLst>
            </a:pPr>
            <a:r>
              <a:rPr dirty="0" sz="700" spc="-50">
                <a:latin typeface="Tahoma"/>
                <a:cs typeface="Tahoma"/>
              </a:rPr>
              <a:t>4</a:t>
            </a:r>
            <a:r>
              <a:rPr dirty="0" sz="700">
                <a:latin typeface="Tahoma"/>
                <a:cs typeface="Tahoma"/>
              </a:rPr>
              <a:t>	</a:t>
            </a: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finite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difference</a:t>
            </a:r>
            <a:r>
              <a:rPr dirty="0" sz="1000" spc="-35">
                <a:latin typeface="Tahoma"/>
                <a:cs typeface="Tahoma"/>
              </a:rPr>
              <a:t> equations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first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written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form: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31817" y="1483390"/>
            <a:ext cx="250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(29)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198687"/>
            <a:ext cx="52590" cy="5259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80034" y="2266409"/>
            <a:ext cx="6369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latin typeface="Tahoma"/>
                <a:cs typeface="Tahoma"/>
              </a:rPr>
              <a:t>[</a:t>
            </a:r>
            <a:r>
              <a:rPr dirty="0" sz="1000" spc="-75" i="1">
                <a:latin typeface="Arial"/>
                <a:cs typeface="Arial"/>
              </a:rPr>
              <a:t>A</a:t>
            </a:r>
            <a:r>
              <a:rPr dirty="0" sz="1000" spc="-75">
                <a:latin typeface="Tahoma"/>
                <a:cs typeface="Tahoma"/>
              </a:rPr>
              <a:t>][</a:t>
            </a:r>
            <a:r>
              <a:rPr dirty="0" sz="1000" spc="-75" i="1">
                <a:latin typeface="Arial"/>
                <a:cs typeface="Arial"/>
              </a:rPr>
              <a:t>x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>
                <a:latin typeface="Tahoma"/>
                <a:cs typeface="Tahoma"/>
              </a:rPr>
              <a:t> = </a:t>
            </a:r>
            <a:r>
              <a:rPr dirty="0" sz="1000" spc="-50">
                <a:latin typeface="Tahoma"/>
                <a:cs typeface="Tahoma"/>
              </a:rPr>
              <a:t>[</a:t>
            </a:r>
            <a:r>
              <a:rPr dirty="0" sz="1000" spc="-50" i="1">
                <a:latin typeface="Arial"/>
                <a:cs typeface="Arial"/>
              </a:rPr>
              <a:t>b</a:t>
            </a:r>
            <a:r>
              <a:rPr dirty="0" sz="1000" spc="-50">
                <a:latin typeface="Tahoma"/>
                <a:cs typeface="Tahoma"/>
              </a:rPr>
              <a:t>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44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940422" y="228708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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0422" y="250976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0422" y="258568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40422" y="266160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40422" y="2737515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40422" y="2818490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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12431" y="2388303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24775" y="2388303"/>
            <a:ext cx="189928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6260">
              <a:lnSpc>
                <a:spcPts val="1200"/>
              </a:lnSpc>
              <a:spcBef>
                <a:spcPts val="95"/>
              </a:spcBef>
              <a:tabLst>
                <a:tab pos="1104265" algn="l"/>
                <a:tab pos="165227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95"/>
              </a:lnSpc>
              <a:tabLst>
                <a:tab pos="377190" algn="l"/>
                <a:tab pos="1016635" algn="l"/>
                <a:tab pos="165227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00330">
              <a:lnSpc>
                <a:spcPts val="1195"/>
              </a:lnSpc>
              <a:tabLst>
                <a:tab pos="468630" algn="l"/>
                <a:tab pos="925194" algn="l"/>
                <a:tab pos="156464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  <a:p>
            <a:pPr marL="100330">
              <a:lnSpc>
                <a:spcPts val="1195"/>
              </a:lnSpc>
              <a:tabLst>
                <a:tab pos="556260" algn="l"/>
                <a:tab pos="1016635" algn="l"/>
                <a:tab pos="147320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2</a:t>
            </a: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  <a:p>
            <a:pPr marL="100330">
              <a:lnSpc>
                <a:spcPts val="1200"/>
              </a:lnSpc>
              <a:tabLst>
                <a:tab pos="556260" algn="l"/>
                <a:tab pos="1104265" algn="l"/>
                <a:tab pos="160274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21108" y="299563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21142" y="2388303"/>
            <a:ext cx="452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64826" y="2380351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47910" y="2458710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21127" y="2540132"/>
            <a:ext cx="452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64826" y="2532179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47910" y="2610551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64826" y="2684007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547910" y="2762379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033445" y="2843801"/>
            <a:ext cx="540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69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64826" y="283583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547910" y="2914208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36404" y="2949719"/>
            <a:ext cx="226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9444" sz="1500" spc="89" i="1">
                <a:latin typeface="Arial"/>
                <a:cs typeface="Arial"/>
              </a:rPr>
              <a:t>T</a:t>
            </a:r>
            <a:r>
              <a:rPr dirty="0" baseline="-19444" sz="1500" spc="-217" i="1">
                <a:latin typeface="Arial"/>
                <a:cs typeface="Arial"/>
              </a:rPr>
              <a:t> </a:t>
            </a:r>
            <a:r>
              <a:rPr dirty="0" sz="700" spc="-5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547910" y="306603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5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272015" y="2509766"/>
            <a:ext cx="7092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775" algn="l"/>
                <a:tab pos="61150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272015" y="2585687"/>
            <a:ext cx="7092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775" algn="l"/>
                <a:tab pos="611505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64063" y="2388303"/>
            <a:ext cx="111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050182" y="2445248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955605" y="2540132"/>
            <a:ext cx="111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058640" y="2532179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041711" y="2610551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121101" y="2693230"/>
            <a:ext cx="946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  <a:tab pos="62865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0" i="1">
                <a:latin typeface="Arial"/>
                <a:cs typeface="Arial"/>
              </a:rPr>
              <a:t>T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75">
                <a:latin typeface="Tahoma"/>
                <a:cs typeface="Tahoma"/>
              </a:rPr>
              <a:t>  </a:t>
            </a: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058640" y="2684007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041711" y="2762379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955605" y="2843801"/>
            <a:ext cx="111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i="1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58640" y="283583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41711" y="2914208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002176" y="2995630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272015" y="2287084"/>
            <a:ext cx="949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775" algn="l"/>
                <a:tab pos="611505" algn="l"/>
                <a:tab pos="852169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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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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12018" y="250976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112018" y="258568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272015" y="2661607"/>
            <a:ext cx="949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775" algn="l"/>
                <a:tab pos="611505" algn="l"/>
                <a:tab pos="852169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272015" y="2737515"/>
            <a:ext cx="949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775" algn="l"/>
                <a:tab pos="611505" algn="l"/>
                <a:tab pos="852169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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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72015" y="2818490"/>
            <a:ext cx="9499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775" algn="l"/>
                <a:tab pos="611505" algn="l"/>
                <a:tab pos="852169" algn="l"/>
              </a:tabLst>
            </a:pPr>
            <a:r>
              <a:rPr dirty="0" sz="1000" spc="-340">
                <a:latin typeface="Lucida Sans Unicode"/>
                <a:cs typeface="Lucida Sans Unicode"/>
              </a:rPr>
              <a:t>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90">
                <a:latin typeface="Lucida Sans Unicode"/>
                <a:cs typeface="Lucida Sans Unicode"/>
              </a:rPr>
              <a:t>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sz="1000" spc="-390">
                <a:latin typeface="Lucida Sans Unicode"/>
                <a:cs typeface="Lucida Sans Unicode"/>
              </a:rPr>
              <a:t>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u="heavy" sz="1000" spc="-390">
                <a:uFill>
                  <a:solidFill>
                    <a:srgbClr val="ADADE0"/>
                  </a:solidFill>
                </a:uFill>
                <a:latin typeface="Lucida Sans Unicode"/>
                <a:cs typeface="Lucida Sans Unicode"/>
              </a:rPr>
              <a:t></a:t>
            </a:r>
            <a:r>
              <a:rPr dirty="0" sz="1000">
                <a:latin typeface="Lucida Sans Unicode"/>
                <a:cs typeface="Lucida Sans Unicode"/>
              </a:rPr>
              <a:t>	</a:t>
            </a:r>
            <a:r>
              <a:rPr dirty="0" u="heavy" sz="1000" spc="-390">
                <a:uFill>
                  <a:solidFill>
                    <a:srgbClr val="ADADE0"/>
                  </a:solidFill>
                </a:uFill>
                <a:latin typeface="Lucida Sans Unicode"/>
                <a:cs typeface="Lucida Sans Unicode"/>
              </a:rPr>
              <a:t></a:t>
            </a:r>
            <a:endParaRPr sz="1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Solution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1-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-60"/>
              <a:t>steady-</a:t>
            </a:r>
            <a:r>
              <a:rPr dirty="0" spc="-30"/>
              <a:t>state</a:t>
            </a:r>
            <a:r>
              <a:rPr dirty="0" spc="-40"/>
              <a:t> </a:t>
            </a:r>
            <a:r>
              <a:rPr dirty="0" spc="-25"/>
              <a:t>heat</a:t>
            </a:r>
            <a:r>
              <a:rPr dirty="0" spc="-40"/>
              <a:t> </a:t>
            </a:r>
            <a:r>
              <a:rPr dirty="0" spc="-35"/>
              <a:t>conduction, </a:t>
            </a:r>
            <a:r>
              <a:rPr dirty="0" spc="-10"/>
              <a:t>Contd...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4499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361555"/>
            <a:ext cx="3049905" cy="34353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dirty="0" sz="1100" spc="-20" b="1">
                <a:latin typeface="Arial"/>
                <a:cs typeface="Arial"/>
              </a:rPr>
              <a:t>Step-</a:t>
            </a:r>
            <a:r>
              <a:rPr dirty="0" sz="1100" b="1">
                <a:latin typeface="Arial"/>
                <a:cs typeface="Arial"/>
              </a:rPr>
              <a:t>V: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Solve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Finite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Equations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using Gauss-</a:t>
            </a:r>
            <a:r>
              <a:rPr dirty="0" sz="1100" spc="-25">
                <a:latin typeface="Tahoma"/>
                <a:cs typeface="Tahoma"/>
              </a:rPr>
              <a:t>Elimination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Method: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Contd...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770813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4634" y="686706"/>
            <a:ext cx="2214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augmented</a:t>
            </a:r>
            <a:r>
              <a:rPr dirty="0" sz="1000" spc="-10">
                <a:latin typeface="Tahoma"/>
                <a:cs typeface="Tahoma"/>
              </a:rPr>
              <a:t> matrix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is:</a:t>
            </a:r>
            <a:r>
              <a:rPr dirty="0" sz="1000" spc="90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[</a:t>
            </a:r>
            <a:r>
              <a:rPr dirty="0" sz="1000" spc="-85" i="1">
                <a:latin typeface="Arial"/>
                <a:cs typeface="Arial"/>
              </a:rPr>
              <a:t>A</a:t>
            </a:r>
            <a:r>
              <a:rPr dirty="0" baseline="27777" sz="1050" spc="-127">
                <a:latin typeface="Lucida Sans Unicode"/>
                <a:cs typeface="Lucida Sans Unicode"/>
              </a:rPr>
              <a:t>∗</a:t>
            </a:r>
            <a:r>
              <a:rPr dirty="0" sz="1000" spc="-85">
                <a:latin typeface="Tahoma"/>
                <a:cs typeface="Tahoma"/>
              </a:rPr>
              <a:t>]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[</a:t>
            </a:r>
            <a:r>
              <a:rPr dirty="0" sz="1000" spc="-45" i="1">
                <a:latin typeface="Arial"/>
                <a:cs typeface="Arial"/>
              </a:rPr>
              <a:t>A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b</a:t>
            </a:r>
            <a:r>
              <a:rPr dirty="0" sz="1000" spc="-25">
                <a:latin typeface="Tahoma"/>
                <a:cs typeface="Tahoma"/>
              </a:rPr>
              <a:t>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8239" y="1142862"/>
            <a:ext cx="774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10">
                <a:latin typeface="Lucida Sans Unicode"/>
                <a:cs typeface="Lucida Sans Unicode"/>
              </a:rPr>
              <a:t>∗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1663" y="97367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1663" y="104959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1663" y="112551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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6263" y="1201425"/>
            <a:ext cx="1606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695">
                <a:latin typeface="Lucida Sans Unicode"/>
                <a:cs typeface="Lucida Sans Unicode"/>
              </a:rPr>
              <a:t></a:t>
            </a:r>
            <a:r>
              <a:rPr dirty="0" baseline="-36111" sz="1500" spc="-1042">
                <a:latin typeface="Lucida Sans Unicode"/>
                <a:cs typeface="Lucida Sans Unicode"/>
              </a:rPr>
              <a:t></a:t>
            </a:r>
            <a:endParaRPr baseline="-36111" sz="15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6263" y="750994"/>
            <a:ext cx="3117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340">
                <a:latin typeface="Lucida Sans Unicode"/>
                <a:cs typeface="Lucida Sans Unicode"/>
              </a:rPr>
              <a:t></a:t>
            </a:r>
            <a:r>
              <a:rPr dirty="0" sz="1000" spc="365">
                <a:latin typeface="Lucida Sans Unicode"/>
                <a:cs typeface="Lucida Sans Unicode"/>
              </a:rPr>
              <a:t> </a:t>
            </a:r>
            <a:r>
              <a:rPr dirty="0" baseline="-44444" sz="1500" spc="-75">
                <a:latin typeface="Tahoma"/>
                <a:cs typeface="Tahoma"/>
              </a:rPr>
              <a:t>1</a:t>
            </a:r>
            <a:endParaRPr baseline="-44444" sz="1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5447" y="852213"/>
            <a:ext cx="3784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1904" sz="1050" spc="-37">
                <a:latin typeface="Tahoma"/>
                <a:cs typeface="Tahoma"/>
              </a:rPr>
              <a:t>0</a:t>
            </a:r>
            <a:endParaRPr baseline="-11904" sz="10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6955" y="1004054"/>
            <a:ext cx="394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27777" sz="1050" spc="-75">
                <a:latin typeface="Tahoma"/>
                <a:cs typeface="Tahoma"/>
              </a:rPr>
              <a:t>0</a:t>
            </a:r>
            <a:endParaRPr baseline="27777" sz="10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7142" y="1074460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7336" y="1157140"/>
            <a:ext cx="6451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r>
              <a:rPr dirty="0" sz="1000">
                <a:latin typeface="Tahoma"/>
                <a:cs typeface="Tahoma"/>
              </a:rPr>
              <a:t>[</a:t>
            </a:r>
            <a:r>
              <a:rPr dirty="0" sz="1000" i="1">
                <a:latin typeface="Arial"/>
                <a:cs typeface="Arial"/>
              </a:rPr>
              <a:t>A</a:t>
            </a:r>
            <a:r>
              <a:rPr dirty="0" sz="1000" spc="80" i="1">
                <a:latin typeface="Arial"/>
                <a:cs typeface="Arial"/>
              </a:rPr>
              <a:t> </a:t>
            </a:r>
            <a:r>
              <a:rPr dirty="0" sz="1000" spc="-110">
                <a:latin typeface="Tahoma"/>
                <a:cs typeface="Tahoma"/>
              </a:rPr>
              <a:t>]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76929" y="1155882"/>
            <a:ext cx="394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60" i="1">
                <a:latin typeface="Arial"/>
                <a:cs typeface="Arial"/>
              </a:rPr>
              <a:t>T</a:t>
            </a:r>
            <a:r>
              <a:rPr dirty="0" sz="1000" spc="-145" i="1">
                <a:latin typeface="Arial"/>
                <a:cs typeface="Arial"/>
              </a:rPr>
              <a:t> </a:t>
            </a:r>
            <a:r>
              <a:rPr dirty="0" baseline="27777" sz="1050" spc="-75">
                <a:latin typeface="Tahoma"/>
                <a:cs typeface="Tahoma"/>
              </a:rPr>
              <a:t>0</a:t>
            </a:r>
            <a:endParaRPr baseline="27777" sz="10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7142" y="1226289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61714" y="1299758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Tahoma"/>
                <a:cs typeface="Tahoma"/>
              </a:rPr>
              <a:t>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93659" y="1307711"/>
            <a:ext cx="889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6004" y="852213"/>
            <a:ext cx="189928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6260">
              <a:lnSpc>
                <a:spcPts val="1200"/>
              </a:lnSpc>
              <a:spcBef>
                <a:spcPts val="95"/>
              </a:spcBef>
              <a:tabLst>
                <a:tab pos="1104265" algn="l"/>
                <a:tab pos="165227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95"/>
              </a:lnSpc>
              <a:tabLst>
                <a:tab pos="377190" algn="l"/>
                <a:tab pos="1016635" algn="l"/>
                <a:tab pos="165227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468630">
              <a:lnSpc>
                <a:spcPts val="1195"/>
              </a:lnSpc>
              <a:tabLst>
                <a:tab pos="925194" algn="l"/>
                <a:tab pos="1564640" algn="l"/>
              </a:tabLst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  <a:p>
            <a:pPr marL="556260">
              <a:lnSpc>
                <a:spcPts val="1195"/>
              </a:lnSpc>
              <a:tabLst>
                <a:tab pos="1016635" algn="l"/>
                <a:tab pos="147320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2</a:t>
            </a:r>
            <a:r>
              <a:rPr dirty="0" sz="1000" spc="-45" i="1">
                <a:latin typeface="Arial"/>
                <a:cs typeface="Arial"/>
              </a:rPr>
              <a:t>Fo</a:t>
            </a:r>
            <a:endParaRPr sz="1000">
              <a:latin typeface="Arial"/>
              <a:cs typeface="Arial"/>
            </a:endParaRPr>
          </a:p>
          <a:p>
            <a:pPr marL="556260">
              <a:lnSpc>
                <a:spcPts val="1200"/>
              </a:lnSpc>
              <a:tabLst>
                <a:tab pos="1104265" algn="l"/>
                <a:tab pos="1602740" algn="l"/>
              </a:tabLst>
            </a:pP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0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89274" y="1307711"/>
            <a:ext cx="55372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dirty="0" sz="1000" spc="-25">
                <a:latin typeface="Lucida Sans Unicode"/>
                <a:cs typeface="Lucida Sans Unicode"/>
              </a:rPr>
              <a:t>−</a:t>
            </a:r>
            <a:r>
              <a:rPr dirty="0" sz="1000" spc="-25" i="1">
                <a:latin typeface="Arial"/>
                <a:cs typeface="Arial"/>
              </a:rPr>
              <a:t>Fo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85">
                <a:latin typeface="Tahoma"/>
                <a:cs typeface="Tahoma"/>
              </a:rPr>
              <a:t>: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 i="1">
                <a:latin typeface="Arial"/>
                <a:cs typeface="Arial"/>
              </a:rPr>
              <a:t>T</a:t>
            </a:r>
            <a:r>
              <a:rPr dirty="0" baseline="-19841" sz="1050" spc="-37">
                <a:latin typeface="Tahoma"/>
                <a:cs typeface="Tahoma"/>
              </a:rPr>
              <a:t>4</a:t>
            </a:r>
            <a:endParaRPr baseline="-19841" sz="1050">
              <a:latin typeface="Tahoma"/>
              <a:cs typeface="Tahoma"/>
            </a:endParaRPr>
          </a:p>
          <a:p>
            <a:pPr algn="ctr" marL="22860">
              <a:lnSpc>
                <a:spcPts val="1200"/>
              </a:lnSpc>
            </a:pP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: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15092" y="750994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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15092" y="97367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15092" y="1049596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15092" y="1125517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15092" y="1201425"/>
            <a:ext cx="97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00">
                <a:latin typeface="Lucida Sans Unicode"/>
                <a:cs typeface="Lucida Sans Unicode"/>
              </a:rPr>
              <a:t>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15092" y="1282413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90">
                <a:latin typeface="Lucida Sans Unicode"/>
                <a:cs typeface="Lucida Sans Unicode"/>
              </a:rPr>
              <a:t></a:t>
            </a:r>
            <a:endParaRPr sz="100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719973"/>
            <a:ext cx="52590" cy="5259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966" y="1868627"/>
            <a:ext cx="52590" cy="5259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80034" y="1625338"/>
            <a:ext cx="3761740" cy="3340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Gauss-</a:t>
            </a:r>
            <a:r>
              <a:rPr dirty="0" sz="1000" spc="-20">
                <a:latin typeface="Tahoma"/>
                <a:cs typeface="Tahoma"/>
              </a:rPr>
              <a:t>Elimination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Method: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0"/>
              </a:spcBef>
            </a:pPr>
            <a:r>
              <a:rPr dirty="0" sz="900" spc="-10" b="1">
                <a:latin typeface="Arial"/>
                <a:cs typeface="Arial"/>
              </a:rPr>
              <a:t>Step-</a:t>
            </a:r>
            <a:r>
              <a:rPr dirty="0" sz="900" b="1">
                <a:latin typeface="Arial"/>
                <a:cs typeface="Arial"/>
              </a:rPr>
              <a:t>I: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Apply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Forward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Elimination:</a:t>
            </a:r>
            <a:r>
              <a:rPr dirty="0" sz="900" spc="8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convert </a:t>
            </a:r>
            <a:r>
              <a:rPr dirty="0" sz="900" spc="-25">
                <a:latin typeface="Tahoma"/>
                <a:cs typeface="Tahoma"/>
              </a:rPr>
              <a:t>augmented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matrix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into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7122" y="1936351"/>
            <a:ext cx="12598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an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upper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triangular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form.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84122" y="2329528"/>
            <a:ext cx="742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Lucida Sans Unicode"/>
                <a:cs typeface="Lucida Sans Unicode"/>
              </a:rPr>
              <a:t>∗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71917" y="2346269"/>
            <a:ext cx="35052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[</a:t>
            </a:r>
            <a:r>
              <a:rPr dirty="0" sz="900" i="1">
                <a:latin typeface="Arial"/>
                <a:cs typeface="Arial"/>
              </a:rPr>
              <a:t>A</a:t>
            </a:r>
            <a:r>
              <a:rPr dirty="0" sz="900" spc="110" i="1">
                <a:latin typeface="Arial"/>
                <a:cs typeface="Arial"/>
              </a:rPr>
              <a:t> </a:t>
            </a:r>
            <a:r>
              <a:rPr dirty="0" sz="900" spc="-90">
                <a:latin typeface="Tahoma"/>
                <a:cs typeface="Tahoma"/>
              </a:rPr>
              <a:t>]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15">
                <a:latin typeface="Tahoma"/>
                <a:cs typeface="Tahoma"/>
              </a:rPr>
              <a:t>=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29003" y="2181156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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29003" y="2249482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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29003" y="2317795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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3603" y="2386121"/>
            <a:ext cx="1543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900" spc="-620">
                <a:latin typeface="Arial MT"/>
                <a:cs typeface="Arial MT"/>
              </a:rPr>
              <a:t></a:t>
            </a:r>
            <a:r>
              <a:rPr dirty="0" baseline="-37037" sz="1350" spc="-930">
                <a:latin typeface="Arial MT"/>
                <a:cs typeface="Arial MT"/>
              </a:rPr>
              <a:t></a:t>
            </a:r>
            <a:endParaRPr baseline="-37037" sz="13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67055" y="2078781"/>
            <a:ext cx="360680" cy="2336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000"/>
              </a:lnSpc>
              <a:spcBef>
                <a:spcPts val="95"/>
              </a:spcBef>
            </a:pPr>
            <a:r>
              <a:rPr dirty="0" baseline="6172" sz="1350">
                <a:latin typeface="Tahoma"/>
                <a:cs typeface="Tahoma"/>
              </a:rPr>
              <a:t>0</a:t>
            </a:r>
            <a:r>
              <a:rPr dirty="0" baseline="6172" sz="1350" spc="-82">
                <a:latin typeface="Tahoma"/>
                <a:cs typeface="Tahoma"/>
              </a:rPr>
              <a:t> </a:t>
            </a:r>
            <a:r>
              <a:rPr dirty="0" baseline="6172" sz="1350" spc="-89">
                <a:latin typeface="Tahoma"/>
                <a:cs typeface="Tahoma"/>
              </a:rPr>
              <a:t>:</a:t>
            </a:r>
            <a:r>
              <a:rPr dirty="0" baseline="6172" sz="1350" spc="-37">
                <a:latin typeface="Tahoma"/>
                <a:cs typeface="Tahoma"/>
              </a:rPr>
              <a:t> </a:t>
            </a:r>
            <a:r>
              <a:rPr dirty="0" baseline="6172" sz="1350" spc="-37" i="1">
                <a:latin typeface="Arial"/>
                <a:cs typeface="Arial"/>
              </a:rPr>
              <a:t>T</a:t>
            </a:r>
            <a:r>
              <a:rPr dirty="0" sz="600" spc="-25">
                <a:latin typeface="Tahoma"/>
                <a:cs typeface="Tahoma"/>
              </a:rPr>
              <a:t>0</a:t>
            </a:r>
            <a:endParaRPr sz="600">
              <a:latin typeface="Tahoma"/>
              <a:cs typeface="Tahoma"/>
            </a:endParaRPr>
          </a:p>
          <a:p>
            <a:pPr algn="r" marR="30480">
              <a:lnSpc>
                <a:spcPts val="640"/>
              </a:lnSpc>
            </a:pPr>
            <a:r>
              <a:rPr dirty="0" sz="600" spc="-50">
                <a:latin typeface="Tahoma"/>
                <a:cs typeface="Tahoma"/>
              </a:rPr>
              <a:t>0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20921" y="2264707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84913" y="2206073"/>
            <a:ext cx="261620" cy="302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0</a:t>
            </a:r>
            <a:r>
              <a:rPr dirty="0" sz="900" spc="-55">
                <a:latin typeface="Tahoma"/>
                <a:cs typeface="Tahoma"/>
              </a:rPr>
              <a:t> </a:t>
            </a:r>
            <a:r>
              <a:rPr dirty="0" sz="900" spc="-60">
                <a:latin typeface="Tahoma"/>
                <a:cs typeface="Tahoma"/>
              </a:rPr>
              <a:t>: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25" i="1"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900">
                <a:latin typeface="Tahoma"/>
                <a:cs typeface="Tahoma"/>
              </a:rPr>
              <a:t>0</a:t>
            </a:r>
            <a:r>
              <a:rPr dirty="0" sz="900" spc="-55">
                <a:latin typeface="Tahoma"/>
                <a:cs typeface="Tahoma"/>
              </a:rPr>
              <a:t> </a:t>
            </a:r>
            <a:r>
              <a:rPr dirty="0" sz="900" spc="-60">
                <a:latin typeface="Tahoma"/>
                <a:cs typeface="Tahoma"/>
              </a:rPr>
              <a:t>: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25" i="1"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36098" y="233559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Tahoma"/>
                <a:cs typeface="Tahoma"/>
              </a:rPr>
              <a:t>0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20921" y="240466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17276" y="2475552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Tahoma"/>
                <a:cs typeface="Tahoma"/>
              </a:rPr>
              <a:t>0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07032" y="2066120"/>
            <a:ext cx="755015" cy="721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163195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59410" algn="l"/>
              </a:tabLst>
            </a:pPr>
            <a:r>
              <a:rPr dirty="0" sz="900" spc="-25" i="1">
                <a:latin typeface="Arial"/>
                <a:cs typeface="Arial"/>
              </a:rPr>
              <a:t>−Fo</a:t>
            </a:r>
            <a:r>
              <a:rPr dirty="0" sz="900" i="1">
                <a:latin typeface="Arial"/>
                <a:cs typeface="Arial"/>
              </a:rPr>
              <a:t>	</a:t>
            </a:r>
            <a:r>
              <a:rPr dirty="0" sz="900" spc="-35">
                <a:latin typeface="Tahoma"/>
                <a:cs typeface="Tahoma"/>
              </a:rPr>
              <a:t>1</a:t>
            </a:r>
            <a:r>
              <a:rPr dirty="0" sz="900" spc="-80">
                <a:latin typeface="Tahoma"/>
                <a:cs typeface="Tahoma"/>
              </a:rPr>
              <a:t> </a:t>
            </a:r>
            <a:r>
              <a:rPr dirty="0" sz="900" spc="65">
                <a:latin typeface="Tahoma"/>
                <a:cs typeface="Tahoma"/>
              </a:rPr>
              <a:t>+</a:t>
            </a:r>
            <a:r>
              <a:rPr dirty="0" sz="900" spc="-7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2</a:t>
            </a:r>
            <a:r>
              <a:rPr dirty="0" sz="900" spc="-30" i="1">
                <a:latin typeface="Arial"/>
                <a:cs typeface="Arial"/>
              </a:rPr>
              <a:t>Fo</a:t>
            </a:r>
            <a:endParaRPr sz="9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25"/>
              </a:spcBef>
              <a:tabLst>
                <a:tab pos="444500" algn="l"/>
              </a:tabLst>
            </a:pP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25" i="1">
                <a:latin typeface="Arial"/>
                <a:cs typeface="Arial"/>
              </a:rPr>
              <a:t>−Fo</a:t>
            </a:r>
            <a:endParaRPr sz="9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20"/>
              </a:spcBef>
              <a:tabLst>
                <a:tab pos="525145" algn="l"/>
              </a:tabLst>
            </a:pP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spcBef>
                <a:spcPts val="15"/>
              </a:spcBef>
              <a:tabLst>
                <a:tab pos="525145" algn="l"/>
              </a:tabLst>
            </a:pP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45460" y="2066120"/>
            <a:ext cx="1573530" cy="721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95"/>
              </a:spcBef>
              <a:tabLst>
                <a:tab pos="720090" algn="l"/>
              </a:tabLst>
            </a:pP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algn="ctr" marR="664210">
              <a:lnSpc>
                <a:spcPct val="100000"/>
              </a:lnSpc>
              <a:spcBef>
                <a:spcPts val="20"/>
              </a:spcBef>
              <a:tabLst>
                <a:tab pos="597535" algn="l"/>
              </a:tabLst>
            </a:pPr>
            <a:r>
              <a:rPr dirty="0" sz="900" spc="-25" i="1">
                <a:latin typeface="Arial"/>
                <a:cs typeface="Arial"/>
              </a:rPr>
              <a:t>−Fo</a:t>
            </a:r>
            <a:r>
              <a:rPr dirty="0" sz="900" i="1">
                <a:latin typeface="Arial"/>
                <a:cs typeface="Arial"/>
              </a:rPr>
              <a:t>	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algn="ctr" marR="675005">
              <a:lnSpc>
                <a:spcPct val="100000"/>
              </a:lnSpc>
              <a:spcBef>
                <a:spcPts val="25"/>
              </a:spcBef>
              <a:tabLst>
                <a:tab pos="600710" algn="l"/>
              </a:tabLst>
            </a:pPr>
            <a:r>
              <a:rPr dirty="0" sz="900" spc="-35">
                <a:latin typeface="Tahoma"/>
                <a:cs typeface="Tahoma"/>
              </a:rPr>
              <a:t>1</a:t>
            </a:r>
            <a:r>
              <a:rPr dirty="0" sz="900" spc="-80">
                <a:latin typeface="Tahoma"/>
                <a:cs typeface="Tahoma"/>
              </a:rPr>
              <a:t> </a:t>
            </a:r>
            <a:r>
              <a:rPr dirty="0" sz="900" spc="65">
                <a:latin typeface="Tahoma"/>
                <a:cs typeface="Tahoma"/>
              </a:rPr>
              <a:t>+</a:t>
            </a:r>
            <a:r>
              <a:rPr dirty="0" sz="900" spc="-7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2</a:t>
            </a:r>
            <a:r>
              <a:rPr dirty="0" sz="900" spc="-25" i="1">
                <a:latin typeface="Arial"/>
                <a:cs typeface="Arial"/>
              </a:rPr>
              <a:t>Fo</a:t>
            </a:r>
            <a:r>
              <a:rPr dirty="0" sz="900" i="1">
                <a:latin typeface="Arial"/>
                <a:cs typeface="Arial"/>
              </a:rPr>
              <a:t>	</a:t>
            </a:r>
            <a:r>
              <a:rPr dirty="0" sz="900" spc="-25" i="1">
                <a:latin typeface="Arial"/>
                <a:cs typeface="Arial"/>
              </a:rPr>
              <a:t>−Fo</a:t>
            </a:r>
            <a:endParaRPr sz="900">
              <a:latin typeface="Arial"/>
              <a:cs typeface="Arial"/>
            </a:endParaRPr>
          </a:p>
          <a:p>
            <a:pPr algn="ctr" marL="59055">
              <a:lnSpc>
                <a:spcPct val="100000"/>
              </a:lnSpc>
              <a:spcBef>
                <a:spcPts val="20"/>
              </a:spcBef>
              <a:tabLst>
                <a:tab pos="490855" algn="l"/>
                <a:tab pos="1007110" algn="l"/>
              </a:tabLst>
            </a:pPr>
            <a:r>
              <a:rPr dirty="0" sz="900" spc="-25" i="1">
                <a:latin typeface="Arial"/>
                <a:cs typeface="Arial"/>
              </a:rPr>
              <a:t>−Fo</a:t>
            </a:r>
            <a:r>
              <a:rPr dirty="0" sz="900" i="1">
                <a:latin typeface="Arial"/>
                <a:cs typeface="Arial"/>
              </a:rPr>
              <a:t>	</a:t>
            </a:r>
            <a:r>
              <a:rPr dirty="0" sz="900" spc="-35">
                <a:latin typeface="Tahoma"/>
                <a:cs typeface="Tahoma"/>
              </a:rPr>
              <a:t>1</a:t>
            </a:r>
            <a:r>
              <a:rPr dirty="0" sz="900" spc="-80">
                <a:latin typeface="Tahoma"/>
                <a:cs typeface="Tahoma"/>
              </a:rPr>
              <a:t> </a:t>
            </a:r>
            <a:r>
              <a:rPr dirty="0" sz="900" spc="65">
                <a:latin typeface="Tahoma"/>
                <a:cs typeface="Tahoma"/>
              </a:rPr>
              <a:t>+</a:t>
            </a:r>
            <a:r>
              <a:rPr dirty="0" sz="900" spc="-7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2</a:t>
            </a:r>
            <a:r>
              <a:rPr dirty="0" sz="900" spc="-25" i="1">
                <a:latin typeface="Arial"/>
                <a:cs typeface="Arial"/>
              </a:rPr>
              <a:t>Fo</a:t>
            </a:r>
            <a:r>
              <a:rPr dirty="0" sz="900" i="1">
                <a:latin typeface="Arial"/>
                <a:cs typeface="Arial"/>
              </a:rPr>
              <a:t>	−Fo</a:t>
            </a:r>
            <a:r>
              <a:rPr dirty="0" sz="900" spc="110" i="1">
                <a:latin typeface="Arial"/>
                <a:cs typeface="Arial"/>
              </a:rPr>
              <a:t> </a:t>
            </a:r>
            <a:r>
              <a:rPr dirty="0" sz="900" spc="-60">
                <a:latin typeface="Tahoma"/>
                <a:cs typeface="Tahoma"/>
              </a:rPr>
              <a:t>:</a:t>
            </a:r>
            <a:r>
              <a:rPr dirty="0" sz="900" spc="15">
                <a:latin typeface="Tahoma"/>
                <a:cs typeface="Tahoma"/>
              </a:rPr>
              <a:t> </a:t>
            </a:r>
            <a:r>
              <a:rPr dirty="0" sz="900" spc="-25" i="1">
                <a:latin typeface="Arial"/>
                <a:cs typeface="Arial"/>
              </a:rPr>
              <a:t>T</a:t>
            </a:r>
            <a:r>
              <a:rPr dirty="0" baseline="-13888" sz="900" spc="-37">
                <a:latin typeface="Tahoma"/>
                <a:cs typeface="Tahoma"/>
              </a:rPr>
              <a:t>4</a:t>
            </a:r>
            <a:endParaRPr baseline="-13888" sz="90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5"/>
              </a:spcBef>
              <a:tabLst>
                <a:tab pos="674370" algn="l"/>
                <a:tab pos="1193165" algn="l"/>
              </a:tabLst>
            </a:pPr>
            <a:r>
              <a:rPr dirty="0" sz="900" spc="-50">
                <a:latin typeface="Tahoma"/>
                <a:cs typeface="Tahoma"/>
              </a:rPr>
              <a:t>0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50" i="1">
                <a:latin typeface="Arial"/>
                <a:cs typeface="Arial"/>
              </a:rPr>
              <a:t>−</a:t>
            </a:r>
            <a:r>
              <a:rPr dirty="0" sz="900" spc="50">
                <a:latin typeface="Tahoma"/>
                <a:cs typeface="Tahoma"/>
              </a:rPr>
              <a:t>1</a:t>
            </a:r>
            <a:r>
              <a:rPr dirty="0" sz="900">
                <a:latin typeface="Tahoma"/>
                <a:cs typeface="Tahoma"/>
              </a:rPr>
              <a:t>	1</a:t>
            </a:r>
            <a:r>
              <a:rPr dirty="0" sz="900" spc="-50">
                <a:latin typeface="Tahoma"/>
                <a:cs typeface="Tahoma"/>
              </a:rPr>
              <a:t> </a:t>
            </a:r>
            <a:r>
              <a:rPr dirty="0" sz="900" spc="-65">
                <a:latin typeface="Tahoma"/>
                <a:cs typeface="Tahoma"/>
              </a:rPr>
              <a:t>: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5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90903" y="1980991"/>
            <a:ext cx="260223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485390" algn="l"/>
              </a:tabLst>
            </a:pPr>
            <a:r>
              <a:rPr dirty="0" sz="900" spc="-290">
                <a:latin typeface="Arial MT"/>
                <a:cs typeface="Arial MT"/>
              </a:rPr>
              <a:t></a:t>
            </a:r>
            <a:r>
              <a:rPr dirty="0" sz="900" spc="385">
                <a:latin typeface="Arial MT"/>
                <a:cs typeface="Arial MT"/>
              </a:rPr>
              <a:t> </a:t>
            </a:r>
            <a:r>
              <a:rPr dirty="0" baseline="-40123" sz="1350" spc="-75">
                <a:latin typeface="Tahoma"/>
                <a:cs typeface="Tahoma"/>
              </a:rPr>
              <a:t>1</a:t>
            </a:r>
            <a:r>
              <a:rPr dirty="0" baseline="-40123" sz="1350">
                <a:latin typeface="Tahoma"/>
                <a:cs typeface="Tahoma"/>
              </a:rPr>
              <a:t>	</a:t>
            </a:r>
            <a:r>
              <a:rPr dirty="0" sz="900" spc="-340">
                <a:latin typeface="Arial MT"/>
                <a:cs typeface="Arial MT"/>
              </a:rPr>
              <a:t>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63923" y="2181156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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63923" y="2249482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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063923" y="2317795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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63923" y="2386121"/>
            <a:ext cx="908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900">
                <a:latin typeface="Arial MT"/>
                <a:cs typeface="Arial MT"/>
              </a:rPr>
              <a:t>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63923" y="2459261"/>
            <a:ext cx="1035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40">
                <a:latin typeface="Arial MT"/>
                <a:cs typeface="Arial MT"/>
              </a:rPr>
              <a:t>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7966" y="2899638"/>
            <a:ext cx="52590" cy="52590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931722" y="2828183"/>
            <a:ext cx="3319145" cy="45339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38100" marR="30480">
              <a:lnSpc>
                <a:spcPct val="106100"/>
              </a:lnSpc>
              <a:spcBef>
                <a:spcPts val="30"/>
              </a:spcBef>
            </a:pPr>
            <a:r>
              <a:rPr dirty="0" sz="900" spc="-10" b="1">
                <a:latin typeface="Arial"/>
                <a:cs typeface="Arial"/>
              </a:rPr>
              <a:t>Step-</a:t>
            </a:r>
            <a:r>
              <a:rPr dirty="0" sz="900" b="1">
                <a:latin typeface="Arial"/>
                <a:cs typeface="Arial"/>
              </a:rPr>
              <a:t>II: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Apply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Backward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Substitution:</a:t>
            </a:r>
            <a:r>
              <a:rPr dirty="0" sz="900" spc="8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obtain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temperature </a:t>
            </a:r>
            <a:r>
              <a:rPr dirty="0" sz="900">
                <a:latin typeface="Tahoma"/>
                <a:cs typeface="Tahoma"/>
              </a:rPr>
              <a:t>distribution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at </a:t>
            </a:r>
            <a:r>
              <a:rPr dirty="0" sz="900" spc="-20">
                <a:latin typeface="Tahoma"/>
                <a:cs typeface="Tahoma"/>
              </a:rPr>
              <a:t>different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time </a:t>
            </a:r>
            <a:r>
              <a:rPr dirty="0" sz="900" spc="-25">
                <a:latin typeface="Tahoma"/>
                <a:cs typeface="Tahoma"/>
              </a:rPr>
              <a:t>steps,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i.e.,</a:t>
            </a:r>
            <a:r>
              <a:rPr dirty="0" sz="900" spc="-10" i="1">
                <a:latin typeface="Arial"/>
                <a:cs typeface="Arial"/>
              </a:rPr>
              <a:t>n</a:t>
            </a:r>
            <a:r>
              <a:rPr dirty="0" sz="900" i="1">
                <a:latin typeface="Arial"/>
                <a:cs typeface="Arial"/>
              </a:rPr>
              <a:t> </a:t>
            </a:r>
            <a:r>
              <a:rPr dirty="0" sz="900" spc="65">
                <a:latin typeface="Tahoma"/>
                <a:cs typeface="Tahoma"/>
              </a:rPr>
              <a:t>=</a:t>
            </a:r>
            <a:r>
              <a:rPr dirty="0" sz="900" spc="-5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1</a:t>
            </a:r>
            <a:r>
              <a:rPr dirty="0" sz="900" spc="-20" i="1">
                <a:latin typeface="Arial"/>
                <a:cs typeface="Arial"/>
              </a:rPr>
              <a:t>,</a:t>
            </a:r>
            <a:r>
              <a:rPr dirty="0" sz="900" spc="-100" i="1">
                <a:latin typeface="Arial"/>
                <a:cs typeface="Arial"/>
              </a:rPr>
              <a:t> </a:t>
            </a:r>
            <a:r>
              <a:rPr dirty="0" sz="900" spc="-20">
                <a:latin typeface="Tahoma"/>
                <a:cs typeface="Tahoma"/>
              </a:rPr>
              <a:t>2</a:t>
            </a:r>
            <a:r>
              <a:rPr dirty="0" sz="900" spc="-20" i="1">
                <a:latin typeface="Arial"/>
                <a:cs typeface="Arial"/>
              </a:rPr>
              <a:t>,</a:t>
            </a:r>
            <a:r>
              <a:rPr dirty="0" sz="900" spc="-10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....</a:t>
            </a:r>
            <a:r>
              <a:rPr dirty="0" sz="900" spc="30" i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in the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entire </a:t>
            </a:r>
            <a:r>
              <a:rPr dirty="0" baseline="6172" sz="1350" spc="-30">
                <a:latin typeface="Tahoma"/>
                <a:cs typeface="Tahoma"/>
              </a:rPr>
              <a:t>domain,</a:t>
            </a:r>
            <a:r>
              <a:rPr dirty="0" baseline="6172" sz="1350" spc="75">
                <a:latin typeface="Tahoma"/>
                <a:cs typeface="Tahoma"/>
              </a:rPr>
              <a:t> </a:t>
            </a:r>
            <a:r>
              <a:rPr dirty="0" baseline="6172" sz="1350" spc="-15">
                <a:latin typeface="Tahoma"/>
                <a:cs typeface="Tahoma"/>
              </a:rPr>
              <a:t>i.e.,</a:t>
            </a:r>
            <a:r>
              <a:rPr dirty="0" baseline="6172" sz="1350" spc="75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5</a:t>
            </a:r>
            <a:r>
              <a:rPr dirty="0" baseline="6172" sz="1350">
                <a:latin typeface="Tahoma"/>
                <a:cs typeface="Tahoma"/>
              </a:rPr>
              <a:t>,</a:t>
            </a:r>
            <a:r>
              <a:rPr dirty="0" baseline="6172" sz="1350" spc="75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4</a:t>
            </a:r>
            <a:r>
              <a:rPr dirty="0" baseline="6172" sz="1350">
                <a:latin typeface="Tahoma"/>
                <a:cs typeface="Tahoma"/>
              </a:rPr>
              <a:t>,</a:t>
            </a:r>
            <a:r>
              <a:rPr dirty="0" baseline="6172" sz="1350" spc="75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3</a:t>
            </a:r>
            <a:r>
              <a:rPr dirty="0" baseline="6172" sz="1350">
                <a:latin typeface="Tahoma"/>
                <a:cs typeface="Tahoma"/>
              </a:rPr>
              <a:t>,</a:t>
            </a:r>
            <a:r>
              <a:rPr dirty="0" baseline="6172" sz="1350" spc="75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>
                <a:latin typeface="Tahoma"/>
                <a:cs typeface="Tahoma"/>
              </a:rPr>
              <a:t>2</a:t>
            </a:r>
            <a:r>
              <a:rPr dirty="0" sz="600" spc="195">
                <a:latin typeface="Tahoma"/>
                <a:cs typeface="Tahoma"/>
              </a:rPr>
              <a:t> </a:t>
            </a:r>
            <a:r>
              <a:rPr dirty="0" baseline="6172" sz="1350">
                <a:latin typeface="Tahoma"/>
                <a:cs typeface="Tahoma"/>
              </a:rPr>
              <a:t>and</a:t>
            </a:r>
            <a:r>
              <a:rPr dirty="0" baseline="6172" sz="1350" spc="82">
                <a:latin typeface="Tahoma"/>
                <a:cs typeface="Tahoma"/>
              </a:rPr>
              <a:t> </a:t>
            </a:r>
            <a:r>
              <a:rPr dirty="0" baseline="6172" sz="1350" spc="-37" i="1">
                <a:latin typeface="Arial"/>
                <a:cs typeface="Arial"/>
              </a:rPr>
              <a:t>T</a:t>
            </a:r>
            <a:r>
              <a:rPr dirty="0" sz="600" spc="-25">
                <a:latin typeface="Tahoma"/>
                <a:cs typeface="Tahoma"/>
              </a:rPr>
              <a:t>1</a:t>
            </a:r>
            <a:r>
              <a:rPr dirty="0" baseline="6172" sz="1350" spc="-37">
                <a:latin typeface="Tahoma"/>
                <a:cs typeface="Tahoma"/>
              </a:rPr>
              <a:t>.</a:t>
            </a:r>
            <a:endParaRPr baseline="6172" sz="1350">
              <a:latin typeface="Tahoma"/>
              <a:cs typeface="Tahom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44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44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Mangal Singh Lodhi Assistant Professor  Department of Mechanical Engineering</dc:creator>
  <dc:title>ME46220 Computational Fluid Dynamics</dc:title>
  <dcterms:created xsi:type="dcterms:W3CDTF">2026-09-12T10:35:20Z</dcterms:created>
  <dcterms:modified xsi:type="dcterms:W3CDTF">2026-09-12T10:35:20Z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2026-08-25T00:00:00Z</vt:filetime>
  </property>
  <property fmtid="{D5CDD505-2E9C-101B-9397-08002B2CF9AE}" pid="4" name="Creator">
    <vt:lpwstr>LaTeX with Beamer class version 3.26</vt:lpwstr>
  </property>
  <property fmtid="{D5CDD505-2E9C-101B-9397-08002B2CF9AE}" pid="5" name="LastSaved">
    <vt:filetime>2026-09-12T00:00:00Z</vt:filetime>
  </property>
  <property fmtid="{D5CDD505-2E9C-101B-9397-08002B2CF9AE}" pid="6" name="PTEX.Fullbanner">
    <vt:lpwstr>This is MiKTeX-pdfTeX 2.9.4535 (1.40.13)</vt:lpwstr>
  </property>
  <property fmtid="{D5CDD505-2E9C-101B-9397-08002B2CF9AE}" pid="7" name="Producer">
    <vt:lpwstr>pdfTeX-1.40.13</vt:lpwstr>
  </property>
</Properties>
</file>